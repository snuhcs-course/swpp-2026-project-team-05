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7f107070ed47d8" /><Relationship Type="http://schemas.openxmlformats.org/officeDocument/2006/relationships/extended-properties" Target="/docProps/app.xml" Id="R55f2c273a1d44663" /><Relationship Type="http://schemas.openxmlformats.org/officeDocument/2006/relationships/officeDocument" Target="/ppt/presentation.xml" Id="R3268050b700243b2" /></Relationships>
</file>

<file path=ppt/presentation.xml><?xml version="1.0" encoding="utf-8"?>
<p:presentation xmlns:p="http://schemas.openxmlformats.org/presentationml/2006/main">
  <p:sldMasterIdLst>
    <p:sldMasterId xmlns:r="http://schemas.openxmlformats.org/officeDocument/2006/relationships" id="2147483648" r:id="Rebe9b505012f408f"/>
  </p:sldMasterIdLst>
  <p:notesMasterIdLst>
    <p:notesMasterId xmlns:r="http://schemas.openxmlformats.org/officeDocument/2006/relationships" r:id="Rd59f1620b447403e"/>
  </p:notesMasterIdLst>
  <p:sldIdLst>
    <p:sldId xmlns:r="http://schemas.openxmlformats.org/officeDocument/2006/relationships" id="256" r:id="R414b7378254e4740"/>
    <p:sldId xmlns:r="http://schemas.openxmlformats.org/officeDocument/2006/relationships" id="257" r:id="R5918ff4c9bfb4ed1"/>
    <p:sldId xmlns:r="http://schemas.openxmlformats.org/officeDocument/2006/relationships" id="258" r:id="R4b5642c318ac4e6e"/>
    <p:sldId xmlns:r="http://schemas.openxmlformats.org/officeDocument/2006/relationships" id="259" r:id="R84bbeb480f8d4ee7"/>
    <p:sldId xmlns:r="http://schemas.openxmlformats.org/officeDocument/2006/relationships" id="260" r:id="R1e583557cc194695"/>
    <p:sldId xmlns:r="http://schemas.openxmlformats.org/officeDocument/2006/relationships" id="261" r:id="Rbeb4243bdce24fdb"/>
    <p:sldId xmlns:r="http://schemas.openxmlformats.org/officeDocument/2006/relationships" id="262" r:id="R21f08db855a54e51"/>
    <p:sldId xmlns:r="http://schemas.openxmlformats.org/officeDocument/2006/relationships" id="263" r:id="R0857fd5b975e4f98"/>
    <p:sldId xmlns:r="http://schemas.openxmlformats.org/officeDocument/2006/relationships" id="264" r:id="Rfdbe10d4f5e4466d"/>
    <p:sldId xmlns:r="http://schemas.openxmlformats.org/officeDocument/2006/relationships" id="265" r:id="R732495b6307e436b"/>
    <p:sldId xmlns:r="http://schemas.openxmlformats.org/officeDocument/2006/relationships" id="266" r:id="R5935297e89514f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a0224b5c744d58" /><Relationship Type="http://schemas.openxmlformats.org/officeDocument/2006/relationships/slideMaster" Target="/ppt/slideMasters/slideMaster1.xml" Id="Rebe9b505012f408f" /><Relationship Type="http://schemas.openxmlformats.org/officeDocument/2006/relationships/notesMaster" Target="/ppt/notesMasters/notesMaster1.xml" Id="Rd59f1620b447403e" /><Relationship Type="http://schemas.openxmlformats.org/officeDocument/2006/relationships/presProps" Target="/ppt/presProps.xml" Id="R4d88e829c1644121" /><Relationship Type="http://schemas.openxmlformats.org/officeDocument/2006/relationships/tableStyles" Target="/ppt/tableStyles.xml" Id="R208ed2b1fc6a4993" /><Relationship Type="http://schemas.openxmlformats.org/officeDocument/2006/relationships/slide" Target="/ppt/slides/slide1.xml" Id="R414b7378254e4740" /><Relationship Type="http://schemas.openxmlformats.org/officeDocument/2006/relationships/slide" Target="/ppt/slides/slide2.xml" Id="R5918ff4c9bfb4ed1" /><Relationship Type="http://schemas.openxmlformats.org/officeDocument/2006/relationships/slide" Target="/ppt/slides/slide3.xml" Id="R4b5642c318ac4e6e" /><Relationship Type="http://schemas.openxmlformats.org/officeDocument/2006/relationships/slide" Target="/ppt/slides/slide4.xml" Id="R84bbeb480f8d4ee7" /><Relationship Type="http://schemas.openxmlformats.org/officeDocument/2006/relationships/slide" Target="/ppt/slides/slide5.xml" Id="R1e583557cc194695" /><Relationship Type="http://schemas.openxmlformats.org/officeDocument/2006/relationships/slide" Target="/ppt/slides/slide6.xml" Id="Rbeb4243bdce24fdb" /><Relationship Type="http://schemas.openxmlformats.org/officeDocument/2006/relationships/slide" Target="/ppt/slides/slide7.xml" Id="R21f08db855a54e51" /><Relationship Type="http://schemas.openxmlformats.org/officeDocument/2006/relationships/slide" Target="/ppt/slides/slide8.xml" Id="R0857fd5b975e4f98" /><Relationship Type="http://schemas.openxmlformats.org/officeDocument/2006/relationships/slide" Target="/ppt/slides/slide9.xml" Id="Rfdbe10d4f5e4466d" /><Relationship Type="http://schemas.openxmlformats.org/officeDocument/2006/relationships/slide" Target="/ppt/slides/slide10.xml" Id="R732495b6307e436b" /><Relationship Type="http://schemas.openxmlformats.org/officeDocument/2006/relationships/slide" Target="/ppt/slides/slide11.xml" Id="R5935297e89514f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d25ef1c81243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707608589c408b" /><Relationship Type="http://schemas.openxmlformats.org/officeDocument/2006/relationships/notesMaster" Target="/ppt/notesMasters/notesMaster1.xml" Id="R86ab1bd89f8942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ae39ef0900406b" /><Relationship Type="http://schemas.openxmlformats.org/officeDocument/2006/relationships/notesMaster" Target="/ppt/notesMasters/notesMaster1.xml" Id="Re4710df18ffa43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4c45b1da274371" /><Relationship Type="http://schemas.openxmlformats.org/officeDocument/2006/relationships/notesMaster" Target="/ppt/notesMasters/notesMaster1.xml" Id="Rb5901595e9c145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b6698bea624b4e" /><Relationship Type="http://schemas.openxmlformats.org/officeDocument/2006/relationships/notesMaster" Target="/ppt/notesMasters/notesMaster1.xml" Id="R40ce57f78b9d43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6bac6c2ee64a7e" /><Relationship Type="http://schemas.openxmlformats.org/officeDocument/2006/relationships/notesMaster" Target="/ppt/notesMasters/notesMaster1.xml" Id="Rfd97095f6ad243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ae7a2a5dfc49fe" /><Relationship Type="http://schemas.openxmlformats.org/officeDocument/2006/relationships/notesMaster" Target="/ppt/notesMasters/notesMaster1.xml" Id="Rcd625997f6df44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5f680c34ee45ec" /><Relationship Type="http://schemas.openxmlformats.org/officeDocument/2006/relationships/notesMaster" Target="/ppt/notesMasters/notesMaster1.xml" Id="R5cb698a594d24c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a6ad866f574733" /><Relationship Type="http://schemas.openxmlformats.org/officeDocument/2006/relationships/notesMaster" Target="/ppt/notesMasters/notesMaster1.xml" Id="R95f51f674d864e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076968483948ba" /><Relationship Type="http://schemas.openxmlformats.org/officeDocument/2006/relationships/notesMaster" Target="/ppt/notesMasters/notesMaster1.xml" Id="Rd12ec8e8abea48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4979adb0ee46dd" /><Relationship Type="http://schemas.openxmlformats.org/officeDocument/2006/relationships/notesMaster" Target="/ppt/notesMasters/notesMaster1.xml" Id="R1ec9fa4adde448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cbd0cdbc0542f4" /><Relationship Type="http://schemas.openxmlformats.org/officeDocument/2006/relationships/notesMaster" Target="/ppt/notesMasters/notesMaster1.xml" Id="Ra49cb14512ca4c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A reader starts with one Korean news article. FrameLESS looks for reports of the same event and shows the passages that address claims in the chosen article. We do not issue an article-wide truth or political-bias verdict.</a:t>
            </a:r>
          </a:p>
          <a:p xmlns:a="http://schemas.openxmlformats.org/drawingml/2006/main">
            <a:r>
              <a:t/>
            </a:r>
          </a:p>
          <a:p xmlns:a="http://schemas.openxmlformats.org/drawingml/2006/main">
            <a:r>
              <a:t>SOURCES AND STATUS</a:t>
            </a:r>
          </a:p>
          <a:p xmlns:a="http://schemas.openxmlformats.org/drawingml/2006/main">
            <a:r>
              <a:t>Project requirements: https://github.com/snuhcs-course/swpp-2026-project-team-05/wiki/Requirements-and-Specifications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Our Iteration 1 review considered NAVER News for discovery. Ground News describes story-level coverage and outlet context in its own material. FrameLESS focuses on passages tied to the reader-selected article. This slide is positioning, not a claim that other products never show source text.</a:t>
            </a:r>
          </a:p>
          <a:p xmlns:a="http://schemas.openxmlformats.org/drawingml/2006/main">
            <a:r>
              <a:t/>
            </a:r>
          </a:p>
          <a:p xmlns:a="http://schemas.openxmlformats.org/drawingml/2006/main">
            <a:r>
              <a:t>SOURCES AND STATUS</a:t>
            </a:r>
          </a:p>
          <a:p xmlns:a="http://schemas.openxmlformats.org/drawingml/2006/main">
            <a:r>
              <a:t>FrameLESS competitive review: https://github.com/snuhcs-course/swpp-2026-project-team-05/wiki/Requirements-and-Specifications</a:t>
            </a:r>
          </a:p>
          <a:p xmlns:a="http://schemas.openxmlformats.org/drawingml/2006/main">
            <a:r>
              <a:t>Ground News product description: https://help.ground.news/en/articles/485057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Follow one action per stage. The output is a way to inspect reporting differences, not a fact-check label. Public article pages can block extraction, so missing and recoverable error states matter.</a:t>
            </a:r>
          </a:p>
          <a:p xmlns:a="http://schemas.openxmlformats.org/drawingml/2006/main">
            <a:r>
              <a:t/>
            </a:r>
          </a:p>
          <a:p xmlns:a="http://schemas.openxmlformats.org/drawingml/2006/main">
            <a:r>
              <a:t>SOURCES AND STATUS</a:t>
            </a:r>
          </a:p>
          <a:p xmlns:a="http://schemas.openxmlformats.org/drawingml/2006/main">
            <a:r>
              <a:t>Product flow: https://github.com/snuhcs-course/swpp-2026-project-team-05/wiki/Requirements-and-Specifications</a:t>
            </a:r>
          </a:p>
          <a:p xmlns:a="http://schemas.openxmlformats.org/drawingml/2006/main">
            <a:r>
              <a:t>Integrated client and API are in draft PR #10; live v2 is not yet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Iteration 1 delivered an end-to-end app and a deployed backend. Its limitations made us separate true absence from an unavailable or incomplete comparison. The old demo video is historical and must be labeled Iteration 1 if used.</a:t>
            </a:r>
          </a:p>
          <a:p xmlns:a="http://schemas.openxmlformats.org/drawingml/2006/main">
            <a:r>
              <a:t/>
            </a:r>
          </a:p>
          <a:p xmlns:a="http://schemas.openxmlformats.org/drawingml/2006/main">
            <a:r>
              <a:t>SOURCES AND STATUS</a:t>
            </a:r>
          </a:p>
          <a:p xmlns:a="http://schemas.openxmlformats.org/drawingml/2006/main">
            <a:r>
              <a:t>Iteration 1 design: https://github.com/snuhcs-course/swpp-2026-project-team-05/wiki/Design-Documentation</a:t>
            </a:r>
          </a:p>
          <a:p xmlns:a="http://schemas.openxmlformats.org/drawingml/2006/main">
            <a:r>
              <a:t>Iteration 1 video: https://github.com/snuhcs-course/swpp-2026-project-team-05/blob/iteration-1-demo/docs/demo/iteration-1-demo.mp4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adopted rubric is I1–I5 for information and A–G for reporter expression. It distinguishes not found, uncertain, and unscored; a low expression value is not absolute neutrality. Seoyoung’s proposed question grouping P3 is not presented as a shipped feature.</a:t>
            </a:r>
          </a:p>
          <a:p xmlns:a="http://schemas.openxmlformats.org/drawingml/2006/main">
            <a:r>
              <a:t/>
            </a:r>
          </a:p>
          <a:p xmlns:a="http://schemas.openxmlformats.org/drawingml/2006/main">
            <a:r>
              <a:t>SOURCES AND STATUS</a:t>
            </a:r>
          </a:p>
          <a:p xmlns:a="http://schemas.openxmlformats.org/drawingml/2006/main">
            <a:r>
              <a:t>Rubric implementation: server/analysis/v2/rubric_analysis.py</a:t>
            </a:r>
          </a:p>
          <a:p xmlns:a="http://schemas.openxmlformats.org/drawingml/2006/main">
            <a:r>
              <a:t>Team discussion: https://swpp2026fall.slack.com/archives/C0C56TCMKU6/p1792113199423159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Android client sends an article URL to Django. The server fetches article text, searches through NAVER API HUB, calls Gemini, and returns source-linked JSON. The existing Vercel production deployment is from October 5 and does not demonstrate the integrated v2 path.</a:t>
            </a:r>
          </a:p>
          <a:p xmlns:a="http://schemas.openxmlformats.org/drawingml/2006/main">
            <a:r>
              <a:t/>
            </a:r>
          </a:p>
          <a:p xmlns:a="http://schemas.openxmlformats.org/drawingml/2006/main">
            <a:r>
              <a:t>SOURCES AND STATUS</a:t>
            </a:r>
          </a:p>
          <a:p xmlns:a="http://schemas.openxmlformats.org/drawingml/2006/main">
            <a:r>
              <a:t>Architecture history: https://github.com/snuhcs-course/swpp-2026-project-team-05/wiki/Design-Documentation</a:t>
            </a:r>
          </a:p>
          <a:p xmlns:a="http://schemas.openxmlformats.org/drawingml/2006/main">
            <a:r>
              <a:t>Current contract: server/views.py and server/analysis/v2_adapter.py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adapter preserves stable article and claim IDs, a literal source passage and URL, relation and speaker attribution, and partial or unavailable states. Offline tests and a synthetic-response emulator run check the contract and screen path. These checks do not establish the semantic quality or availability of a real model run. Consult the testing draft for revision-specific results.</a:t>
            </a:r>
          </a:p>
          <a:p xmlns:a="http://schemas.openxmlformats.org/drawingml/2006/main">
            <a:r>
              <a:t/>
            </a:r>
          </a:p>
          <a:p xmlns:a="http://schemas.openxmlformats.org/drawingml/2006/main">
            <a:r>
              <a:t>SOURCES AND STATUS</a:t>
            </a:r>
          </a:p>
          <a:p xmlns:a="http://schemas.openxmlformats.org/drawingml/2006/main">
            <a:r>
              <a:t>Adapter: server/analysis/v2_adapter.py</a:t>
            </a:r>
          </a:p>
          <a:p xmlns:a="http://schemas.openxmlformats.org/drawingml/2006/main">
            <a:r>
              <a:t>Testing draft: docs/testing-documentation-iter2.md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screenshot came from an emulator using a mocked HTTP response. It demonstrates screen navigation and rendering, not a live Gemini or NAVER result. Replace or supplement this slide with a recorded run of the exact configured backend and APK. If live v2 is not ready, show the historical Iteration 1 clip as such.</a:t>
            </a:r>
          </a:p>
          <a:p xmlns:a="http://schemas.openxmlformats.org/drawingml/2006/main">
            <a:r>
              <a:t/>
            </a:r>
          </a:p>
          <a:p xmlns:a="http://schemas.openxmlformats.org/drawingml/2006/main">
            <a:r>
              <a:t>SOURCES AND STATUS</a:t>
            </a:r>
          </a:p>
          <a:p xmlns:a="http://schemas.openxmlformats.org/drawingml/2006/main">
            <a:r>
              <a:t>Synthetic screen: docs/testing-assets/android-synthetic-rubric.png</a:t>
            </a:r>
          </a:p>
          <a:p xmlns:a="http://schemas.openxmlformats.org/drawingml/2006/main">
            <a:r>
              <a:t>Live sign-off checklist: docs/midterm-presentation-outline.md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team assignment came from Slack. Jinsol’s UI and Junseo’s pipeline are connected through Django in draft PR #10; it is not merged into main. Update this slide with final PR status, revision, and live outcome before presenting.</a:t>
            </a:r>
          </a:p>
          <a:p xmlns:a="http://schemas.openxmlformats.org/drawingml/2006/main">
            <a:r>
              <a:t/>
            </a:r>
          </a:p>
          <a:p xmlns:a="http://schemas.openxmlformats.org/drawingml/2006/main">
            <a:r>
              <a:t>SOURCES AND STATUS</a:t>
            </a:r>
          </a:p>
          <a:p xmlns:a="http://schemas.openxmlformats.org/drawingml/2006/main">
            <a:r>
              <a:t>Team roles: https://swpp2026fall.slack.com/archives/C0C56TCMKU6/p1791896799209629</a:t>
            </a:r>
          </a:p>
          <a:p xmlns:a="http://schemas.openxmlformats.org/drawingml/2006/main">
            <a:r>
              <a:t>Integration PR: https://github.com/snuhcs-course/swpp-2026-project-team-05/pull/10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These are the three remaining gates. A health endpoint only checks that credential values exist, not that the services respond. The real run needs source review, timing, and a device recording. The demo branch and Iteration 2 package follow those checks.</a:t>
            </a:r>
          </a:p>
          <a:p xmlns:a="http://schemas.openxmlformats.org/drawingml/2006/main">
            <a:r>
              <a:t/>
            </a:r>
          </a:p>
          <a:p xmlns:a="http://schemas.openxmlformats.org/drawingml/2006/main">
            <a:r>
              <a:t>SOURCES AND STATUS</a:t>
            </a:r>
          </a:p>
          <a:p xmlns:a="http://schemas.openxmlformats.org/drawingml/2006/main">
            <a:r>
              <a:t>Iteration 2 submission notice: https://swpp2026fall.slack.com/archives/C0BUL8N1864/p1791763218720289</a:t>
            </a:r>
          </a:p>
          <a:p xmlns:a="http://schemas.openxmlformats.org/drawingml/2006/main">
            <a:r>
              <a:t>Test gaps: docs/testing-documentation-iter2.md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In this integration, AI assisted with adapter and test drafting. Final review found that a claim relation could be withheld in the comparison card but asserted in the I1 card. We fixed both to show a withheld judgment and added regression tests. A passing fixture test does not prove that Gemini’s interpretation is fair. This is an account of the current integration work; ask each teammate for a real AI-use example before speaking for the whole team.</a:t>
            </a:r>
          </a:p>
          <a:p xmlns:a="http://schemas.openxmlformats.org/drawingml/2006/main">
            <a:r>
              <a:t/>
            </a:r>
          </a:p>
          <a:p xmlns:a="http://schemas.openxmlformats.org/drawingml/2006/main">
            <a:r>
              <a:t>SOURCES AND STATUS</a:t>
            </a:r>
          </a:p>
          <a:p xmlns:a="http://schemas.openxmlformats.org/drawingml/2006/main">
            <a:r>
              <a:t>Current contract: server/analysis/v2_adapter.py</a:t>
            </a:r>
          </a:p>
          <a:p xmlns:a="http://schemas.openxmlformats.org/drawingml/2006/main">
            <a:r>
              <a:t>AI collaboration Wiki: https://github.com/snuhcs-course/swpp-2026-project-team-05/wiki/AI-Collaboration-Report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1009d0810b4e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d7d904a4934c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03f7a7cc3b44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e444999d9841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fadb926aa342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eb93142e8347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AEB853-5435-485A-A9A7-F1659F352B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CF4C02-98C9-4FC5-B776-C748D66BFB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9D2054-4855-4DAC-8D20-D834367D00E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AB96AE-685E-4A9B-BD99-DD05D3EEF0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B8457B-87D5-44CC-8D07-6251D83072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AE893B-2B9C-4292-9827-04B9B0AABD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95202D-FE32-41DD-B24D-7B078C97B5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CD379C-443D-409E-BD5E-46D3227019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CD7E26-041A-4BF7-9CDA-4C77158D65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46DDF1-0A20-446D-A7BA-9A87CA9C78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80dcc40c674690" /><Relationship Type="http://schemas.openxmlformats.org/officeDocument/2006/relationships/slideLayout" Target="/ppt/slideLayouts/slideLayout1.xml" Id="Rd6a61e108d704406" /><Relationship Type="http://schemas.openxmlformats.org/officeDocument/2006/relationships/slideLayout" Target="/ppt/slideLayouts/slideLayout2.xml" Id="R81b499ef56084b8d" /><Relationship Type="http://schemas.openxmlformats.org/officeDocument/2006/relationships/slideLayout" Target="/ppt/slideLayouts/slideLayout3.xml" Id="R69da57f68dd14600" /><Relationship Type="http://schemas.openxmlformats.org/officeDocument/2006/relationships/slideLayout" Target="/ppt/slideLayouts/slideLayout4.xml" Id="Re59ddda97378471b" /><Relationship Type="http://schemas.openxmlformats.org/officeDocument/2006/relationships/slideLayout" Target="/ppt/slideLayouts/slideLayout5.xml" Id="R691d55b6876641e1" /><Relationship Type="http://schemas.openxmlformats.org/officeDocument/2006/relationships/slideLayout" Target="/ppt/slideLayouts/slideLayout6.xml" Id="Rec2000f7a5b84d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a61e108d704406"/>
    <p:sldLayoutId xmlns:r="http://schemas.openxmlformats.org/officeDocument/2006/relationships" id="2147483650" r:id="R81b499ef56084b8d"/>
    <p:sldLayoutId xmlns:r="http://schemas.openxmlformats.org/officeDocument/2006/relationships" id="2147483651" r:id="R69da57f68dd14600"/>
    <p:sldLayoutId xmlns:r="http://schemas.openxmlformats.org/officeDocument/2006/relationships" id="2147483652" r:id="Re59ddda97378471b"/>
    <p:sldLayoutId xmlns:r="http://schemas.openxmlformats.org/officeDocument/2006/relationships" id="2147483653" r:id="R691d55b6876641e1"/>
    <p:sldLayoutId xmlns:r="http://schemas.openxmlformats.org/officeDocument/2006/relationships" id="2147483654" r:id="Rec2000f7a5b84d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04b5c49c174e51" /><Relationship Type="http://schemas.openxmlformats.org/officeDocument/2006/relationships/notesSlide" Target="/ppt/notesSlides/notesSlide1.xml" Id="R91a6a050864246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d4db981a964d8f" /><Relationship Type="http://schemas.openxmlformats.org/officeDocument/2006/relationships/notesSlide" Target="/ppt/notesSlides/notesSlide2.xml" Id="R18eec26c23cd4c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cf68d6862a4e3e" /><Relationship Type="http://schemas.openxmlformats.org/officeDocument/2006/relationships/notesSlide" Target="/ppt/notesSlides/notesSlide3.xml" Id="R9218bf38c76a4b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47b3715a4e488f" /><Relationship Type="http://schemas.openxmlformats.org/officeDocument/2006/relationships/notesSlide" Target="/ppt/notesSlides/notesSlide4.xml" Id="Rf28a1322057049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048747ef9d4dd4" /><Relationship Type="http://schemas.openxmlformats.org/officeDocument/2006/relationships/notesSlide" Target="/ppt/notesSlides/notesSlide5.xml" Id="Rf5beb710df4f48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20ea6c9d7c4540" /><Relationship Type="http://schemas.openxmlformats.org/officeDocument/2006/relationships/notesSlide" Target="/ppt/notesSlides/notesSlide6.xml" Id="Rc3e09862c67b48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736e5910274023" /><Relationship Type="http://schemas.openxmlformats.org/officeDocument/2006/relationships/notesSlide" Target="/ppt/notesSlides/notesSlide7.xml" Id="Rd448263baf0a44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f2c56e7eddd47f8" /><Relationship Type="http://schemas.openxmlformats.org/officeDocument/2006/relationships/image" Target="/ppt/media/image.png" Id="Ra8dd7dd67d1e4b8e" /><Relationship Type="http://schemas.openxmlformats.org/officeDocument/2006/relationships/notesSlide" Target="/ppt/notesSlides/notesSlide8.xml" Id="R0f62964ef65647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63d853ef57489b" /><Relationship Type="http://schemas.openxmlformats.org/officeDocument/2006/relationships/notesSlide" Target="/ppt/notesSlides/notesSlide9.xml" Id="R0055a21e525349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4f8c6dd7784065" /><Relationship Type="http://schemas.openxmlformats.org/officeDocument/2006/relationships/notesSlide" Target="/ppt/notesSlides/notesSlide10.xml" Id="R8bdde113e73b4c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b06d71568f34c55" /><Relationship Type="http://schemas.openxmlformats.org/officeDocument/2006/relationships/notesSlide" Target="/ppt/notesSlides/notesSlide11.xml" Id="Rb8eda7d0e1d341fc" /></Relationships>
</file>

<file path=ppt/slides/slide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828000-11F2-44AF-B680-F83E5E14DF8F}"/>
              </a:ext>
            </a:extLst>
          </p:cNvPr>
          <p:cNvSpPr>
            <a:spLocks xmlns:a="http://schemas.openxmlformats.org/drawingml/2006/main" noGrp="1"/>
          </p:cNvSpPr>
          <p:nvPr/>
        </p:nvSpPr>
        <p:spPr>
          <a:xfrm xmlns:a="http://schemas.openxmlformats.org/drawingml/2006/main">
            <a:off x="704850" y="51435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0D765E"/>
                </a:solidFill>
                <a:latin typeface="Arial"/>
                <a:ea typeface="Arial"/>
                <a:cs typeface="Arial"/>
              </a:defRPr>
            </a:defPPr>
          </a:lstStyle>
          <a:p xmlns:a="http://schemas.openxmlformats.org/drawingml/2006/main">
            <a:pPr algn="l">
              <a:defRPr sz="1425" b="1">
                <a:solidFill>
                  <a:srgbClr val="0D765E"/>
                </a:solidFill>
                <a:latin typeface="Arial"/>
                <a:ea typeface="Arial"/>
                <a:cs typeface="Arial"/>
              </a:defRPr>
            </a:pPr>
            <a:r>
              <a:rPr sz="1425" b="1">
                <a:solidFill>
                  <a:srgbClr val="0D765E"/>
                </a:solidFill>
                <a:latin typeface="Arial"/>
                <a:ea typeface="Arial"/>
                <a:cs typeface="Arial"/>
              </a:rPr>
              <a:t>SWPP 2026 FALL     TEAM 05</a:t>
            </a:r>
          </a:p>
        </p:txBody>
      </p:sp>
      <p:sp>
        <p:nvSpPr>
          <p:cNvPr id="2" name="">
            <a:extLst xmlns:a="http://schemas.openxmlformats.org/drawingml/2006/main">
              <a:ext uri="{FF2B5EF4-FFF2-40B4-BE49-F238E27FC236}">
                <a16:creationId xmlns:a16="http://schemas.microsoft.com/office/drawing/2014/main" id="{6DA418BE-4E34-48F5-BB2F-B107C69B409B}"/>
              </a:ext>
            </a:extLst>
          </p:cNvPr>
          <p:cNvSpPr>
            <a:spLocks xmlns:a="http://schemas.openxmlformats.org/drawingml/2006/main" noGrp="1"/>
          </p:cNvSpPr>
          <p:nvPr/>
        </p:nvSpPr>
        <p:spPr>
          <a:xfrm xmlns:a="http://schemas.openxmlformats.org/drawingml/2006/main">
            <a:off x="704850" y="1028700"/>
            <a:ext cx="10763250" cy="19050"/>
          </a:xfrm>
          <a:prstGeom xmlns:a="http://schemas.openxmlformats.org/drawingml/2006/main" prst="rect">
            <a:avLst/>
          </a:prstGeom>
          <a:solidFill xmlns:a="http://schemas.openxmlformats.org/drawingml/2006/main">
            <a:srgbClr val="17221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4A1870F-0C95-4EB5-AA12-1E27A42D4282}"/>
              </a:ext>
            </a:extLst>
          </p:cNvPr>
          <p:cNvSpPr>
            <a:spLocks xmlns:a="http://schemas.openxmlformats.org/drawingml/2006/main" noGrp="1"/>
          </p:cNvSpPr>
          <p:nvPr/>
        </p:nvSpPr>
        <p:spPr>
          <a:xfrm xmlns:a="http://schemas.openxmlformats.org/drawingml/2006/main">
            <a:off x="666750" y="1600200"/>
            <a:ext cx="10096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500" b="0">
                <a:solidFill>
                  <a:srgbClr val="17221F"/>
                </a:solidFill>
                <a:latin typeface="Georgia"/>
                <a:ea typeface="Georgia"/>
                <a:cs typeface="Georgia"/>
              </a:defRPr>
            </a:defPPr>
          </a:lstStyle>
          <a:p xmlns:a="http://schemas.openxmlformats.org/drawingml/2006/main">
            <a:pPr algn="l">
              <a:defRPr sz="7500" b="0">
                <a:solidFill>
                  <a:srgbClr val="17221F"/>
                </a:solidFill>
                <a:latin typeface="Georgia"/>
                <a:ea typeface="Georgia"/>
                <a:cs typeface="Georgia"/>
              </a:defRPr>
            </a:pPr>
            <a:r>
              <a:rPr sz="7500" b="0">
                <a:solidFill>
                  <a:srgbClr val="17221F"/>
                </a:solidFill>
                <a:latin typeface="Georgia"/>
                <a:ea typeface="Georgia"/>
                <a:cs typeface="Georgia"/>
              </a:rPr>
              <a:t>FrameLESS</a:t>
            </a:r>
          </a:p>
        </p:txBody>
      </p:sp>
      <p:sp>
        <p:nvSpPr>
          <p:cNvPr id="4" name="">
            <a:extLst xmlns:a="http://schemas.openxmlformats.org/drawingml/2006/main">
              <a:ext uri="{FF2B5EF4-FFF2-40B4-BE49-F238E27FC236}">
                <a16:creationId xmlns:a16="http://schemas.microsoft.com/office/drawing/2014/main" id="{308AB2FA-004E-401D-A43D-19376ABB9DEA}"/>
              </a:ext>
            </a:extLst>
          </p:cNvPr>
          <p:cNvSpPr>
            <a:spLocks xmlns:a="http://schemas.openxmlformats.org/drawingml/2006/main" noGrp="1"/>
          </p:cNvSpPr>
          <p:nvPr/>
        </p:nvSpPr>
        <p:spPr>
          <a:xfrm xmlns:a="http://schemas.openxmlformats.org/drawingml/2006/main">
            <a:off x="714375" y="3409950"/>
            <a:ext cx="1000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0D765E"/>
                </a:solidFill>
                <a:latin typeface="Georgia"/>
                <a:ea typeface="Georgia"/>
                <a:cs typeface="Georgia"/>
              </a:defRPr>
            </a:defPPr>
          </a:lstStyle>
          <a:p xmlns:a="http://schemas.openxmlformats.org/drawingml/2006/main">
            <a:pPr algn="l">
              <a:defRPr sz="3525" b="0">
                <a:solidFill>
                  <a:srgbClr val="0D765E"/>
                </a:solidFill>
                <a:latin typeface="Georgia"/>
                <a:ea typeface="Georgia"/>
                <a:cs typeface="Georgia"/>
              </a:defRPr>
            </a:pPr>
            <a:r>
              <a:rPr sz="3525" b="0">
                <a:solidFill>
                  <a:srgbClr val="0D765E"/>
                </a:solidFill>
                <a:latin typeface="Georgia"/>
                <a:ea typeface="Georgia"/>
                <a:cs typeface="Georgia"/>
              </a:rPr>
              <a:t>Read the same event across sources.</a:t>
            </a:r>
          </a:p>
        </p:txBody>
      </p:sp>
      <p:sp>
        <p:nvSpPr>
          <p:cNvPr id="5" name="">
            <a:extLst xmlns:a="http://schemas.openxmlformats.org/drawingml/2006/main">
              <a:ext uri="{FF2B5EF4-FFF2-40B4-BE49-F238E27FC236}">
                <a16:creationId xmlns:a16="http://schemas.microsoft.com/office/drawing/2014/main" id="{610A81AC-86D9-45AD-8A38-A8CA41C4659E}"/>
              </a:ext>
            </a:extLst>
          </p:cNvPr>
          <p:cNvSpPr>
            <a:spLocks xmlns:a="http://schemas.openxmlformats.org/drawingml/2006/main" noGrp="1"/>
          </p:cNvSpPr>
          <p:nvPr/>
        </p:nvSpPr>
        <p:spPr>
          <a:xfrm xmlns:a="http://schemas.openxmlformats.org/drawingml/2006/main">
            <a:off x="733425"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7221F"/>
                </a:solidFill>
                <a:latin typeface="Arial"/>
                <a:ea typeface="Arial"/>
                <a:cs typeface="Arial"/>
              </a:defRPr>
            </a:defPPr>
          </a:lstStyle>
          <a:p xmlns:a="http://schemas.openxmlformats.org/drawingml/2006/main">
            <a:pPr algn="l">
              <a:defRPr sz="2025" b="0">
                <a:solidFill>
                  <a:srgbClr val="17221F"/>
                </a:solidFill>
                <a:latin typeface="Arial"/>
                <a:ea typeface="Arial"/>
                <a:cs typeface="Arial"/>
              </a:defRPr>
            </a:pPr>
            <a:r>
              <a:rPr sz="2025" b="0">
                <a:solidFill>
                  <a:srgbClr val="17221F"/>
                </a:solidFill>
                <a:latin typeface="Arial"/>
                <a:ea typeface="Arial"/>
                <a:cs typeface="Arial"/>
              </a:rPr>
              <a:t>An Android app that puts original passages beside the claims they address.</a:t>
            </a:r>
          </a:p>
        </p:txBody>
      </p:sp>
      <p:sp>
        <p:nvSpPr>
          <p:cNvPr id="6" name="">
            <a:extLst xmlns:a="http://schemas.openxmlformats.org/drawingml/2006/main">
              <a:ext uri="{FF2B5EF4-FFF2-40B4-BE49-F238E27FC236}">
                <a16:creationId xmlns:a16="http://schemas.microsoft.com/office/drawing/2014/main" id="{ED6ADB34-41A3-4361-9930-AB68CABDF7DE}"/>
              </a:ext>
            </a:extLst>
          </p:cNvPr>
          <p:cNvSpPr>
            <a:spLocks xmlns:a="http://schemas.openxmlformats.org/drawingml/2006/main" noGrp="1"/>
          </p:cNvSpPr>
          <p:nvPr/>
        </p:nvSpPr>
        <p:spPr>
          <a:xfrm xmlns:a="http://schemas.openxmlformats.org/drawingml/2006/main">
            <a:off x="714375" y="5857875"/>
            <a:ext cx="10763250"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7FB412-8E0B-40FD-BC19-7882E0BB6142}"/>
              </a:ext>
            </a:extLst>
          </p:cNvPr>
          <p:cNvSpPr>
            <a:spLocks xmlns:a="http://schemas.openxmlformats.org/drawingml/2006/main" noGrp="1"/>
          </p:cNvSpPr>
          <p:nvPr/>
        </p:nvSpPr>
        <p:spPr>
          <a:xfrm xmlns:a="http://schemas.openxmlformats.org/drawingml/2006/main">
            <a:off x="733425" y="604837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52605B"/>
                </a:solidFill>
                <a:latin typeface="Arial"/>
                <a:ea typeface="Arial"/>
                <a:cs typeface="Arial"/>
              </a:defRPr>
            </a:defPPr>
          </a:lstStyle>
          <a:p xmlns:a="http://schemas.openxmlformats.org/drawingml/2006/main">
            <a:pPr algn="l">
              <a:defRPr sz="1500" b="0">
                <a:solidFill>
                  <a:srgbClr val="52605B"/>
                </a:solidFill>
                <a:latin typeface="Arial"/>
                <a:ea typeface="Arial"/>
                <a:cs typeface="Arial"/>
              </a:defRPr>
            </a:pPr>
            <a:r>
              <a:rPr sz="1500" b="0">
                <a:solidFill>
                  <a:srgbClr val="52605B"/>
                </a:solidFill>
                <a:latin typeface="Arial"/>
                <a:ea typeface="Arial"/>
                <a:cs typeface="Arial"/>
              </a:rPr>
              <a:t>Seoyoung Do     Junseo Heo     Jinsol Lee     Seungmin Kim</a:t>
            </a:r>
          </a:p>
        </p:txBody>
      </p:sp>
    </p:spTree>
    <p:extLst>
      <p:ext uri="{BB962C8B-B14F-4D97-AF65-F5344CB8AC3E}">
        <p14:creationId xmlns:p14="http://schemas.microsoft.com/office/powerpoint/2010/main" val="143147074"/>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400A45-3E58-4F98-861C-7098DFE91DEF}"/>
              </a:ext>
            </a:extLst>
          </p:cNvPr>
          <p:cNvSpPr>
            <a:spLocks xmlns:a="http://schemas.openxmlformats.org/drawingml/2006/main" noGrp="1"/>
          </p:cNvSpPr>
          <p:nvPr/>
        </p:nvSpPr>
        <p:spPr>
          <a:xfrm xmlns:a="http://schemas.openxmlformats.org/drawingml/2006/main">
            <a:off x="685800" y="552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17221F"/>
                </a:solidFill>
                <a:latin typeface="Georgia"/>
                <a:ea typeface="Georgia"/>
                <a:cs typeface="Georgia"/>
              </a:defRPr>
            </a:defPPr>
          </a:lstStyle>
          <a:p xmlns:a="http://schemas.openxmlformats.org/drawingml/2006/main">
            <a:pPr algn="l">
              <a:defRPr sz="3525" b="0">
                <a:solidFill>
                  <a:srgbClr val="17221F"/>
                </a:solidFill>
                <a:latin typeface="Georgia"/>
                <a:ea typeface="Georgia"/>
                <a:cs typeface="Georgia"/>
              </a:defRPr>
            </a:pPr>
            <a:r>
              <a:rPr sz="3525" b="0">
                <a:solidFill>
                  <a:srgbClr val="17221F"/>
                </a:solidFill>
                <a:latin typeface="Georgia"/>
                <a:ea typeface="Georgia"/>
                <a:cs typeface="Georgia"/>
              </a:rPr>
              <a:t>The comparison gap</a:t>
            </a:r>
          </a:p>
        </p:txBody>
      </p:sp>
      <p:sp>
        <p:nvSpPr>
          <p:cNvPr id="2" name="">
            <a:extLst xmlns:a="http://schemas.openxmlformats.org/drawingml/2006/main">
              <a:ext uri="{FF2B5EF4-FFF2-40B4-BE49-F238E27FC236}">
                <a16:creationId xmlns:a16="http://schemas.microsoft.com/office/drawing/2014/main" id="{FC810F4A-DBB1-43DF-AC3B-440AB14B1FE4}"/>
              </a:ext>
            </a:extLst>
          </p:cNvPr>
          <p:cNvSpPr>
            <a:spLocks xmlns:a="http://schemas.openxmlformats.org/drawingml/2006/main" noGrp="1"/>
          </p:cNvSpPr>
          <p:nvPr/>
        </p:nvSpPr>
        <p:spPr>
          <a:xfrm xmlns:a="http://schemas.openxmlformats.org/drawingml/2006/main">
            <a:off x="704850" y="1381125"/>
            <a:ext cx="107727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BFAC7EC-FCB5-4AD4-B4ED-5CF9CD64BB01}"/>
              </a:ext>
            </a:extLst>
          </p:cNvPr>
          <p:cNvSpPr>
            <a:spLocks xmlns:a="http://schemas.openxmlformats.org/drawingml/2006/main" noGrp="1"/>
          </p:cNvSpPr>
          <p:nvPr/>
        </p:nvSpPr>
        <p:spPr>
          <a:xfrm xmlns:a="http://schemas.openxmlformats.org/drawingml/2006/main">
            <a:off x="11125200" y="6267450"/>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52605B"/>
                </a:solidFill>
                <a:latin typeface="Arial"/>
                <a:ea typeface="Arial"/>
                <a:cs typeface="Arial"/>
              </a:defRPr>
            </a:defPPr>
          </a:lstStyle>
          <a:p xmlns:a="http://schemas.openxmlformats.org/drawingml/2006/main">
            <a:pPr algn="r">
              <a:defRPr sz="1350" b="0">
                <a:solidFill>
                  <a:srgbClr val="52605B"/>
                </a:solidFill>
                <a:latin typeface="Arial"/>
                <a:ea typeface="Arial"/>
                <a:cs typeface="Arial"/>
              </a:defRPr>
            </a:pPr>
            <a:r>
              <a:rPr sz="1350" b="0">
                <a:solidFill>
                  <a:srgbClr val="52605B"/>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366F713-F977-4BE1-A932-763AB9C192A2}"/>
              </a:ext>
            </a:extLst>
          </p:cNvPr>
          <p:cNvSpPr>
            <a:spLocks xmlns:a="http://schemas.openxmlformats.org/drawingml/2006/main" noGrp="1"/>
          </p:cNvSpPr>
          <p:nvPr/>
        </p:nvSpPr>
        <p:spPr>
          <a:xfrm xmlns:a="http://schemas.openxmlformats.org/drawingml/2006/main">
            <a:off x="733425" y="1857375"/>
            <a:ext cx="10287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450" b="0">
                <a:solidFill>
                  <a:srgbClr val="17221F"/>
                </a:solidFill>
                <a:latin typeface="Georgia"/>
                <a:ea typeface="Georgia"/>
                <a:cs typeface="Georgia"/>
              </a:defRPr>
            </a:defPPr>
          </a:lstStyle>
          <a:p xmlns:a="http://schemas.openxmlformats.org/drawingml/2006/main">
            <a:pPr algn="l">
              <a:defRPr sz="3450" b="0">
                <a:solidFill>
                  <a:srgbClr val="17221F"/>
                </a:solidFill>
                <a:latin typeface="Georgia"/>
                <a:ea typeface="Georgia"/>
                <a:cs typeface="Georgia"/>
              </a:defRPr>
            </a:pPr>
            <a:r>
              <a:rPr sz="3450" b="0">
                <a:solidFill>
                  <a:srgbClr val="17221F"/>
                </a:solidFill>
                <a:latin typeface="Georgia"/>
                <a:ea typeface="Georgia"/>
                <a:cs typeface="Georgia"/>
              </a:rPr>
              <a:t>A reader opens several reports.</a:t>
            </a:r>
          </a:p>
          <a:p xmlns:a="http://schemas.openxmlformats.org/drawingml/2006/main">
            <a:pPr algn="l">
              <a:defRPr sz="3450" b="0">
                <a:solidFill>
                  <a:srgbClr val="17221F"/>
                </a:solidFill>
                <a:latin typeface="Georgia"/>
                <a:ea typeface="Georgia"/>
                <a:cs typeface="Georgia"/>
              </a:defRPr>
            </a:pPr>
            <a:r>
              <a:rPr sz="3450" b="0">
                <a:solidFill>
                  <a:srgbClr val="17221F"/>
                </a:solidFill>
                <a:latin typeface="Georgia"/>
                <a:ea typeface="Georgia"/>
                <a:cs typeface="Georgia"/>
              </a:rPr>
              <a:t>Finding the matching passages is still manual.</a:t>
            </a:r>
          </a:p>
        </p:txBody>
      </p:sp>
      <p:sp>
        <p:nvSpPr>
          <p:cNvPr id="5" name="">
            <a:extLst xmlns:a="http://schemas.openxmlformats.org/drawingml/2006/main">
              <a:ext uri="{FF2B5EF4-FFF2-40B4-BE49-F238E27FC236}">
                <a16:creationId xmlns:a16="http://schemas.microsoft.com/office/drawing/2014/main" id="{A8AE2B65-2574-4296-B6F6-8A581C24E7BE}"/>
              </a:ext>
            </a:extLst>
          </p:cNvPr>
          <p:cNvSpPr>
            <a:spLocks xmlns:a="http://schemas.openxmlformats.org/drawingml/2006/main" noGrp="1"/>
          </p:cNvSpPr>
          <p:nvPr/>
        </p:nvSpPr>
        <p:spPr>
          <a:xfrm xmlns:a="http://schemas.openxmlformats.org/drawingml/2006/main">
            <a:off x="714375" y="4191000"/>
            <a:ext cx="10763250" cy="19050"/>
          </a:xfrm>
          <a:prstGeom xmlns:a="http://schemas.openxmlformats.org/drawingml/2006/main" prst="rect">
            <a:avLst/>
          </a:prstGeom>
          <a:solidFill xmlns:a="http://schemas.openxmlformats.org/drawingml/2006/main">
            <a:srgbClr val="17221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04C0613-B081-49A3-A661-FD595327423C}"/>
              </a:ext>
            </a:extLst>
          </p:cNvPr>
          <p:cNvSpPr>
            <a:spLocks xmlns:a="http://schemas.openxmlformats.org/drawingml/2006/main" noGrp="1"/>
          </p:cNvSpPr>
          <p:nvPr/>
        </p:nvSpPr>
        <p:spPr>
          <a:xfrm xmlns:a="http://schemas.openxmlformats.org/drawingml/2006/main">
            <a:off x="733425" y="4543425"/>
            <a:ext cx="32099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17221F"/>
                </a:solidFill>
                <a:latin typeface="Arial"/>
                <a:ea typeface="Arial"/>
                <a:cs typeface="Arial"/>
              </a:defRPr>
            </a:defPPr>
          </a:lstStyle>
          <a:p xmlns:a="http://schemas.openxmlformats.org/drawingml/2006/main">
            <a:pPr algn="l">
              <a:defRPr sz="1800" b="1">
                <a:solidFill>
                  <a:srgbClr val="17221F"/>
                </a:solidFill>
                <a:latin typeface="Arial"/>
                <a:ea typeface="Arial"/>
                <a:cs typeface="Arial"/>
              </a:defRPr>
            </a:pPr>
            <a:r>
              <a:rPr sz="1800" b="1">
                <a:solidFill>
                  <a:srgbClr val="17221F"/>
                </a:solidFill>
                <a:latin typeface="Arial"/>
                <a:ea typeface="Arial"/>
                <a:cs typeface="Arial"/>
              </a:rPr>
              <a:t>NAVER News</a:t>
            </a:r>
          </a:p>
        </p:txBody>
      </p:sp>
      <p:sp>
        <p:nvSpPr>
          <p:cNvPr id="7" name="">
            <a:extLst xmlns:a="http://schemas.openxmlformats.org/drawingml/2006/main">
              <a:ext uri="{FF2B5EF4-FFF2-40B4-BE49-F238E27FC236}">
                <a16:creationId xmlns:a16="http://schemas.microsoft.com/office/drawing/2014/main" id="{06488C27-651F-4176-BB53-3261404EB9EF}"/>
              </a:ext>
            </a:extLst>
          </p:cNvPr>
          <p:cNvSpPr>
            <a:spLocks xmlns:a="http://schemas.openxmlformats.org/drawingml/2006/main" noGrp="1"/>
          </p:cNvSpPr>
          <p:nvPr/>
        </p:nvSpPr>
        <p:spPr>
          <a:xfrm xmlns:a="http://schemas.openxmlformats.org/drawingml/2006/main">
            <a:off x="733425" y="5038725"/>
            <a:ext cx="32099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Find more articles</a:t>
            </a:r>
          </a:p>
        </p:txBody>
      </p:sp>
      <p:sp>
        <p:nvSpPr>
          <p:cNvPr id="8" name="">
            <a:extLst xmlns:a="http://schemas.openxmlformats.org/drawingml/2006/main">
              <a:ext uri="{FF2B5EF4-FFF2-40B4-BE49-F238E27FC236}">
                <a16:creationId xmlns:a16="http://schemas.microsoft.com/office/drawing/2014/main" id="{FCB1A60B-D5EE-4A28-A3C9-BD229A249692}"/>
              </a:ext>
            </a:extLst>
          </p:cNvPr>
          <p:cNvSpPr>
            <a:spLocks xmlns:a="http://schemas.openxmlformats.org/drawingml/2006/main" noGrp="1"/>
          </p:cNvSpPr>
          <p:nvPr/>
        </p:nvSpPr>
        <p:spPr>
          <a:xfrm xmlns:a="http://schemas.openxmlformats.org/drawingml/2006/main">
            <a:off x="4333875" y="4543425"/>
            <a:ext cx="32099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17221F"/>
                </a:solidFill>
                <a:latin typeface="Arial"/>
                <a:ea typeface="Arial"/>
                <a:cs typeface="Arial"/>
              </a:defRPr>
            </a:defPPr>
          </a:lstStyle>
          <a:p xmlns:a="http://schemas.openxmlformats.org/drawingml/2006/main">
            <a:pPr algn="l">
              <a:defRPr sz="1800" b="1">
                <a:solidFill>
                  <a:srgbClr val="17221F"/>
                </a:solidFill>
                <a:latin typeface="Arial"/>
                <a:ea typeface="Arial"/>
                <a:cs typeface="Arial"/>
              </a:defRPr>
            </a:pPr>
            <a:r>
              <a:rPr sz="1800" b="1">
                <a:solidFill>
                  <a:srgbClr val="17221F"/>
                </a:solidFill>
                <a:latin typeface="Arial"/>
                <a:ea typeface="Arial"/>
                <a:cs typeface="Arial"/>
              </a:rPr>
              <a:t>Ground News</a:t>
            </a:r>
          </a:p>
        </p:txBody>
      </p:sp>
      <p:sp>
        <p:nvSpPr>
          <p:cNvPr id="9" name="">
            <a:extLst xmlns:a="http://schemas.openxmlformats.org/drawingml/2006/main">
              <a:ext uri="{FF2B5EF4-FFF2-40B4-BE49-F238E27FC236}">
                <a16:creationId xmlns:a16="http://schemas.microsoft.com/office/drawing/2014/main" id="{94E80108-503B-4A7D-AE92-897B4F31092A}"/>
              </a:ext>
            </a:extLst>
          </p:cNvPr>
          <p:cNvSpPr>
            <a:spLocks xmlns:a="http://schemas.openxmlformats.org/drawingml/2006/main" noGrp="1"/>
          </p:cNvSpPr>
          <p:nvPr/>
        </p:nvSpPr>
        <p:spPr>
          <a:xfrm xmlns:a="http://schemas.openxmlformats.org/drawingml/2006/main">
            <a:off x="4333875" y="5038725"/>
            <a:ext cx="32099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See coverage across outlets</a:t>
            </a:r>
          </a:p>
        </p:txBody>
      </p:sp>
      <p:sp>
        <p:nvSpPr>
          <p:cNvPr id="10" name="">
            <a:extLst xmlns:a="http://schemas.openxmlformats.org/drawingml/2006/main">
              <a:ext uri="{FF2B5EF4-FFF2-40B4-BE49-F238E27FC236}">
                <a16:creationId xmlns:a16="http://schemas.microsoft.com/office/drawing/2014/main" id="{B0D4BCD1-873A-47A8-89D3-97504EA945B9}"/>
              </a:ext>
            </a:extLst>
          </p:cNvPr>
          <p:cNvSpPr>
            <a:spLocks xmlns:a="http://schemas.openxmlformats.org/drawingml/2006/main" noGrp="1"/>
          </p:cNvSpPr>
          <p:nvPr/>
        </p:nvSpPr>
        <p:spPr>
          <a:xfrm xmlns:a="http://schemas.openxmlformats.org/drawingml/2006/main">
            <a:off x="7934325" y="4543425"/>
            <a:ext cx="32099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D765E"/>
                </a:solidFill>
                <a:latin typeface="Arial"/>
                <a:ea typeface="Arial"/>
                <a:cs typeface="Arial"/>
              </a:defRPr>
            </a:defPPr>
          </a:lstStyle>
          <a:p xmlns:a="http://schemas.openxmlformats.org/drawingml/2006/main">
            <a:pPr algn="l">
              <a:defRPr sz="1800" b="1">
                <a:solidFill>
                  <a:srgbClr val="0D765E"/>
                </a:solidFill>
                <a:latin typeface="Arial"/>
                <a:ea typeface="Arial"/>
                <a:cs typeface="Arial"/>
              </a:defRPr>
            </a:pPr>
            <a:r>
              <a:rPr sz="1800" b="1">
                <a:solidFill>
                  <a:srgbClr val="0D765E"/>
                </a:solidFill>
                <a:latin typeface="Arial"/>
                <a:ea typeface="Arial"/>
                <a:cs typeface="Arial"/>
              </a:rPr>
              <a:t>FrameLESS</a:t>
            </a:r>
          </a:p>
        </p:txBody>
      </p:sp>
      <p:sp>
        <p:nvSpPr>
          <p:cNvPr id="11" name="">
            <a:extLst xmlns:a="http://schemas.openxmlformats.org/drawingml/2006/main">
              <a:ext uri="{FF2B5EF4-FFF2-40B4-BE49-F238E27FC236}">
                <a16:creationId xmlns:a16="http://schemas.microsoft.com/office/drawing/2014/main" id="{BA5D6C51-4295-4DAF-9F13-F9B6091C53CA}"/>
              </a:ext>
            </a:extLst>
          </p:cNvPr>
          <p:cNvSpPr>
            <a:spLocks xmlns:a="http://schemas.openxmlformats.org/drawingml/2006/main" noGrp="1"/>
          </p:cNvSpPr>
          <p:nvPr/>
        </p:nvSpPr>
        <p:spPr>
          <a:xfrm xmlns:a="http://schemas.openxmlformats.org/drawingml/2006/main">
            <a:off x="7934325" y="5038725"/>
            <a:ext cx="32099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Inspect passages linked to a claim</a:t>
            </a:r>
          </a:p>
        </p:txBody>
      </p:sp>
    </p:spTree>
    <p:extLst>
      <p:ext uri="{BB962C8B-B14F-4D97-AF65-F5344CB8AC3E}">
        <p14:creationId xmlns:p14="http://schemas.microsoft.com/office/powerpoint/2010/main" val="1073557832"/>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A70B6FA-10D9-4EE6-A4CB-9FDDD50B20E4}"/>
              </a:ext>
            </a:extLst>
          </p:cNvPr>
          <p:cNvSpPr>
            <a:spLocks xmlns:a="http://schemas.openxmlformats.org/drawingml/2006/main" noGrp="1"/>
          </p:cNvSpPr>
          <p:nvPr/>
        </p:nvSpPr>
        <p:spPr>
          <a:xfrm xmlns:a="http://schemas.openxmlformats.org/drawingml/2006/main">
            <a:off x="685800" y="552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17221F"/>
                </a:solidFill>
                <a:latin typeface="Georgia"/>
                <a:ea typeface="Georgia"/>
                <a:cs typeface="Georgia"/>
              </a:defRPr>
            </a:defPPr>
          </a:lstStyle>
          <a:p xmlns:a="http://schemas.openxmlformats.org/drawingml/2006/main">
            <a:pPr algn="l">
              <a:defRPr sz="3525" b="0">
                <a:solidFill>
                  <a:srgbClr val="17221F"/>
                </a:solidFill>
                <a:latin typeface="Georgia"/>
                <a:ea typeface="Georgia"/>
                <a:cs typeface="Georgia"/>
              </a:defRPr>
            </a:pPr>
            <a:r>
              <a:rPr sz="3525" b="0">
                <a:solidFill>
                  <a:srgbClr val="17221F"/>
                </a:solidFill>
                <a:latin typeface="Georgia"/>
                <a:ea typeface="Georgia"/>
                <a:cs typeface="Georgia"/>
              </a:rPr>
              <a:t>From URL to source</a:t>
            </a:r>
          </a:p>
        </p:txBody>
      </p:sp>
      <p:sp>
        <p:nvSpPr>
          <p:cNvPr id="2" name="">
            <a:extLst xmlns:a="http://schemas.openxmlformats.org/drawingml/2006/main">
              <a:ext uri="{FF2B5EF4-FFF2-40B4-BE49-F238E27FC236}">
                <a16:creationId xmlns:a16="http://schemas.microsoft.com/office/drawing/2014/main" id="{6840B659-846C-4621-8998-F65FE29E58AC}"/>
              </a:ext>
            </a:extLst>
          </p:cNvPr>
          <p:cNvSpPr>
            <a:spLocks xmlns:a="http://schemas.openxmlformats.org/drawingml/2006/main" noGrp="1"/>
          </p:cNvSpPr>
          <p:nvPr/>
        </p:nvSpPr>
        <p:spPr>
          <a:xfrm xmlns:a="http://schemas.openxmlformats.org/drawingml/2006/main">
            <a:off x="704850" y="1381125"/>
            <a:ext cx="107727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29B7A99-5B2E-4452-8C44-470DEED7AC11}"/>
              </a:ext>
            </a:extLst>
          </p:cNvPr>
          <p:cNvSpPr>
            <a:spLocks xmlns:a="http://schemas.openxmlformats.org/drawingml/2006/main" noGrp="1"/>
          </p:cNvSpPr>
          <p:nvPr/>
        </p:nvSpPr>
        <p:spPr>
          <a:xfrm xmlns:a="http://schemas.openxmlformats.org/drawingml/2006/main">
            <a:off x="11125200" y="6267450"/>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52605B"/>
                </a:solidFill>
                <a:latin typeface="Arial"/>
                <a:ea typeface="Arial"/>
                <a:cs typeface="Arial"/>
              </a:defRPr>
            </a:defPPr>
          </a:lstStyle>
          <a:p xmlns:a="http://schemas.openxmlformats.org/drawingml/2006/main">
            <a:pPr algn="r">
              <a:defRPr sz="1350" b="0">
                <a:solidFill>
                  <a:srgbClr val="52605B"/>
                </a:solidFill>
                <a:latin typeface="Arial"/>
                <a:ea typeface="Arial"/>
                <a:cs typeface="Arial"/>
              </a:defRPr>
            </a:pPr>
            <a:r>
              <a:rPr sz="1350" b="0">
                <a:solidFill>
                  <a:srgbClr val="52605B"/>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F85703D-C98C-489B-9577-EE897B99B6E2}"/>
              </a:ext>
            </a:extLst>
          </p:cNvPr>
          <p:cNvSpPr>
            <a:spLocks xmlns:a="http://schemas.openxmlformats.org/drawingml/2006/main" noGrp="1"/>
          </p:cNvSpPr>
          <p:nvPr/>
        </p:nvSpPr>
        <p:spPr>
          <a:xfrm xmlns:a="http://schemas.openxmlformats.org/drawingml/2006/main">
            <a:off x="742950" y="1685925"/>
            <a:ext cx="904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600" b="0">
                <a:solidFill>
                  <a:srgbClr val="98ABA0"/>
                </a:solidFill>
                <a:latin typeface="Georgia"/>
                <a:ea typeface="Georgia"/>
                <a:cs typeface="Georgia"/>
              </a:defRPr>
            </a:defPPr>
          </a:lstStyle>
          <a:p xmlns:a="http://schemas.openxmlformats.org/drawingml/2006/main">
            <a:pPr algn="l">
              <a:defRPr sz="3600" b="0">
                <a:solidFill>
                  <a:srgbClr val="98ABA0"/>
                </a:solidFill>
                <a:latin typeface="Georgia"/>
                <a:ea typeface="Georgia"/>
                <a:cs typeface="Georgia"/>
              </a:defRPr>
            </a:pPr>
            <a:r>
              <a:rPr sz="3600" b="0">
                <a:solidFill>
                  <a:srgbClr val="98ABA0"/>
                </a:solidFill>
                <a:latin typeface="Georgia"/>
                <a:ea typeface="Georgia"/>
                <a:cs typeface="Georgia"/>
              </a:rPr>
              <a:t>01</a:t>
            </a:r>
          </a:p>
        </p:txBody>
      </p:sp>
      <p:sp>
        <p:nvSpPr>
          <p:cNvPr id="5" name="">
            <a:extLst xmlns:a="http://schemas.openxmlformats.org/drawingml/2006/main">
              <a:ext uri="{FF2B5EF4-FFF2-40B4-BE49-F238E27FC236}">
                <a16:creationId xmlns:a16="http://schemas.microsoft.com/office/drawing/2014/main" id="{DE136DA4-5792-4529-8413-745398F1D04C}"/>
              </a:ext>
            </a:extLst>
          </p:cNvPr>
          <p:cNvSpPr>
            <a:spLocks xmlns:a="http://schemas.openxmlformats.org/drawingml/2006/main" noGrp="1"/>
          </p:cNvSpPr>
          <p:nvPr/>
        </p:nvSpPr>
        <p:spPr>
          <a:xfrm xmlns:a="http://schemas.openxmlformats.org/drawingml/2006/main">
            <a:off x="1952625" y="1704975"/>
            <a:ext cx="442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7221F"/>
                </a:solidFill>
                <a:latin typeface="Arial"/>
                <a:ea typeface="Arial"/>
                <a:cs typeface="Arial"/>
              </a:defRPr>
            </a:defPPr>
          </a:lstStyle>
          <a:p xmlns:a="http://schemas.openxmlformats.org/drawingml/2006/main">
            <a:pPr algn="l">
              <a:defRPr sz="2400" b="1">
                <a:solidFill>
                  <a:srgbClr val="17221F"/>
                </a:solidFill>
                <a:latin typeface="Arial"/>
                <a:ea typeface="Arial"/>
                <a:cs typeface="Arial"/>
              </a:defRPr>
            </a:pPr>
            <a:r>
              <a:rPr sz="2400" b="1">
                <a:solidFill>
                  <a:srgbClr val="17221F"/>
                </a:solidFill>
                <a:latin typeface="Arial"/>
                <a:ea typeface="Arial"/>
                <a:cs typeface="Arial"/>
              </a:rPr>
              <a:t>Paste an article URL</a:t>
            </a:r>
          </a:p>
        </p:txBody>
      </p:sp>
      <p:sp>
        <p:nvSpPr>
          <p:cNvPr id="6" name="">
            <a:extLst xmlns:a="http://schemas.openxmlformats.org/drawingml/2006/main">
              <a:ext uri="{FF2B5EF4-FFF2-40B4-BE49-F238E27FC236}">
                <a16:creationId xmlns:a16="http://schemas.microsoft.com/office/drawing/2014/main" id="{1306CDFD-B66D-45EB-9FF3-80FF2B3B8763}"/>
              </a:ext>
            </a:extLst>
          </p:cNvPr>
          <p:cNvSpPr>
            <a:spLocks xmlns:a="http://schemas.openxmlformats.org/drawingml/2006/main" noGrp="1"/>
          </p:cNvSpPr>
          <p:nvPr/>
        </p:nvSpPr>
        <p:spPr>
          <a:xfrm xmlns:a="http://schemas.openxmlformats.org/drawingml/2006/main">
            <a:off x="6581775" y="1714500"/>
            <a:ext cx="4648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The app checks the link.</a:t>
            </a:r>
          </a:p>
        </p:txBody>
      </p:sp>
      <p:sp>
        <p:nvSpPr>
          <p:cNvPr id="7" name="">
            <a:extLst xmlns:a="http://schemas.openxmlformats.org/drawingml/2006/main">
              <a:ext uri="{FF2B5EF4-FFF2-40B4-BE49-F238E27FC236}">
                <a16:creationId xmlns:a16="http://schemas.microsoft.com/office/drawing/2014/main" id="{CB69336D-E651-43AD-9B9D-A5273514BCFF}"/>
              </a:ext>
            </a:extLst>
          </p:cNvPr>
          <p:cNvSpPr>
            <a:spLocks xmlns:a="http://schemas.openxmlformats.org/drawingml/2006/main" noGrp="1"/>
          </p:cNvSpPr>
          <p:nvPr/>
        </p:nvSpPr>
        <p:spPr>
          <a:xfrm xmlns:a="http://schemas.openxmlformats.org/drawingml/2006/main">
            <a:off x="1952625" y="2533650"/>
            <a:ext cx="9505950" cy="9525"/>
          </a:xfrm>
          <a:prstGeom xmlns:a="http://schemas.openxmlformats.org/drawingml/2006/main" prst="rect">
            <a:avLst/>
          </a:prstGeom>
          <a:solidFill xmlns:a="http://schemas.openxmlformats.org/drawingml/2006/main">
            <a:srgbClr val="DCE3D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BCC2E7-9388-4244-A8C1-FE219E6BC1BC}"/>
              </a:ext>
            </a:extLst>
          </p:cNvPr>
          <p:cNvSpPr>
            <a:spLocks xmlns:a="http://schemas.openxmlformats.org/drawingml/2006/main" noGrp="1"/>
          </p:cNvSpPr>
          <p:nvPr/>
        </p:nvSpPr>
        <p:spPr>
          <a:xfrm xmlns:a="http://schemas.openxmlformats.org/drawingml/2006/main">
            <a:off x="742950" y="2762250"/>
            <a:ext cx="904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600" b="0">
                <a:solidFill>
                  <a:srgbClr val="98ABA0"/>
                </a:solidFill>
                <a:latin typeface="Georgia"/>
                <a:ea typeface="Georgia"/>
                <a:cs typeface="Georgia"/>
              </a:defRPr>
            </a:defPPr>
          </a:lstStyle>
          <a:p xmlns:a="http://schemas.openxmlformats.org/drawingml/2006/main">
            <a:pPr algn="l">
              <a:defRPr sz="3600" b="0">
                <a:solidFill>
                  <a:srgbClr val="98ABA0"/>
                </a:solidFill>
                <a:latin typeface="Georgia"/>
                <a:ea typeface="Georgia"/>
                <a:cs typeface="Georgia"/>
              </a:defRPr>
            </a:pPr>
            <a:r>
              <a:rPr sz="3600" b="0">
                <a:solidFill>
                  <a:srgbClr val="98ABA0"/>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F9CA9326-689A-4182-87A9-49CC7C3E8757}"/>
              </a:ext>
            </a:extLst>
          </p:cNvPr>
          <p:cNvSpPr>
            <a:spLocks xmlns:a="http://schemas.openxmlformats.org/drawingml/2006/main" noGrp="1"/>
          </p:cNvSpPr>
          <p:nvPr/>
        </p:nvSpPr>
        <p:spPr>
          <a:xfrm xmlns:a="http://schemas.openxmlformats.org/drawingml/2006/main">
            <a:off x="1952625" y="2781300"/>
            <a:ext cx="442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7221F"/>
                </a:solidFill>
                <a:latin typeface="Arial"/>
                <a:ea typeface="Arial"/>
                <a:cs typeface="Arial"/>
              </a:defRPr>
            </a:defPPr>
          </a:lstStyle>
          <a:p xmlns:a="http://schemas.openxmlformats.org/drawingml/2006/main">
            <a:pPr algn="l">
              <a:defRPr sz="2400" b="1">
                <a:solidFill>
                  <a:srgbClr val="17221F"/>
                </a:solidFill>
                <a:latin typeface="Arial"/>
                <a:ea typeface="Arial"/>
                <a:cs typeface="Arial"/>
              </a:defRPr>
            </a:pPr>
            <a:r>
              <a:rPr sz="2400" b="1">
                <a:solidFill>
                  <a:srgbClr val="17221F"/>
                </a:solidFill>
                <a:latin typeface="Arial"/>
                <a:ea typeface="Arial"/>
                <a:cs typeface="Arial"/>
              </a:rPr>
              <a:t>Find the same event</a:t>
            </a:r>
          </a:p>
        </p:txBody>
      </p:sp>
      <p:sp>
        <p:nvSpPr>
          <p:cNvPr id="10" name="">
            <a:extLst xmlns:a="http://schemas.openxmlformats.org/drawingml/2006/main">
              <a:ext uri="{FF2B5EF4-FFF2-40B4-BE49-F238E27FC236}">
                <a16:creationId xmlns:a16="http://schemas.microsoft.com/office/drawing/2014/main" id="{271ABCF5-8221-4653-8C01-A953179DE429}"/>
              </a:ext>
            </a:extLst>
          </p:cNvPr>
          <p:cNvSpPr>
            <a:spLocks xmlns:a="http://schemas.openxmlformats.org/drawingml/2006/main" noGrp="1"/>
          </p:cNvSpPr>
          <p:nvPr/>
        </p:nvSpPr>
        <p:spPr>
          <a:xfrm xmlns:a="http://schemas.openxmlformats.org/drawingml/2006/main">
            <a:off x="6581775" y="2790825"/>
            <a:ext cx="4648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The server screens related reporting.</a:t>
            </a:r>
          </a:p>
        </p:txBody>
      </p:sp>
      <p:sp>
        <p:nvSpPr>
          <p:cNvPr id="11" name="">
            <a:extLst xmlns:a="http://schemas.openxmlformats.org/drawingml/2006/main">
              <a:ext uri="{FF2B5EF4-FFF2-40B4-BE49-F238E27FC236}">
                <a16:creationId xmlns:a16="http://schemas.microsoft.com/office/drawing/2014/main" id="{B4B6C307-84D8-4EC2-80C2-EE80BE178C3F}"/>
              </a:ext>
            </a:extLst>
          </p:cNvPr>
          <p:cNvSpPr>
            <a:spLocks xmlns:a="http://schemas.openxmlformats.org/drawingml/2006/main" noGrp="1"/>
          </p:cNvSpPr>
          <p:nvPr/>
        </p:nvSpPr>
        <p:spPr>
          <a:xfrm xmlns:a="http://schemas.openxmlformats.org/drawingml/2006/main">
            <a:off x="1952625" y="3609975"/>
            <a:ext cx="9505950" cy="9525"/>
          </a:xfrm>
          <a:prstGeom xmlns:a="http://schemas.openxmlformats.org/drawingml/2006/main" prst="rect">
            <a:avLst/>
          </a:prstGeom>
          <a:solidFill xmlns:a="http://schemas.openxmlformats.org/drawingml/2006/main">
            <a:srgbClr val="DCE3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3E8F5A6-8D5C-4A3F-A7E4-CE4DDE42F145}"/>
              </a:ext>
            </a:extLst>
          </p:cNvPr>
          <p:cNvSpPr>
            <a:spLocks xmlns:a="http://schemas.openxmlformats.org/drawingml/2006/main" noGrp="1"/>
          </p:cNvSpPr>
          <p:nvPr/>
        </p:nvSpPr>
        <p:spPr>
          <a:xfrm xmlns:a="http://schemas.openxmlformats.org/drawingml/2006/main">
            <a:off x="742950" y="3838575"/>
            <a:ext cx="904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600" b="0">
                <a:solidFill>
                  <a:srgbClr val="98ABA0"/>
                </a:solidFill>
                <a:latin typeface="Georgia"/>
                <a:ea typeface="Georgia"/>
                <a:cs typeface="Georgia"/>
              </a:defRPr>
            </a:defPPr>
          </a:lstStyle>
          <a:p xmlns:a="http://schemas.openxmlformats.org/drawingml/2006/main">
            <a:pPr algn="l">
              <a:defRPr sz="3600" b="0">
                <a:solidFill>
                  <a:srgbClr val="98ABA0"/>
                </a:solidFill>
                <a:latin typeface="Georgia"/>
                <a:ea typeface="Georgia"/>
                <a:cs typeface="Georgia"/>
              </a:defRPr>
            </a:pPr>
            <a:r>
              <a:rPr sz="3600" b="0">
                <a:solidFill>
                  <a:srgbClr val="98ABA0"/>
                </a:solidFill>
                <a:latin typeface="Georgia"/>
                <a:ea typeface="Georgia"/>
                <a:cs typeface="Georgia"/>
              </a:rPr>
              <a:t>03</a:t>
            </a:r>
          </a:p>
        </p:txBody>
      </p:sp>
      <p:sp>
        <p:nvSpPr>
          <p:cNvPr id="13" name="">
            <a:extLst xmlns:a="http://schemas.openxmlformats.org/drawingml/2006/main">
              <a:ext uri="{FF2B5EF4-FFF2-40B4-BE49-F238E27FC236}">
                <a16:creationId xmlns:a16="http://schemas.microsoft.com/office/drawing/2014/main" id="{637485D2-7C38-4F05-85C9-9A611902994E}"/>
              </a:ext>
            </a:extLst>
          </p:cNvPr>
          <p:cNvSpPr>
            <a:spLocks xmlns:a="http://schemas.openxmlformats.org/drawingml/2006/main" noGrp="1"/>
          </p:cNvSpPr>
          <p:nvPr/>
        </p:nvSpPr>
        <p:spPr>
          <a:xfrm xmlns:a="http://schemas.openxmlformats.org/drawingml/2006/main">
            <a:off x="1952625" y="3857625"/>
            <a:ext cx="442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7221F"/>
                </a:solidFill>
                <a:latin typeface="Arial"/>
                <a:ea typeface="Arial"/>
                <a:cs typeface="Arial"/>
              </a:defRPr>
            </a:defPPr>
          </a:lstStyle>
          <a:p xmlns:a="http://schemas.openxmlformats.org/drawingml/2006/main">
            <a:pPr algn="l">
              <a:defRPr sz="2400" b="1">
                <a:solidFill>
                  <a:srgbClr val="17221F"/>
                </a:solidFill>
                <a:latin typeface="Arial"/>
                <a:ea typeface="Arial"/>
                <a:cs typeface="Arial"/>
              </a:defRPr>
            </a:pPr>
            <a:r>
              <a:rPr sz="2400" b="1">
                <a:solidFill>
                  <a:srgbClr val="17221F"/>
                </a:solidFill>
                <a:latin typeface="Arial"/>
                <a:ea typeface="Arial"/>
                <a:cs typeface="Arial"/>
              </a:rPr>
              <a:t>Compare a claim</a:t>
            </a:r>
          </a:p>
        </p:txBody>
      </p:sp>
      <p:sp>
        <p:nvSpPr>
          <p:cNvPr id="14" name="">
            <a:extLst xmlns:a="http://schemas.openxmlformats.org/drawingml/2006/main">
              <a:ext uri="{FF2B5EF4-FFF2-40B4-BE49-F238E27FC236}">
                <a16:creationId xmlns:a16="http://schemas.microsoft.com/office/drawing/2014/main" id="{32F25CD5-3C36-4115-8530-025D397240FD}"/>
              </a:ext>
            </a:extLst>
          </p:cNvPr>
          <p:cNvSpPr>
            <a:spLocks xmlns:a="http://schemas.openxmlformats.org/drawingml/2006/main" noGrp="1"/>
          </p:cNvSpPr>
          <p:nvPr/>
        </p:nvSpPr>
        <p:spPr>
          <a:xfrm xmlns:a="http://schemas.openxmlformats.org/drawingml/2006/main">
            <a:off x="6581775" y="3867150"/>
            <a:ext cx="4648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Each result keeps its source and quoted passage.</a:t>
            </a:r>
          </a:p>
        </p:txBody>
      </p:sp>
      <p:sp>
        <p:nvSpPr>
          <p:cNvPr id="15" name="">
            <a:extLst xmlns:a="http://schemas.openxmlformats.org/drawingml/2006/main">
              <a:ext uri="{FF2B5EF4-FFF2-40B4-BE49-F238E27FC236}">
                <a16:creationId xmlns:a16="http://schemas.microsoft.com/office/drawing/2014/main" id="{3B2FC34F-4657-4C15-8623-78CD0AB93B82}"/>
              </a:ext>
            </a:extLst>
          </p:cNvPr>
          <p:cNvSpPr>
            <a:spLocks xmlns:a="http://schemas.openxmlformats.org/drawingml/2006/main" noGrp="1"/>
          </p:cNvSpPr>
          <p:nvPr/>
        </p:nvSpPr>
        <p:spPr>
          <a:xfrm xmlns:a="http://schemas.openxmlformats.org/drawingml/2006/main">
            <a:off x="1952625" y="4686300"/>
            <a:ext cx="9505950" cy="9525"/>
          </a:xfrm>
          <a:prstGeom xmlns:a="http://schemas.openxmlformats.org/drawingml/2006/main" prst="rect">
            <a:avLst/>
          </a:prstGeom>
          <a:solidFill xmlns:a="http://schemas.openxmlformats.org/drawingml/2006/main">
            <a:srgbClr val="DCE3D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0B18990-F7C7-49F8-AFF9-463A08FCAB49}"/>
              </a:ext>
            </a:extLst>
          </p:cNvPr>
          <p:cNvSpPr>
            <a:spLocks xmlns:a="http://schemas.openxmlformats.org/drawingml/2006/main" noGrp="1"/>
          </p:cNvSpPr>
          <p:nvPr/>
        </p:nvSpPr>
        <p:spPr>
          <a:xfrm xmlns:a="http://schemas.openxmlformats.org/drawingml/2006/main">
            <a:off x="742950" y="4914900"/>
            <a:ext cx="904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600" b="0">
                <a:solidFill>
                  <a:srgbClr val="0D765E"/>
                </a:solidFill>
                <a:latin typeface="Georgia"/>
                <a:ea typeface="Georgia"/>
                <a:cs typeface="Georgia"/>
              </a:defRPr>
            </a:defPPr>
          </a:lstStyle>
          <a:p xmlns:a="http://schemas.openxmlformats.org/drawingml/2006/main">
            <a:pPr algn="l">
              <a:defRPr sz="3600" b="0">
                <a:solidFill>
                  <a:srgbClr val="0D765E"/>
                </a:solidFill>
                <a:latin typeface="Georgia"/>
                <a:ea typeface="Georgia"/>
                <a:cs typeface="Georgia"/>
              </a:defRPr>
            </a:pPr>
            <a:r>
              <a:rPr sz="3600" b="0">
                <a:solidFill>
                  <a:srgbClr val="0D765E"/>
                </a:solidFill>
                <a:latin typeface="Georgia"/>
                <a:ea typeface="Georgia"/>
                <a:cs typeface="Georgia"/>
              </a:rPr>
              <a:t>04</a:t>
            </a:r>
          </a:p>
        </p:txBody>
      </p:sp>
      <p:sp>
        <p:nvSpPr>
          <p:cNvPr id="17" name="">
            <a:extLst xmlns:a="http://schemas.openxmlformats.org/drawingml/2006/main">
              <a:ext uri="{FF2B5EF4-FFF2-40B4-BE49-F238E27FC236}">
                <a16:creationId xmlns:a16="http://schemas.microsoft.com/office/drawing/2014/main" id="{F66598CB-8044-4521-B512-C9910908BB29}"/>
              </a:ext>
            </a:extLst>
          </p:cNvPr>
          <p:cNvSpPr>
            <a:spLocks xmlns:a="http://schemas.openxmlformats.org/drawingml/2006/main" noGrp="1"/>
          </p:cNvSpPr>
          <p:nvPr/>
        </p:nvSpPr>
        <p:spPr>
          <a:xfrm xmlns:a="http://schemas.openxmlformats.org/drawingml/2006/main">
            <a:off x="1952625" y="4933950"/>
            <a:ext cx="442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7221F"/>
                </a:solidFill>
                <a:latin typeface="Arial"/>
                <a:ea typeface="Arial"/>
                <a:cs typeface="Arial"/>
              </a:defRPr>
            </a:defPPr>
          </a:lstStyle>
          <a:p xmlns:a="http://schemas.openxmlformats.org/drawingml/2006/main">
            <a:pPr algn="l">
              <a:defRPr sz="2400" b="1">
                <a:solidFill>
                  <a:srgbClr val="17221F"/>
                </a:solidFill>
                <a:latin typeface="Arial"/>
                <a:ea typeface="Arial"/>
                <a:cs typeface="Arial"/>
              </a:defRPr>
            </a:pPr>
            <a:r>
              <a:rPr sz="2400" b="1">
                <a:solidFill>
                  <a:srgbClr val="17221F"/>
                </a:solidFill>
                <a:latin typeface="Arial"/>
                <a:ea typeface="Arial"/>
                <a:cs typeface="Arial"/>
              </a:rPr>
              <a:t>Open the source</a:t>
            </a:r>
          </a:p>
        </p:txBody>
      </p:sp>
      <p:sp>
        <p:nvSpPr>
          <p:cNvPr id="18" name="">
            <a:extLst xmlns:a="http://schemas.openxmlformats.org/drawingml/2006/main">
              <a:ext uri="{FF2B5EF4-FFF2-40B4-BE49-F238E27FC236}">
                <a16:creationId xmlns:a16="http://schemas.microsoft.com/office/drawing/2014/main" id="{2E50E5AA-C281-43B5-BD6E-4CD21B7E30EB}"/>
              </a:ext>
            </a:extLst>
          </p:cNvPr>
          <p:cNvSpPr>
            <a:spLocks xmlns:a="http://schemas.openxmlformats.org/drawingml/2006/main" noGrp="1"/>
          </p:cNvSpPr>
          <p:nvPr/>
        </p:nvSpPr>
        <p:spPr>
          <a:xfrm xmlns:a="http://schemas.openxmlformats.org/drawingml/2006/main">
            <a:off x="6581775" y="4943475"/>
            <a:ext cx="4648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The reader checks the original page.</a:t>
            </a:r>
          </a:p>
        </p:txBody>
      </p:sp>
    </p:spTree>
    <p:extLst>
      <p:ext uri="{BB962C8B-B14F-4D97-AF65-F5344CB8AC3E}">
        <p14:creationId xmlns:p14="http://schemas.microsoft.com/office/powerpoint/2010/main" val="1366648011"/>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FEFA2F0-206D-419D-85E0-12258D4BED31}"/>
              </a:ext>
            </a:extLst>
          </p:cNvPr>
          <p:cNvSpPr>
            <a:spLocks xmlns:a="http://schemas.openxmlformats.org/drawingml/2006/main" noGrp="1"/>
          </p:cNvSpPr>
          <p:nvPr/>
        </p:nvSpPr>
        <p:spPr>
          <a:xfrm xmlns:a="http://schemas.openxmlformats.org/drawingml/2006/main">
            <a:off x="685800" y="552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17221F"/>
                </a:solidFill>
                <a:latin typeface="Georgia"/>
                <a:ea typeface="Georgia"/>
                <a:cs typeface="Georgia"/>
              </a:defRPr>
            </a:defPPr>
          </a:lstStyle>
          <a:p xmlns:a="http://schemas.openxmlformats.org/drawingml/2006/main">
            <a:pPr algn="l">
              <a:defRPr sz="3525" b="0">
                <a:solidFill>
                  <a:srgbClr val="17221F"/>
                </a:solidFill>
                <a:latin typeface="Georgia"/>
                <a:ea typeface="Georgia"/>
                <a:cs typeface="Georgia"/>
              </a:defRPr>
            </a:pPr>
            <a:r>
              <a:rPr sz="3525" b="0">
                <a:solidFill>
                  <a:srgbClr val="17221F"/>
                </a:solidFill>
                <a:latin typeface="Georgia"/>
                <a:ea typeface="Georgia"/>
                <a:cs typeface="Georgia"/>
              </a:rPr>
              <a:t>Iteration 1 baseline</a:t>
            </a:r>
          </a:p>
        </p:txBody>
      </p:sp>
      <p:sp>
        <p:nvSpPr>
          <p:cNvPr id="2" name="">
            <a:extLst xmlns:a="http://schemas.openxmlformats.org/drawingml/2006/main">
              <a:ext uri="{FF2B5EF4-FFF2-40B4-BE49-F238E27FC236}">
                <a16:creationId xmlns:a16="http://schemas.microsoft.com/office/drawing/2014/main" id="{964AA127-1FDF-4A8B-A326-CBDA832E2B15}"/>
              </a:ext>
            </a:extLst>
          </p:cNvPr>
          <p:cNvSpPr>
            <a:spLocks xmlns:a="http://schemas.openxmlformats.org/drawingml/2006/main" noGrp="1"/>
          </p:cNvSpPr>
          <p:nvPr/>
        </p:nvSpPr>
        <p:spPr>
          <a:xfrm xmlns:a="http://schemas.openxmlformats.org/drawingml/2006/main">
            <a:off x="704850" y="1381125"/>
            <a:ext cx="107727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5C9A25-8D1E-4181-A4DF-8491AD6E3F12}"/>
              </a:ext>
            </a:extLst>
          </p:cNvPr>
          <p:cNvSpPr>
            <a:spLocks xmlns:a="http://schemas.openxmlformats.org/drawingml/2006/main" noGrp="1"/>
          </p:cNvSpPr>
          <p:nvPr/>
        </p:nvSpPr>
        <p:spPr>
          <a:xfrm xmlns:a="http://schemas.openxmlformats.org/drawingml/2006/main">
            <a:off x="11125200" y="6267450"/>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52605B"/>
                </a:solidFill>
                <a:latin typeface="Arial"/>
                <a:ea typeface="Arial"/>
                <a:cs typeface="Arial"/>
              </a:defRPr>
            </a:defPPr>
          </a:lstStyle>
          <a:p xmlns:a="http://schemas.openxmlformats.org/drawingml/2006/main">
            <a:pPr algn="r">
              <a:defRPr sz="1350" b="0">
                <a:solidFill>
                  <a:srgbClr val="52605B"/>
                </a:solidFill>
                <a:latin typeface="Arial"/>
                <a:ea typeface="Arial"/>
                <a:cs typeface="Arial"/>
              </a:defRPr>
            </a:pPr>
            <a:r>
              <a:rPr sz="1350" b="0">
                <a:solidFill>
                  <a:srgbClr val="52605B"/>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4AE929D6-CCFC-435C-8A85-804DAAFCAF7F}"/>
              </a:ext>
            </a:extLst>
          </p:cNvPr>
          <p:cNvSpPr>
            <a:spLocks xmlns:a="http://schemas.openxmlformats.org/drawingml/2006/main" noGrp="1"/>
          </p:cNvSpPr>
          <p:nvPr/>
        </p:nvSpPr>
        <p:spPr>
          <a:xfrm xmlns:a="http://schemas.openxmlformats.org/drawingml/2006/main">
            <a:off x="733425" y="1733550"/>
            <a:ext cx="457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0">
                <a:solidFill>
                  <a:srgbClr val="0D765E"/>
                </a:solidFill>
                <a:latin typeface="Georgia"/>
                <a:ea typeface="Georgia"/>
                <a:cs typeface="Georgia"/>
              </a:defRPr>
            </a:defPPr>
          </a:lstStyle>
          <a:p xmlns:a="http://schemas.openxmlformats.org/drawingml/2006/main">
            <a:pPr algn="l">
              <a:defRPr sz="2700" b="0">
                <a:solidFill>
                  <a:srgbClr val="0D765E"/>
                </a:solidFill>
                <a:latin typeface="Georgia"/>
                <a:ea typeface="Georgia"/>
                <a:cs typeface="Georgia"/>
              </a:defRPr>
            </a:pPr>
            <a:r>
              <a:rPr sz="2700" b="0">
                <a:solidFill>
                  <a:srgbClr val="0D765E"/>
                </a:solidFill>
                <a:latin typeface="Georgia"/>
                <a:ea typeface="Georgia"/>
                <a:cs typeface="Georgia"/>
              </a:rPr>
              <a:t>Working</a:t>
            </a:r>
          </a:p>
        </p:txBody>
      </p:sp>
      <p:sp>
        <p:nvSpPr>
          <p:cNvPr id="5" name="">
            <a:extLst xmlns:a="http://schemas.openxmlformats.org/drawingml/2006/main">
              <a:ext uri="{FF2B5EF4-FFF2-40B4-BE49-F238E27FC236}">
                <a16:creationId xmlns:a16="http://schemas.microsoft.com/office/drawing/2014/main" id="{638231AD-3E8C-4E37-877B-DDD0A47744E7}"/>
              </a:ext>
            </a:extLst>
          </p:cNvPr>
          <p:cNvSpPr>
            <a:spLocks xmlns:a="http://schemas.openxmlformats.org/drawingml/2006/main" noGrp="1"/>
          </p:cNvSpPr>
          <p:nvPr/>
        </p:nvSpPr>
        <p:spPr>
          <a:xfrm xmlns:a="http://schemas.openxmlformats.org/drawingml/2006/main">
            <a:off x="752475" y="2476500"/>
            <a:ext cx="468630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17221F"/>
                </a:solidFill>
                <a:latin typeface="Arial"/>
                <a:ea typeface="Arial"/>
                <a:cs typeface="Arial"/>
              </a:defRPr>
            </a:defPPr>
          </a:lstStyle>
          <a:p xmlns:a="http://schemas.openxmlformats.org/drawingml/2006/main">
            <a:pPr algn="l">
              <a:defRPr sz="2175" b="0">
                <a:solidFill>
                  <a:srgbClr val="17221F"/>
                </a:solidFill>
                <a:latin typeface="Arial"/>
                <a:ea typeface="Arial"/>
                <a:cs typeface="Arial"/>
              </a:defRPr>
            </a:pPr>
            <a:r>
              <a:rPr sz="2175" b="0">
                <a:solidFill>
                  <a:srgbClr val="17221F"/>
                </a:solidFill>
                <a:latin typeface="Arial"/>
                <a:ea typeface="Arial"/>
                <a:cs typeface="Arial"/>
              </a:rPr>
              <a:t>Article URL input</a:t>
            </a:r>
          </a:p>
          <a:p xmlns:a="http://schemas.openxmlformats.org/drawingml/2006/main">
            <a:pPr algn="l">
              <a:defRPr sz="2175" b="0">
                <a:solidFill>
                  <a:srgbClr val="17221F"/>
                </a:solidFill>
                <a:latin typeface="Arial"/>
                <a:ea typeface="Arial"/>
                <a:cs typeface="Arial"/>
              </a:defRPr>
            </a:pPr>
            <a:r>
              <a:rPr sz="2175" b="0">
                <a:solidFill>
                  <a:srgbClr val="17221F"/>
                </a:solidFill>
                <a:latin typeface="Arial"/>
                <a:ea typeface="Arial"/>
                <a:cs typeface="Arial"/>
              </a:rPr>
              <a:t>Same-event retrieval</a:t>
            </a:r>
          </a:p>
          <a:p xmlns:a="http://schemas.openxmlformats.org/drawingml/2006/main">
            <a:pPr algn="l">
              <a:defRPr sz="2175" b="0">
                <a:solidFill>
                  <a:srgbClr val="17221F"/>
                </a:solidFill>
                <a:latin typeface="Arial"/>
                <a:ea typeface="Arial"/>
                <a:cs typeface="Arial"/>
              </a:defRPr>
            </a:pPr>
            <a:r>
              <a:rPr sz="2175" b="0">
                <a:solidFill>
                  <a:srgbClr val="17221F"/>
                </a:solidFill>
                <a:latin typeface="Arial"/>
                <a:ea typeface="Arial"/>
                <a:cs typeface="Arial"/>
              </a:rPr>
              <a:t>Linked claim comparisons</a:t>
            </a:r>
          </a:p>
          <a:p xmlns:a="http://schemas.openxmlformats.org/drawingml/2006/main">
            <a:pPr algn="l">
              <a:defRPr sz="2175" b="0">
                <a:solidFill>
                  <a:srgbClr val="17221F"/>
                </a:solidFill>
                <a:latin typeface="Arial"/>
                <a:ea typeface="Arial"/>
                <a:cs typeface="Arial"/>
              </a:defRPr>
            </a:pPr>
            <a:r>
              <a:rPr sz="2175" b="0">
                <a:solidFill>
                  <a:srgbClr val="17221F"/>
                </a:solidFill>
                <a:latin typeface="Arial"/>
                <a:ea typeface="Arial"/>
                <a:cs typeface="Arial"/>
              </a:rPr>
              <a:t>Iteration 1 API</a:t>
            </a:r>
          </a:p>
        </p:txBody>
      </p:sp>
      <p:sp>
        <p:nvSpPr>
          <p:cNvPr id="6" name="">
            <a:extLst xmlns:a="http://schemas.openxmlformats.org/drawingml/2006/main">
              <a:ext uri="{FF2B5EF4-FFF2-40B4-BE49-F238E27FC236}">
                <a16:creationId xmlns:a16="http://schemas.microsoft.com/office/drawing/2014/main" id="{0CA5F178-5C75-4754-A83B-685505E9B06C}"/>
              </a:ext>
            </a:extLst>
          </p:cNvPr>
          <p:cNvSpPr>
            <a:spLocks xmlns:a="http://schemas.openxmlformats.org/drawingml/2006/main" noGrp="1"/>
          </p:cNvSpPr>
          <p:nvPr/>
        </p:nvSpPr>
        <p:spPr>
          <a:xfrm xmlns:a="http://schemas.openxmlformats.org/drawingml/2006/main">
            <a:off x="5962650" y="1704975"/>
            <a:ext cx="19050" cy="369570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6E39CD3-08B3-4AA3-9C23-93302E9915BD}"/>
              </a:ext>
            </a:extLst>
          </p:cNvPr>
          <p:cNvSpPr>
            <a:spLocks xmlns:a="http://schemas.openxmlformats.org/drawingml/2006/main" noGrp="1"/>
          </p:cNvSpPr>
          <p:nvPr/>
        </p:nvSpPr>
        <p:spPr>
          <a:xfrm xmlns:a="http://schemas.openxmlformats.org/drawingml/2006/main">
            <a:off x="6505575" y="1733550"/>
            <a:ext cx="466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0">
                <a:solidFill>
                  <a:srgbClr val="AD5136"/>
                </a:solidFill>
                <a:latin typeface="Georgia"/>
                <a:ea typeface="Georgia"/>
                <a:cs typeface="Georgia"/>
              </a:defRPr>
            </a:defPPr>
          </a:lstStyle>
          <a:p xmlns:a="http://schemas.openxmlformats.org/drawingml/2006/main">
            <a:pPr algn="l">
              <a:defRPr sz="2700" b="0">
                <a:solidFill>
                  <a:srgbClr val="AD5136"/>
                </a:solidFill>
                <a:latin typeface="Georgia"/>
                <a:ea typeface="Georgia"/>
                <a:cs typeface="Georgia"/>
              </a:defRPr>
            </a:pPr>
            <a:r>
              <a:rPr sz="2700" b="0">
                <a:solidFill>
                  <a:srgbClr val="AD5136"/>
                </a:solidFill>
                <a:latin typeface="Georgia"/>
                <a:ea typeface="Georgia"/>
                <a:cs typeface="Georgia"/>
              </a:rPr>
              <a:t>Unclear</a:t>
            </a:r>
          </a:p>
        </p:txBody>
      </p:sp>
      <p:sp>
        <p:nvSpPr>
          <p:cNvPr id="8" name="">
            <a:extLst xmlns:a="http://schemas.openxmlformats.org/drawingml/2006/main">
              <a:ext uri="{FF2B5EF4-FFF2-40B4-BE49-F238E27FC236}">
                <a16:creationId xmlns:a16="http://schemas.microsoft.com/office/drawing/2014/main" id="{D8EE7607-3E97-419F-BD30-8C7FF1B4EB90}"/>
              </a:ext>
            </a:extLst>
          </p:cNvPr>
          <p:cNvSpPr>
            <a:spLocks xmlns:a="http://schemas.openxmlformats.org/drawingml/2006/main" noGrp="1"/>
          </p:cNvSpPr>
          <p:nvPr/>
        </p:nvSpPr>
        <p:spPr>
          <a:xfrm xmlns:a="http://schemas.openxmlformats.org/drawingml/2006/main">
            <a:off x="6515100" y="2476500"/>
            <a:ext cx="4695825"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17221F"/>
                </a:solidFill>
                <a:latin typeface="Arial"/>
                <a:ea typeface="Arial"/>
                <a:cs typeface="Arial"/>
              </a:defRPr>
            </a:defPPr>
          </a:lstStyle>
          <a:p xmlns:a="http://schemas.openxmlformats.org/drawingml/2006/main">
            <a:pPr algn="l">
              <a:defRPr sz="2175" b="0">
                <a:solidFill>
                  <a:srgbClr val="17221F"/>
                </a:solidFill>
                <a:latin typeface="Arial"/>
                <a:ea typeface="Arial"/>
                <a:cs typeface="Arial"/>
              </a:defRPr>
            </a:pPr>
            <a:r>
              <a:rPr sz="2175" b="0">
                <a:solidFill>
                  <a:srgbClr val="17221F"/>
                </a:solidFill>
                <a:latin typeface="Arial"/>
                <a:ea typeface="Arial"/>
                <a:cs typeface="Arial"/>
              </a:rPr>
              <a:t>Claims found only in other articles</a:t>
            </a:r>
          </a:p>
          <a:p xmlns:a="http://schemas.openxmlformats.org/drawingml/2006/main">
            <a:pPr algn="l">
              <a:defRPr sz="2175" b="0">
                <a:solidFill>
                  <a:srgbClr val="17221F"/>
                </a:solidFill>
                <a:latin typeface="Arial"/>
                <a:ea typeface="Arial"/>
                <a:cs typeface="Arial"/>
              </a:defRPr>
            </a:pPr>
            <a:r>
              <a:rPr sz="2175" b="0">
                <a:solidFill>
                  <a:srgbClr val="17221F"/>
                </a:solidFill>
                <a:latin typeface="Arial"/>
                <a:ea typeface="Arial"/>
                <a:cs typeface="Arial"/>
              </a:rPr>
              <a:t>Silence versus failed extraction</a:t>
            </a:r>
          </a:p>
          <a:p xmlns:a="http://schemas.openxmlformats.org/drawingml/2006/main">
            <a:pPr algn="l">
              <a:defRPr sz="2175" b="0">
                <a:solidFill>
                  <a:srgbClr val="17221F"/>
                </a:solidFill>
                <a:latin typeface="Arial"/>
                <a:ea typeface="Arial"/>
                <a:cs typeface="Arial"/>
              </a:defRPr>
            </a:pPr>
            <a:r>
              <a:rPr sz="2175" b="0">
                <a:solidFill>
                  <a:srgbClr val="17221F"/>
                </a:solidFill>
                <a:latin typeface="Arial"/>
                <a:ea typeface="Arial"/>
                <a:cs typeface="Arial"/>
              </a:rPr>
              <a:t>Too little coverage for a comparison</a:t>
            </a:r>
          </a:p>
        </p:txBody>
      </p:sp>
      <p:sp>
        <p:nvSpPr>
          <p:cNvPr id="9" name="">
            <a:extLst xmlns:a="http://schemas.openxmlformats.org/drawingml/2006/main">
              <a:ext uri="{FF2B5EF4-FFF2-40B4-BE49-F238E27FC236}">
                <a16:creationId xmlns:a16="http://schemas.microsoft.com/office/drawing/2014/main" id="{7626A133-A975-4339-A7D0-D07FCAB9FA11}"/>
              </a:ext>
            </a:extLst>
          </p:cNvPr>
          <p:cNvSpPr>
            <a:spLocks xmlns:a="http://schemas.openxmlformats.org/drawingml/2006/main" noGrp="1"/>
          </p:cNvSpPr>
          <p:nvPr/>
        </p:nvSpPr>
        <p:spPr>
          <a:xfrm xmlns:a="http://schemas.openxmlformats.org/drawingml/2006/main">
            <a:off x="742950" y="5772150"/>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05B"/>
                </a:solidFill>
                <a:latin typeface="Arial"/>
                <a:ea typeface="Arial"/>
                <a:cs typeface="Arial"/>
              </a:defRPr>
            </a:defPPr>
          </a:lstStyle>
          <a:p xmlns:a="http://schemas.openxmlformats.org/drawingml/2006/main">
            <a:pPr algn="l">
              <a:defRPr sz="1875" b="0">
                <a:solidFill>
                  <a:srgbClr val="52605B"/>
                </a:solidFill>
                <a:latin typeface="Arial"/>
                <a:ea typeface="Arial"/>
                <a:cs typeface="Arial"/>
              </a:defRPr>
            </a:pPr>
            <a:r>
              <a:rPr sz="1875" b="0">
                <a:solidFill>
                  <a:srgbClr val="52605B"/>
                </a:solidFill>
                <a:latin typeface="Arial"/>
                <a:ea typeface="Arial"/>
                <a:cs typeface="Arial"/>
              </a:rPr>
              <a:t>The first pipeline gave us a baseline for a more explicit rubric.</a:t>
            </a:r>
          </a:p>
        </p:txBody>
      </p:sp>
    </p:spTree>
    <p:extLst>
      <p:ext uri="{BB962C8B-B14F-4D97-AF65-F5344CB8AC3E}">
        <p14:creationId xmlns:p14="http://schemas.microsoft.com/office/powerpoint/2010/main" val="987148200"/>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754B748-BE29-472D-B040-E6AE8A498F85}"/>
              </a:ext>
            </a:extLst>
          </p:cNvPr>
          <p:cNvSpPr>
            <a:spLocks xmlns:a="http://schemas.openxmlformats.org/drawingml/2006/main" noGrp="1"/>
          </p:cNvSpPr>
          <p:nvPr/>
        </p:nvSpPr>
        <p:spPr>
          <a:xfrm xmlns:a="http://schemas.openxmlformats.org/drawingml/2006/main">
            <a:off x="685800" y="552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17221F"/>
                </a:solidFill>
                <a:latin typeface="Georgia"/>
                <a:ea typeface="Georgia"/>
                <a:cs typeface="Georgia"/>
              </a:defRPr>
            </a:defPPr>
          </a:lstStyle>
          <a:p xmlns:a="http://schemas.openxmlformats.org/drawingml/2006/main">
            <a:pPr algn="l">
              <a:defRPr sz="3525" b="0">
                <a:solidFill>
                  <a:srgbClr val="17221F"/>
                </a:solidFill>
                <a:latin typeface="Georgia"/>
                <a:ea typeface="Georgia"/>
                <a:cs typeface="Georgia"/>
              </a:defRPr>
            </a:pPr>
            <a:r>
              <a:rPr sz="3525" b="0">
                <a:solidFill>
                  <a:srgbClr val="17221F"/>
                </a:solidFill>
                <a:latin typeface="Georgia"/>
                <a:ea typeface="Georgia"/>
                <a:cs typeface="Georgia"/>
              </a:rPr>
              <a:t>Two kinds of comparison</a:t>
            </a:r>
          </a:p>
        </p:txBody>
      </p:sp>
      <p:sp>
        <p:nvSpPr>
          <p:cNvPr id="2" name="">
            <a:extLst xmlns:a="http://schemas.openxmlformats.org/drawingml/2006/main">
              <a:ext uri="{FF2B5EF4-FFF2-40B4-BE49-F238E27FC236}">
                <a16:creationId xmlns:a16="http://schemas.microsoft.com/office/drawing/2014/main" id="{79FC0DD3-A3B8-4706-9374-D1174E82D553}"/>
              </a:ext>
            </a:extLst>
          </p:cNvPr>
          <p:cNvSpPr>
            <a:spLocks xmlns:a="http://schemas.openxmlformats.org/drawingml/2006/main" noGrp="1"/>
          </p:cNvSpPr>
          <p:nvPr/>
        </p:nvSpPr>
        <p:spPr>
          <a:xfrm xmlns:a="http://schemas.openxmlformats.org/drawingml/2006/main">
            <a:off x="704850" y="1381125"/>
            <a:ext cx="107727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17ACC05-4ACD-4389-B38E-85E57246DB36}"/>
              </a:ext>
            </a:extLst>
          </p:cNvPr>
          <p:cNvSpPr>
            <a:spLocks xmlns:a="http://schemas.openxmlformats.org/drawingml/2006/main" noGrp="1"/>
          </p:cNvSpPr>
          <p:nvPr/>
        </p:nvSpPr>
        <p:spPr>
          <a:xfrm xmlns:a="http://schemas.openxmlformats.org/drawingml/2006/main">
            <a:off x="11125200" y="6267450"/>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52605B"/>
                </a:solidFill>
                <a:latin typeface="Arial"/>
                <a:ea typeface="Arial"/>
                <a:cs typeface="Arial"/>
              </a:defRPr>
            </a:defPPr>
          </a:lstStyle>
          <a:p xmlns:a="http://schemas.openxmlformats.org/drawingml/2006/main">
            <a:pPr algn="r">
              <a:defRPr sz="1350" b="0">
                <a:solidFill>
                  <a:srgbClr val="52605B"/>
                </a:solidFill>
                <a:latin typeface="Arial"/>
                <a:ea typeface="Arial"/>
                <a:cs typeface="Arial"/>
              </a:defRPr>
            </a:pPr>
            <a:r>
              <a:rPr sz="1350" b="0">
                <a:solidFill>
                  <a:srgbClr val="52605B"/>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BE55C568-87FA-4B1D-939F-5581FFE0EE01}"/>
              </a:ext>
            </a:extLst>
          </p:cNvPr>
          <p:cNvSpPr>
            <a:spLocks xmlns:a="http://schemas.openxmlformats.org/drawingml/2006/main" noGrp="1"/>
          </p:cNvSpPr>
          <p:nvPr/>
        </p:nvSpPr>
        <p:spPr>
          <a:xfrm xmlns:a="http://schemas.openxmlformats.org/drawingml/2006/main">
            <a:off x="742950" y="1819275"/>
            <a:ext cx="4686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5550" b="0">
                <a:solidFill>
                  <a:srgbClr val="0D765E"/>
                </a:solidFill>
                <a:latin typeface="Georgia"/>
                <a:ea typeface="Georgia"/>
                <a:cs typeface="Georgia"/>
              </a:defRPr>
            </a:defPPr>
          </a:lstStyle>
          <a:p xmlns:a="http://schemas.openxmlformats.org/drawingml/2006/main">
            <a:pPr algn="l">
              <a:defRPr sz="5550" b="0">
                <a:solidFill>
                  <a:srgbClr val="0D765E"/>
                </a:solidFill>
                <a:latin typeface="Georgia"/>
                <a:ea typeface="Georgia"/>
                <a:cs typeface="Georgia"/>
              </a:defRPr>
            </a:pPr>
            <a:r>
              <a:rPr sz="5550" b="0">
                <a:solidFill>
                  <a:srgbClr val="0D765E"/>
                </a:solidFill>
                <a:latin typeface="Georgia"/>
                <a:ea typeface="Georgia"/>
                <a:cs typeface="Georgia"/>
              </a:rPr>
              <a:t>I1–I5</a:t>
            </a:r>
          </a:p>
        </p:txBody>
      </p:sp>
      <p:sp>
        <p:nvSpPr>
          <p:cNvPr id="5" name="">
            <a:extLst xmlns:a="http://schemas.openxmlformats.org/drawingml/2006/main">
              <a:ext uri="{FF2B5EF4-FFF2-40B4-BE49-F238E27FC236}">
                <a16:creationId xmlns:a16="http://schemas.microsoft.com/office/drawing/2014/main" id="{D5E2E1A5-D918-4CF5-A46E-816D8A1370CD}"/>
              </a:ext>
            </a:extLst>
          </p:cNvPr>
          <p:cNvSpPr>
            <a:spLocks xmlns:a="http://schemas.openxmlformats.org/drawingml/2006/main" noGrp="1"/>
          </p:cNvSpPr>
          <p:nvPr/>
        </p:nvSpPr>
        <p:spPr>
          <a:xfrm xmlns:a="http://schemas.openxmlformats.org/drawingml/2006/main">
            <a:off x="742950" y="2895600"/>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7221F"/>
                </a:solidFill>
                <a:latin typeface="Arial"/>
                <a:ea typeface="Arial"/>
                <a:cs typeface="Arial"/>
              </a:defRPr>
            </a:defPPr>
          </a:lstStyle>
          <a:p xmlns:a="http://schemas.openxmlformats.org/drawingml/2006/main">
            <a:pPr algn="l">
              <a:defRPr sz="2550" b="1">
                <a:solidFill>
                  <a:srgbClr val="17221F"/>
                </a:solidFill>
                <a:latin typeface="Arial"/>
                <a:ea typeface="Arial"/>
                <a:cs typeface="Arial"/>
              </a:defRPr>
            </a:pPr>
            <a:r>
              <a:rPr sz="2550" b="1">
                <a:solidFill>
                  <a:srgbClr val="17221F"/>
                </a:solidFill>
                <a:latin typeface="Arial"/>
                <a:ea typeface="Arial"/>
                <a:cs typeface="Arial"/>
              </a:rPr>
              <a:t>Information</a:t>
            </a:r>
          </a:p>
        </p:txBody>
      </p:sp>
      <p:sp>
        <p:nvSpPr>
          <p:cNvPr id="6" name="">
            <a:extLst xmlns:a="http://schemas.openxmlformats.org/drawingml/2006/main">
              <a:ext uri="{FF2B5EF4-FFF2-40B4-BE49-F238E27FC236}">
                <a16:creationId xmlns:a16="http://schemas.microsoft.com/office/drawing/2014/main" id="{F96A53F4-F344-48E8-AF6B-12930615E5CC}"/>
              </a:ext>
            </a:extLst>
          </p:cNvPr>
          <p:cNvSpPr>
            <a:spLocks xmlns:a="http://schemas.openxmlformats.org/drawingml/2006/main" noGrp="1"/>
          </p:cNvSpPr>
          <p:nvPr/>
        </p:nvSpPr>
        <p:spPr>
          <a:xfrm xmlns:a="http://schemas.openxmlformats.org/drawingml/2006/main">
            <a:off x="752475" y="3609975"/>
            <a:ext cx="4676775"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17221F"/>
                </a:solidFill>
                <a:latin typeface="Arial"/>
                <a:ea typeface="Arial"/>
                <a:cs typeface="Arial"/>
              </a:defRPr>
            </a:defPPr>
          </a:lstStyle>
          <a:p xmlns:a="http://schemas.openxmlformats.org/drawingml/2006/main">
            <a:pPr algn="l">
              <a:defRPr sz="2175" b="0">
                <a:solidFill>
                  <a:srgbClr val="17221F"/>
                </a:solidFill>
                <a:latin typeface="Arial"/>
                <a:ea typeface="Arial"/>
                <a:cs typeface="Arial"/>
              </a:defRPr>
            </a:pPr>
            <a:r>
              <a:rPr sz="2175" b="0">
                <a:solidFill>
                  <a:srgbClr val="17221F"/>
                </a:solidFill>
                <a:latin typeface="Arial"/>
                <a:ea typeface="Arial"/>
                <a:cs typeface="Arial"/>
              </a:rPr>
              <a:t>Which claim appears? Where? Who is quoted? What context or outlook is added?</a:t>
            </a:r>
          </a:p>
        </p:txBody>
      </p:sp>
      <p:sp>
        <p:nvSpPr>
          <p:cNvPr id="7" name="">
            <a:extLst xmlns:a="http://schemas.openxmlformats.org/drawingml/2006/main">
              <a:ext uri="{FF2B5EF4-FFF2-40B4-BE49-F238E27FC236}">
                <a16:creationId xmlns:a16="http://schemas.microsoft.com/office/drawing/2014/main" id="{10A79FC2-7CCC-45EF-AD6E-9C9C46174D99}"/>
              </a:ext>
            </a:extLst>
          </p:cNvPr>
          <p:cNvSpPr>
            <a:spLocks xmlns:a="http://schemas.openxmlformats.org/drawingml/2006/main" noGrp="1"/>
          </p:cNvSpPr>
          <p:nvPr/>
        </p:nvSpPr>
        <p:spPr>
          <a:xfrm xmlns:a="http://schemas.openxmlformats.org/drawingml/2006/main">
            <a:off x="5943600" y="1809750"/>
            <a:ext cx="19050" cy="3571875"/>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96903B6-E38D-4756-9401-9A331B6AD28C}"/>
              </a:ext>
            </a:extLst>
          </p:cNvPr>
          <p:cNvSpPr>
            <a:spLocks xmlns:a="http://schemas.openxmlformats.org/drawingml/2006/main" noGrp="1"/>
          </p:cNvSpPr>
          <p:nvPr/>
        </p:nvSpPr>
        <p:spPr>
          <a:xfrm xmlns:a="http://schemas.openxmlformats.org/drawingml/2006/main">
            <a:off x="6477000" y="1819275"/>
            <a:ext cx="46005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5550" b="0">
                <a:solidFill>
                  <a:srgbClr val="AD5136"/>
                </a:solidFill>
                <a:latin typeface="Georgia"/>
                <a:ea typeface="Georgia"/>
                <a:cs typeface="Georgia"/>
              </a:defRPr>
            </a:defPPr>
          </a:lstStyle>
          <a:p xmlns:a="http://schemas.openxmlformats.org/drawingml/2006/main">
            <a:pPr algn="l">
              <a:defRPr sz="5550" b="0">
                <a:solidFill>
                  <a:srgbClr val="AD5136"/>
                </a:solidFill>
                <a:latin typeface="Georgia"/>
                <a:ea typeface="Georgia"/>
                <a:cs typeface="Georgia"/>
              </a:defRPr>
            </a:pPr>
            <a:r>
              <a:rPr sz="5550" b="0">
                <a:solidFill>
                  <a:srgbClr val="AD5136"/>
                </a:solidFill>
                <a:latin typeface="Georgia"/>
                <a:ea typeface="Georgia"/>
                <a:cs typeface="Georgia"/>
              </a:rPr>
              <a:t>A–G</a:t>
            </a:r>
          </a:p>
        </p:txBody>
      </p:sp>
      <p:sp>
        <p:nvSpPr>
          <p:cNvPr id="9" name="">
            <a:extLst xmlns:a="http://schemas.openxmlformats.org/drawingml/2006/main">
              <a:ext uri="{FF2B5EF4-FFF2-40B4-BE49-F238E27FC236}">
                <a16:creationId xmlns:a16="http://schemas.microsoft.com/office/drawing/2014/main" id="{6D893B35-88D8-4818-9D8F-067089B8EDB5}"/>
              </a:ext>
            </a:extLst>
          </p:cNvPr>
          <p:cNvSpPr>
            <a:spLocks xmlns:a="http://schemas.openxmlformats.org/drawingml/2006/main" noGrp="1"/>
          </p:cNvSpPr>
          <p:nvPr/>
        </p:nvSpPr>
        <p:spPr>
          <a:xfrm xmlns:a="http://schemas.openxmlformats.org/drawingml/2006/main">
            <a:off x="6486525" y="2895600"/>
            <a:ext cx="4429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7221F"/>
                </a:solidFill>
                <a:latin typeface="Arial"/>
                <a:ea typeface="Arial"/>
                <a:cs typeface="Arial"/>
              </a:defRPr>
            </a:defPPr>
          </a:lstStyle>
          <a:p xmlns:a="http://schemas.openxmlformats.org/drawingml/2006/main">
            <a:pPr algn="l">
              <a:defRPr sz="2550" b="1">
                <a:solidFill>
                  <a:srgbClr val="17221F"/>
                </a:solidFill>
                <a:latin typeface="Arial"/>
                <a:ea typeface="Arial"/>
                <a:cs typeface="Arial"/>
              </a:defRPr>
            </a:pPr>
            <a:r>
              <a:rPr sz="2550" b="1">
                <a:solidFill>
                  <a:srgbClr val="17221F"/>
                </a:solidFill>
                <a:latin typeface="Arial"/>
                <a:ea typeface="Arial"/>
                <a:cs typeface="Arial"/>
              </a:rPr>
              <a:t>Expression</a:t>
            </a:r>
          </a:p>
        </p:txBody>
      </p:sp>
      <p:sp>
        <p:nvSpPr>
          <p:cNvPr id="10" name="">
            <a:extLst xmlns:a="http://schemas.openxmlformats.org/drawingml/2006/main">
              <a:ext uri="{FF2B5EF4-FFF2-40B4-BE49-F238E27FC236}">
                <a16:creationId xmlns:a16="http://schemas.microsoft.com/office/drawing/2014/main" id="{8EF564F2-63F5-45E6-9288-C40C5FB45EF9}"/>
              </a:ext>
            </a:extLst>
          </p:cNvPr>
          <p:cNvSpPr>
            <a:spLocks xmlns:a="http://schemas.openxmlformats.org/drawingml/2006/main" noGrp="1"/>
          </p:cNvSpPr>
          <p:nvPr/>
        </p:nvSpPr>
        <p:spPr>
          <a:xfrm xmlns:a="http://schemas.openxmlformats.org/drawingml/2006/main">
            <a:off x="6496050" y="3609975"/>
            <a:ext cx="4695825"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17221F"/>
                </a:solidFill>
                <a:latin typeface="Arial"/>
                <a:ea typeface="Arial"/>
                <a:cs typeface="Arial"/>
              </a:defRPr>
            </a:defPPr>
          </a:lstStyle>
          <a:p xmlns:a="http://schemas.openxmlformats.org/drawingml/2006/main">
            <a:pPr algn="l">
              <a:defRPr sz="2175" b="0">
                <a:solidFill>
                  <a:srgbClr val="17221F"/>
                </a:solidFill>
                <a:latin typeface="Arial"/>
                <a:ea typeface="Arial"/>
                <a:cs typeface="Arial"/>
              </a:defRPr>
            </a:pPr>
            <a:r>
              <a:rPr sz="2175" b="0">
                <a:solidFill>
                  <a:srgbClr val="17221F"/>
                </a:solidFill>
                <a:latin typeface="Arial"/>
                <a:ea typeface="Arial"/>
                <a:cs typeface="Arial"/>
              </a:rPr>
              <a:t>How does reporter wording differ from wording used by another outlet?</a:t>
            </a:r>
          </a:p>
        </p:txBody>
      </p:sp>
      <p:sp>
        <p:nvSpPr>
          <p:cNvPr id="11" name="">
            <a:extLst xmlns:a="http://schemas.openxmlformats.org/drawingml/2006/main">
              <a:ext uri="{FF2B5EF4-FFF2-40B4-BE49-F238E27FC236}">
                <a16:creationId xmlns:a16="http://schemas.microsoft.com/office/drawing/2014/main" id="{0B4E55FF-33A7-4A26-87C4-2F520172054F}"/>
              </a:ext>
            </a:extLst>
          </p:cNvPr>
          <p:cNvSpPr>
            <a:spLocks xmlns:a="http://schemas.openxmlformats.org/drawingml/2006/main" noGrp="1"/>
          </p:cNvSpPr>
          <p:nvPr/>
        </p:nvSpPr>
        <p:spPr>
          <a:xfrm xmlns:a="http://schemas.openxmlformats.org/drawingml/2006/main">
            <a:off x="733425" y="5495925"/>
            <a:ext cx="107346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8DC8ADE-9924-4D30-8A0C-00AB905651DB}"/>
              </a:ext>
            </a:extLst>
          </p:cNvPr>
          <p:cNvSpPr>
            <a:spLocks xmlns:a="http://schemas.openxmlformats.org/drawingml/2006/main" noGrp="1"/>
          </p:cNvSpPr>
          <p:nvPr/>
        </p:nvSpPr>
        <p:spPr>
          <a:xfrm xmlns:a="http://schemas.openxmlformats.org/drawingml/2006/main">
            <a:off x="742950" y="5629275"/>
            <a:ext cx="1009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05B"/>
                </a:solidFill>
                <a:latin typeface="Arial"/>
                <a:ea typeface="Arial"/>
                <a:cs typeface="Arial"/>
              </a:defRPr>
            </a:defPPr>
          </a:lstStyle>
          <a:p xmlns:a="http://schemas.openxmlformats.org/drawingml/2006/main">
            <a:pPr algn="l">
              <a:defRPr sz="1875" b="0">
                <a:solidFill>
                  <a:srgbClr val="52605B"/>
                </a:solidFill>
                <a:latin typeface="Arial"/>
                <a:ea typeface="Arial"/>
                <a:cs typeface="Arial"/>
              </a:defRPr>
            </a:pPr>
            <a:r>
              <a:rPr sz="1875" b="0">
                <a:solidFill>
                  <a:srgbClr val="52605B"/>
                </a:solidFill>
                <a:latin typeface="Arial"/>
                <a:ea typeface="Arial"/>
                <a:cs typeface="Arial"/>
              </a:rPr>
              <a:t>Insufficient evidence stays unrated. No article-wide score.</a:t>
            </a:r>
          </a:p>
        </p:txBody>
      </p:sp>
    </p:spTree>
    <p:extLst>
      <p:ext uri="{BB962C8B-B14F-4D97-AF65-F5344CB8AC3E}">
        <p14:creationId xmlns:p14="http://schemas.microsoft.com/office/powerpoint/2010/main" val="902039228"/>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63A53B3-5EA7-4553-8615-8107E2765C28}"/>
              </a:ext>
            </a:extLst>
          </p:cNvPr>
          <p:cNvSpPr>
            <a:spLocks xmlns:a="http://schemas.openxmlformats.org/drawingml/2006/main" noGrp="1"/>
          </p:cNvSpPr>
          <p:nvPr/>
        </p:nvSpPr>
        <p:spPr>
          <a:xfrm xmlns:a="http://schemas.openxmlformats.org/drawingml/2006/main">
            <a:off x="685800" y="552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17221F"/>
                </a:solidFill>
                <a:latin typeface="Georgia"/>
                <a:ea typeface="Georgia"/>
                <a:cs typeface="Georgia"/>
              </a:defRPr>
            </a:defPPr>
          </a:lstStyle>
          <a:p xmlns:a="http://schemas.openxmlformats.org/drawingml/2006/main">
            <a:pPr algn="l">
              <a:defRPr sz="3525" b="0">
                <a:solidFill>
                  <a:srgbClr val="17221F"/>
                </a:solidFill>
                <a:latin typeface="Georgia"/>
                <a:ea typeface="Georgia"/>
                <a:cs typeface="Georgia"/>
              </a:defRPr>
            </a:pPr>
            <a:r>
              <a:rPr sz="3525" b="0">
                <a:solidFill>
                  <a:srgbClr val="17221F"/>
                </a:solidFill>
                <a:latin typeface="Georgia"/>
                <a:ea typeface="Georgia"/>
                <a:cs typeface="Georgia"/>
              </a:rPr>
              <a:t>System architecture</a:t>
            </a:r>
          </a:p>
        </p:txBody>
      </p:sp>
      <p:sp>
        <p:nvSpPr>
          <p:cNvPr id="2" name="">
            <a:extLst xmlns:a="http://schemas.openxmlformats.org/drawingml/2006/main">
              <a:ext uri="{FF2B5EF4-FFF2-40B4-BE49-F238E27FC236}">
                <a16:creationId xmlns:a16="http://schemas.microsoft.com/office/drawing/2014/main" id="{94AAB6B4-F97D-4E22-B83C-74A25ECE0A0A}"/>
              </a:ext>
            </a:extLst>
          </p:cNvPr>
          <p:cNvSpPr>
            <a:spLocks xmlns:a="http://schemas.openxmlformats.org/drawingml/2006/main" noGrp="1"/>
          </p:cNvSpPr>
          <p:nvPr/>
        </p:nvSpPr>
        <p:spPr>
          <a:xfrm xmlns:a="http://schemas.openxmlformats.org/drawingml/2006/main">
            <a:off x="704850" y="1381125"/>
            <a:ext cx="107727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463F14-27F5-4740-9987-585743684AA5}"/>
              </a:ext>
            </a:extLst>
          </p:cNvPr>
          <p:cNvSpPr>
            <a:spLocks xmlns:a="http://schemas.openxmlformats.org/drawingml/2006/main" noGrp="1"/>
          </p:cNvSpPr>
          <p:nvPr/>
        </p:nvSpPr>
        <p:spPr>
          <a:xfrm xmlns:a="http://schemas.openxmlformats.org/drawingml/2006/main">
            <a:off x="11125200" y="6267450"/>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52605B"/>
                </a:solidFill>
                <a:latin typeface="Arial"/>
                <a:ea typeface="Arial"/>
                <a:cs typeface="Arial"/>
              </a:defRPr>
            </a:defPPr>
          </a:lstStyle>
          <a:p xmlns:a="http://schemas.openxmlformats.org/drawingml/2006/main">
            <a:pPr algn="r">
              <a:defRPr sz="1350" b="0">
                <a:solidFill>
                  <a:srgbClr val="52605B"/>
                </a:solidFill>
                <a:latin typeface="Arial"/>
                <a:ea typeface="Arial"/>
                <a:cs typeface="Arial"/>
              </a:defRPr>
            </a:pPr>
            <a:r>
              <a:rPr sz="1350" b="0">
                <a:solidFill>
                  <a:srgbClr val="52605B"/>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561485E-D2C5-44CA-99BB-21CCB86387DA}"/>
              </a:ext>
            </a:extLst>
          </p:cNvPr>
          <p:cNvSpPr>
            <a:spLocks xmlns:a="http://schemas.openxmlformats.org/drawingml/2006/main" noGrp="1"/>
          </p:cNvSpPr>
          <p:nvPr/>
        </p:nvSpPr>
        <p:spPr>
          <a:xfrm xmlns:a="http://schemas.openxmlformats.org/drawingml/2006/main">
            <a:off x="714375" y="1971675"/>
            <a:ext cx="23717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0D765E"/>
                </a:solidFill>
                <a:latin typeface="Georgia"/>
                <a:ea typeface="Georgia"/>
                <a:cs typeface="Georgia"/>
              </a:defRPr>
            </a:defPPr>
          </a:lstStyle>
          <a:p xmlns:a="http://schemas.openxmlformats.org/drawingml/2006/main">
            <a:pPr algn="l">
              <a:defRPr sz="2250" b="0">
                <a:solidFill>
                  <a:srgbClr val="0D765E"/>
                </a:solidFill>
                <a:latin typeface="Georgia"/>
                <a:ea typeface="Georgia"/>
                <a:cs typeface="Georgia"/>
              </a:defRPr>
            </a:pPr>
            <a:r>
              <a:rPr sz="2250" b="0">
                <a:solidFill>
                  <a:srgbClr val="0D765E"/>
                </a:solidFill>
                <a:latin typeface="Georgia"/>
                <a:ea typeface="Georgia"/>
                <a:cs typeface="Georgia"/>
              </a:rPr>
              <a:t>01</a:t>
            </a:r>
          </a:p>
        </p:txBody>
      </p:sp>
      <p:sp>
        <p:nvSpPr>
          <p:cNvPr id="5" name="">
            <a:extLst xmlns:a="http://schemas.openxmlformats.org/drawingml/2006/main">
              <a:ext uri="{FF2B5EF4-FFF2-40B4-BE49-F238E27FC236}">
                <a16:creationId xmlns:a16="http://schemas.microsoft.com/office/drawing/2014/main" id="{09688C1F-0F2C-4762-A86E-6B2752CEF360}"/>
              </a:ext>
            </a:extLst>
          </p:cNvPr>
          <p:cNvSpPr>
            <a:spLocks xmlns:a="http://schemas.openxmlformats.org/drawingml/2006/main" noGrp="1"/>
          </p:cNvSpPr>
          <p:nvPr/>
        </p:nvSpPr>
        <p:spPr>
          <a:xfrm xmlns:a="http://schemas.openxmlformats.org/drawingml/2006/main">
            <a:off x="714375" y="2743200"/>
            <a:ext cx="2362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221F"/>
                </a:solidFill>
                <a:latin typeface="Arial"/>
                <a:ea typeface="Arial"/>
                <a:cs typeface="Arial"/>
              </a:defRPr>
            </a:defPPr>
          </a:lstStyle>
          <a:p xmlns:a="http://schemas.openxmlformats.org/drawingml/2006/main">
            <a:pPr algn="l">
              <a:defRPr sz="1950" b="1">
                <a:solidFill>
                  <a:srgbClr val="17221F"/>
                </a:solidFill>
                <a:latin typeface="Arial"/>
                <a:ea typeface="Arial"/>
                <a:cs typeface="Arial"/>
              </a:defRPr>
            </a:pPr>
            <a:r>
              <a:rPr sz="1950" b="1">
                <a:solidFill>
                  <a:srgbClr val="17221F"/>
                </a:solidFill>
                <a:latin typeface="Arial"/>
                <a:ea typeface="Arial"/>
                <a:cs typeface="Arial"/>
              </a:rPr>
              <a:t>Android</a:t>
            </a:r>
          </a:p>
        </p:txBody>
      </p:sp>
      <p:sp>
        <p:nvSpPr>
          <p:cNvPr id="6" name="">
            <a:extLst xmlns:a="http://schemas.openxmlformats.org/drawingml/2006/main">
              <a:ext uri="{FF2B5EF4-FFF2-40B4-BE49-F238E27FC236}">
                <a16:creationId xmlns:a16="http://schemas.microsoft.com/office/drawing/2014/main" id="{36617875-E343-4552-85B3-3AA3F09243E9}"/>
              </a:ext>
            </a:extLst>
          </p:cNvPr>
          <p:cNvSpPr>
            <a:spLocks xmlns:a="http://schemas.openxmlformats.org/drawingml/2006/main" noGrp="1"/>
          </p:cNvSpPr>
          <p:nvPr/>
        </p:nvSpPr>
        <p:spPr>
          <a:xfrm xmlns:a="http://schemas.openxmlformats.org/drawingml/2006/main">
            <a:off x="714375" y="3667125"/>
            <a:ext cx="233362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URL and result screens</a:t>
            </a:r>
          </a:p>
        </p:txBody>
      </p:sp>
      <p:sp>
        <p:nvSpPr>
          <p:cNvPr id="7" name="">
            <a:extLst xmlns:a="http://schemas.openxmlformats.org/drawingml/2006/main">
              <a:ext uri="{FF2B5EF4-FFF2-40B4-BE49-F238E27FC236}">
                <a16:creationId xmlns:a16="http://schemas.microsoft.com/office/drawing/2014/main" id="{906D4F16-E6E0-4E4C-9EF2-903E395BA1A2}"/>
              </a:ext>
            </a:extLst>
          </p:cNvPr>
          <p:cNvSpPr>
            <a:spLocks xmlns:a="http://schemas.openxmlformats.org/drawingml/2006/main" noGrp="1"/>
          </p:cNvSpPr>
          <p:nvPr/>
        </p:nvSpPr>
        <p:spPr>
          <a:xfrm xmlns:a="http://schemas.openxmlformats.org/drawingml/2006/main">
            <a:off x="723900" y="2628900"/>
            <a:ext cx="2476500"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26788F8-7502-4F1E-A618-4D1F06E0C622}"/>
              </a:ext>
            </a:extLst>
          </p:cNvPr>
          <p:cNvSpPr>
            <a:spLocks xmlns:a="http://schemas.openxmlformats.org/drawingml/2006/main" noGrp="1"/>
          </p:cNvSpPr>
          <p:nvPr/>
        </p:nvSpPr>
        <p:spPr>
          <a:xfrm xmlns:a="http://schemas.openxmlformats.org/drawingml/2006/main">
            <a:off x="3419475" y="1971675"/>
            <a:ext cx="23717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0D765E"/>
                </a:solidFill>
                <a:latin typeface="Georgia"/>
                <a:ea typeface="Georgia"/>
                <a:cs typeface="Georgia"/>
              </a:defRPr>
            </a:defPPr>
          </a:lstStyle>
          <a:p xmlns:a="http://schemas.openxmlformats.org/drawingml/2006/main">
            <a:pPr algn="l">
              <a:defRPr sz="2250" b="0">
                <a:solidFill>
                  <a:srgbClr val="0D765E"/>
                </a:solidFill>
                <a:latin typeface="Georgia"/>
                <a:ea typeface="Georgia"/>
                <a:cs typeface="Georgia"/>
              </a:defRPr>
            </a:pPr>
            <a:r>
              <a:rPr sz="2250" b="0">
                <a:solidFill>
                  <a:srgbClr val="0D765E"/>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B933C0A5-6FCA-470F-A211-53DD17A52FD6}"/>
              </a:ext>
            </a:extLst>
          </p:cNvPr>
          <p:cNvSpPr>
            <a:spLocks xmlns:a="http://schemas.openxmlformats.org/drawingml/2006/main" noGrp="1"/>
          </p:cNvSpPr>
          <p:nvPr/>
        </p:nvSpPr>
        <p:spPr>
          <a:xfrm xmlns:a="http://schemas.openxmlformats.org/drawingml/2006/main">
            <a:off x="3419475" y="2743200"/>
            <a:ext cx="2362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221F"/>
                </a:solidFill>
                <a:latin typeface="Arial"/>
                <a:ea typeface="Arial"/>
                <a:cs typeface="Arial"/>
              </a:defRPr>
            </a:defPPr>
          </a:lstStyle>
          <a:p xmlns:a="http://schemas.openxmlformats.org/drawingml/2006/main">
            <a:pPr algn="l">
              <a:defRPr sz="1950" b="1">
                <a:solidFill>
                  <a:srgbClr val="17221F"/>
                </a:solidFill>
                <a:latin typeface="Arial"/>
                <a:ea typeface="Arial"/>
                <a:cs typeface="Arial"/>
              </a:defRPr>
            </a:pPr>
            <a:r>
              <a:rPr sz="1950" b="1">
                <a:solidFill>
                  <a:srgbClr val="17221F"/>
                </a:solidFill>
                <a:latin typeface="Arial"/>
                <a:ea typeface="Arial"/>
                <a:cs typeface="Arial"/>
              </a:rPr>
              <a:t>Django API</a:t>
            </a:r>
          </a:p>
        </p:txBody>
      </p:sp>
      <p:sp>
        <p:nvSpPr>
          <p:cNvPr id="10" name="">
            <a:extLst xmlns:a="http://schemas.openxmlformats.org/drawingml/2006/main">
              <a:ext uri="{FF2B5EF4-FFF2-40B4-BE49-F238E27FC236}">
                <a16:creationId xmlns:a16="http://schemas.microsoft.com/office/drawing/2014/main" id="{B469045B-5568-4F72-9C4B-2916F0DE4A73}"/>
              </a:ext>
            </a:extLst>
          </p:cNvPr>
          <p:cNvSpPr>
            <a:spLocks xmlns:a="http://schemas.openxmlformats.org/drawingml/2006/main" noGrp="1"/>
          </p:cNvSpPr>
          <p:nvPr/>
        </p:nvSpPr>
        <p:spPr>
          <a:xfrm xmlns:a="http://schemas.openxmlformats.org/drawingml/2006/main">
            <a:off x="3419475" y="3667125"/>
            <a:ext cx="233362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Validation and orchestration</a:t>
            </a:r>
          </a:p>
        </p:txBody>
      </p:sp>
      <p:sp>
        <p:nvSpPr>
          <p:cNvPr id="11" name="">
            <a:extLst xmlns:a="http://schemas.openxmlformats.org/drawingml/2006/main">
              <a:ext uri="{FF2B5EF4-FFF2-40B4-BE49-F238E27FC236}">
                <a16:creationId xmlns:a16="http://schemas.microsoft.com/office/drawing/2014/main" id="{3FCE0553-1846-4DAE-B2B9-CC52489CBC20}"/>
              </a:ext>
            </a:extLst>
          </p:cNvPr>
          <p:cNvSpPr>
            <a:spLocks xmlns:a="http://schemas.openxmlformats.org/drawingml/2006/main" noGrp="1"/>
          </p:cNvSpPr>
          <p:nvPr/>
        </p:nvSpPr>
        <p:spPr>
          <a:xfrm xmlns:a="http://schemas.openxmlformats.org/drawingml/2006/main">
            <a:off x="3429000" y="2628900"/>
            <a:ext cx="2476500"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0889100-EB10-45B6-91F4-E41FE22EEA8C}"/>
              </a:ext>
            </a:extLst>
          </p:cNvPr>
          <p:cNvSpPr>
            <a:spLocks xmlns:a="http://schemas.openxmlformats.org/drawingml/2006/main" noGrp="1"/>
          </p:cNvSpPr>
          <p:nvPr/>
        </p:nvSpPr>
        <p:spPr>
          <a:xfrm xmlns:a="http://schemas.openxmlformats.org/drawingml/2006/main">
            <a:off x="6124575" y="1971675"/>
            <a:ext cx="23717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0D765E"/>
                </a:solidFill>
                <a:latin typeface="Georgia"/>
                <a:ea typeface="Georgia"/>
                <a:cs typeface="Georgia"/>
              </a:defRPr>
            </a:defPPr>
          </a:lstStyle>
          <a:p xmlns:a="http://schemas.openxmlformats.org/drawingml/2006/main">
            <a:pPr algn="l">
              <a:defRPr sz="2250" b="0">
                <a:solidFill>
                  <a:srgbClr val="0D765E"/>
                </a:solidFill>
                <a:latin typeface="Georgia"/>
                <a:ea typeface="Georgia"/>
                <a:cs typeface="Georgia"/>
              </a:defRPr>
            </a:pPr>
            <a:r>
              <a:rPr sz="2250" b="0">
                <a:solidFill>
                  <a:srgbClr val="0D765E"/>
                </a:solidFill>
                <a:latin typeface="Georgia"/>
                <a:ea typeface="Georgia"/>
                <a:cs typeface="Georgia"/>
              </a:rPr>
              <a:t>03</a:t>
            </a:r>
          </a:p>
        </p:txBody>
      </p:sp>
      <p:sp>
        <p:nvSpPr>
          <p:cNvPr id="13" name="">
            <a:extLst xmlns:a="http://schemas.openxmlformats.org/drawingml/2006/main">
              <a:ext uri="{FF2B5EF4-FFF2-40B4-BE49-F238E27FC236}">
                <a16:creationId xmlns:a16="http://schemas.microsoft.com/office/drawing/2014/main" id="{84A29974-445F-4CA3-9F3B-85869CBA81D0}"/>
              </a:ext>
            </a:extLst>
          </p:cNvPr>
          <p:cNvSpPr>
            <a:spLocks xmlns:a="http://schemas.openxmlformats.org/drawingml/2006/main" noGrp="1"/>
          </p:cNvSpPr>
          <p:nvPr/>
        </p:nvSpPr>
        <p:spPr>
          <a:xfrm xmlns:a="http://schemas.openxmlformats.org/drawingml/2006/main">
            <a:off x="6124575" y="2743200"/>
            <a:ext cx="2362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221F"/>
                </a:solidFill>
                <a:latin typeface="Arial"/>
                <a:ea typeface="Arial"/>
                <a:cs typeface="Arial"/>
              </a:defRPr>
            </a:defPPr>
          </a:lstStyle>
          <a:p xmlns:a="http://schemas.openxmlformats.org/drawingml/2006/main">
            <a:pPr algn="l">
              <a:defRPr sz="1950" b="1">
                <a:solidFill>
                  <a:srgbClr val="17221F"/>
                </a:solidFill>
                <a:latin typeface="Arial"/>
                <a:ea typeface="Arial"/>
                <a:cs typeface="Arial"/>
              </a:defRPr>
            </a:pPr>
            <a:r>
              <a:rPr sz="1950" b="1">
                <a:solidFill>
                  <a:srgbClr val="17221F"/>
                </a:solidFill>
                <a:latin typeface="Arial"/>
                <a:ea typeface="Arial"/>
                <a:cs typeface="Arial"/>
              </a:rPr>
              <a:t>NAVER + Gemini</a:t>
            </a:r>
          </a:p>
        </p:txBody>
      </p:sp>
      <p:sp>
        <p:nvSpPr>
          <p:cNvPr id="14" name="">
            <a:extLst xmlns:a="http://schemas.openxmlformats.org/drawingml/2006/main">
              <a:ext uri="{FF2B5EF4-FFF2-40B4-BE49-F238E27FC236}">
                <a16:creationId xmlns:a16="http://schemas.microsoft.com/office/drawing/2014/main" id="{A235753F-A6C0-479E-B53F-026E1947A547}"/>
              </a:ext>
            </a:extLst>
          </p:cNvPr>
          <p:cNvSpPr>
            <a:spLocks xmlns:a="http://schemas.openxmlformats.org/drawingml/2006/main" noGrp="1"/>
          </p:cNvSpPr>
          <p:nvPr/>
        </p:nvSpPr>
        <p:spPr>
          <a:xfrm xmlns:a="http://schemas.openxmlformats.org/drawingml/2006/main">
            <a:off x="6124575" y="3667125"/>
            <a:ext cx="233362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Related reports and structured analysis</a:t>
            </a:r>
          </a:p>
        </p:txBody>
      </p:sp>
      <p:sp>
        <p:nvSpPr>
          <p:cNvPr id="15" name="">
            <a:extLst xmlns:a="http://schemas.openxmlformats.org/drawingml/2006/main">
              <a:ext uri="{FF2B5EF4-FFF2-40B4-BE49-F238E27FC236}">
                <a16:creationId xmlns:a16="http://schemas.microsoft.com/office/drawing/2014/main" id="{5F2A19F6-7184-43AA-9CFA-BBAE1A690007}"/>
              </a:ext>
            </a:extLst>
          </p:cNvPr>
          <p:cNvSpPr>
            <a:spLocks xmlns:a="http://schemas.openxmlformats.org/drawingml/2006/main" noGrp="1"/>
          </p:cNvSpPr>
          <p:nvPr/>
        </p:nvSpPr>
        <p:spPr>
          <a:xfrm xmlns:a="http://schemas.openxmlformats.org/drawingml/2006/main">
            <a:off x="6134100" y="2628900"/>
            <a:ext cx="2476500"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3DAE044-7457-4637-9962-BB3A063CF529}"/>
              </a:ext>
            </a:extLst>
          </p:cNvPr>
          <p:cNvSpPr>
            <a:spLocks xmlns:a="http://schemas.openxmlformats.org/drawingml/2006/main" noGrp="1"/>
          </p:cNvSpPr>
          <p:nvPr/>
        </p:nvSpPr>
        <p:spPr>
          <a:xfrm xmlns:a="http://schemas.openxmlformats.org/drawingml/2006/main">
            <a:off x="8829675" y="1971675"/>
            <a:ext cx="23717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0D765E"/>
                </a:solidFill>
                <a:latin typeface="Georgia"/>
                <a:ea typeface="Georgia"/>
                <a:cs typeface="Georgia"/>
              </a:defRPr>
            </a:defPPr>
          </a:lstStyle>
          <a:p xmlns:a="http://schemas.openxmlformats.org/drawingml/2006/main">
            <a:pPr algn="l">
              <a:defRPr sz="2250" b="0">
                <a:solidFill>
                  <a:srgbClr val="0D765E"/>
                </a:solidFill>
                <a:latin typeface="Georgia"/>
                <a:ea typeface="Georgia"/>
                <a:cs typeface="Georgia"/>
              </a:defRPr>
            </a:pPr>
            <a:r>
              <a:rPr sz="2250" b="0">
                <a:solidFill>
                  <a:srgbClr val="0D765E"/>
                </a:solidFill>
                <a:latin typeface="Georgia"/>
                <a:ea typeface="Georgia"/>
                <a:cs typeface="Georgia"/>
              </a:rPr>
              <a:t>04</a:t>
            </a:r>
          </a:p>
        </p:txBody>
      </p:sp>
      <p:sp>
        <p:nvSpPr>
          <p:cNvPr id="17" name="">
            <a:extLst xmlns:a="http://schemas.openxmlformats.org/drawingml/2006/main">
              <a:ext uri="{FF2B5EF4-FFF2-40B4-BE49-F238E27FC236}">
                <a16:creationId xmlns:a16="http://schemas.microsoft.com/office/drawing/2014/main" id="{38DAACBE-3867-4148-A290-BE7F4F0B8B31}"/>
              </a:ext>
            </a:extLst>
          </p:cNvPr>
          <p:cNvSpPr>
            <a:spLocks xmlns:a="http://schemas.openxmlformats.org/drawingml/2006/main" noGrp="1"/>
          </p:cNvSpPr>
          <p:nvPr/>
        </p:nvSpPr>
        <p:spPr>
          <a:xfrm xmlns:a="http://schemas.openxmlformats.org/drawingml/2006/main">
            <a:off x="8829675" y="2743200"/>
            <a:ext cx="2362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221F"/>
                </a:solidFill>
                <a:latin typeface="Arial"/>
                <a:ea typeface="Arial"/>
                <a:cs typeface="Arial"/>
              </a:defRPr>
            </a:defPPr>
          </a:lstStyle>
          <a:p xmlns:a="http://schemas.openxmlformats.org/drawingml/2006/main">
            <a:pPr algn="l">
              <a:defRPr sz="1950" b="1">
                <a:solidFill>
                  <a:srgbClr val="17221F"/>
                </a:solidFill>
                <a:latin typeface="Arial"/>
                <a:ea typeface="Arial"/>
                <a:cs typeface="Arial"/>
              </a:defRPr>
            </a:pPr>
            <a:r>
              <a:rPr sz="1950" b="1">
                <a:solidFill>
                  <a:srgbClr val="17221F"/>
                </a:solidFill>
                <a:latin typeface="Arial"/>
                <a:ea typeface="Arial"/>
                <a:cs typeface="Arial"/>
              </a:rPr>
              <a:t>Evidence JSON</a:t>
            </a:r>
          </a:p>
        </p:txBody>
      </p:sp>
      <p:sp>
        <p:nvSpPr>
          <p:cNvPr id="18" name="">
            <a:extLst xmlns:a="http://schemas.openxmlformats.org/drawingml/2006/main">
              <a:ext uri="{FF2B5EF4-FFF2-40B4-BE49-F238E27FC236}">
                <a16:creationId xmlns:a16="http://schemas.microsoft.com/office/drawing/2014/main" id="{4286AB90-5FFF-4AF2-8C01-2899BD5FA76F}"/>
              </a:ext>
            </a:extLst>
          </p:cNvPr>
          <p:cNvSpPr>
            <a:spLocks xmlns:a="http://schemas.openxmlformats.org/drawingml/2006/main" noGrp="1"/>
          </p:cNvSpPr>
          <p:nvPr/>
        </p:nvSpPr>
        <p:spPr>
          <a:xfrm xmlns:a="http://schemas.openxmlformats.org/drawingml/2006/main">
            <a:off x="8829675" y="3667125"/>
            <a:ext cx="233362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Quotes, links, relation, status</a:t>
            </a:r>
          </a:p>
        </p:txBody>
      </p:sp>
      <p:sp>
        <p:nvSpPr>
          <p:cNvPr id="19" name="">
            <a:extLst xmlns:a="http://schemas.openxmlformats.org/drawingml/2006/main">
              <a:ext uri="{FF2B5EF4-FFF2-40B4-BE49-F238E27FC236}">
                <a16:creationId xmlns:a16="http://schemas.microsoft.com/office/drawing/2014/main" id="{7F0886E4-6776-451C-A353-BD3B8DD86ABC}"/>
              </a:ext>
            </a:extLst>
          </p:cNvPr>
          <p:cNvSpPr>
            <a:spLocks xmlns:a="http://schemas.openxmlformats.org/drawingml/2006/main" noGrp="1"/>
          </p:cNvSpPr>
          <p:nvPr/>
        </p:nvSpPr>
        <p:spPr>
          <a:xfrm xmlns:a="http://schemas.openxmlformats.org/drawingml/2006/main">
            <a:off x="723900" y="5534025"/>
            <a:ext cx="107346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53FEDF3-4263-43F7-AC41-B9B2F823CC2D}"/>
              </a:ext>
            </a:extLst>
          </p:cNvPr>
          <p:cNvSpPr>
            <a:spLocks xmlns:a="http://schemas.openxmlformats.org/drawingml/2006/main" noGrp="1"/>
          </p:cNvSpPr>
          <p:nvPr/>
        </p:nvSpPr>
        <p:spPr>
          <a:xfrm xmlns:a="http://schemas.openxmlformats.org/drawingml/2006/main">
            <a:off x="742950" y="56769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05B"/>
                </a:solidFill>
                <a:latin typeface="Arial"/>
                <a:ea typeface="Arial"/>
                <a:cs typeface="Arial"/>
              </a:defRPr>
            </a:defPPr>
          </a:lstStyle>
          <a:p xmlns:a="http://schemas.openxmlformats.org/drawingml/2006/main">
            <a:pPr algn="l">
              <a:defRPr sz="1725" b="0">
                <a:solidFill>
                  <a:srgbClr val="52605B"/>
                </a:solidFill>
                <a:latin typeface="Arial"/>
                <a:ea typeface="Arial"/>
                <a:cs typeface="Arial"/>
              </a:defRPr>
            </a:pPr>
            <a:r>
              <a:rPr sz="1725" b="0">
                <a:solidFill>
                  <a:srgbClr val="52605B"/>
                </a:solidFill>
                <a:latin typeface="Arial"/>
                <a:ea typeface="Arial"/>
                <a:cs typeface="Arial"/>
              </a:rPr>
              <a:t>API keys stay on the server. The current production deployment is still Iteration 1 code.</a:t>
            </a:r>
          </a:p>
        </p:txBody>
      </p:sp>
    </p:spTree>
    <p:extLst>
      <p:ext uri="{BB962C8B-B14F-4D97-AF65-F5344CB8AC3E}">
        <p14:creationId xmlns:p14="http://schemas.microsoft.com/office/powerpoint/2010/main" val="468582185"/>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68277A-550C-45E9-92A1-0029477D67E0}"/>
              </a:ext>
            </a:extLst>
          </p:cNvPr>
          <p:cNvSpPr>
            <a:spLocks xmlns:a="http://schemas.openxmlformats.org/drawingml/2006/main" noGrp="1"/>
          </p:cNvSpPr>
          <p:nvPr/>
        </p:nvSpPr>
        <p:spPr>
          <a:xfrm xmlns:a="http://schemas.openxmlformats.org/drawingml/2006/main">
            <a:off x="685800" y="552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17221F"/>
                </a:solidFill>
                <a:latin typeface="Georgia"/>
                <a:ea typeface="Georgia"/>
                <a:cs typeface="Georgia"/>
              </a:defRPr>
            </a:defPPr>
          </a:lstStyle>
          <a:p xmlns:a="http://schemas.openxmlformats.org/drawingml/2006/main">
            <a:pPr algn="l">
              <a:defRPr sz="3525" b="0">
                <a:solidFill>
                  <a:srgbClr val="17221F"/>
                </a:solidFill>
                <a:latin typeface="Georgia"/>
                <a:ea typeface="Georgia"/>
                <a:cs typeface="Georgia"/>
              </a:defRPr>
            </a:pPr>
            <a:r>
              <a:rPr sz="3525" b="0">
                <a:solidFill>
                  <a:srgbClr val="17221F"/>
                </a:solidFill>
                <a:latin typeface="Georgia"/>
                <a:ea typeface="Georgia"/>
                <a:cs typeface="Georgia"/>
              </a:rPr>
              <a:t>Keeping evidence attached</a:t>
            </a:r>
          </a:p>
        </p:txBody>
      </p:sp>
      <p:sp>
        <p:nvSpPr>
          <p:cNvPr id="2" name="">
            <a:extLst xmlns:a="http://schemas.openxmlformats.org/drawingml/2006/main">
              <a:ext uri="{FF2B5EF4-FFF2-40B4-BE49-F238E27FC236}">
                <a16:creationId xmlns:a16="http://schemas.microsoft.com/office/drawing/2014/main" id="{B23859C7-A976-45B4-BE05-D605A0D0ECBC}"/>
              </a:ext>
            </a:extLst>
          </p:cNvPr>
          <p:cNvSpPr>
            <a:spLocks xmlns:a="http://schemas.openxmlformats.org/drawingml/2006/main" noGrp="1"/>
          </p:cNvSpPr>
          <p:nvPr/>
        </p:nvSpPr>
        <p:spPr>
          <a:xfrm xmlns:a="http://schemas.openxmlformats.org/drawingml/2006/main">
            <a:off x="704850" y="1381125"/>
            <a:ext cx="107727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B87DA26-218A-4396-8595-3AA971FC42E2}"/>
              </a:ext>
            </a:extLst>
          </p:cNvPr>
          <p:cNvSpPr>
            <a:spLocks xmlns:a="http://schemas.openxmlformats.org/drawingml/2006/main" noGrp="1"/>
          </p:cNvSpPr>
          <p:nvPr/>
        </p:nvSpPr>
        <p:spPr>
          <a:xfrm xmlns:a="http://schemas.openxmlformats.org/drawingml/2006/main">
            <a:off x="11125200" y="6267450"/>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52605B"/>
                </a:solidFill>
                <a:latin typeface="Arial"/>
                <a:ea typeface="Arial"/>
                <a:cs typeface="Arial"/>
              </a:defRPr>
            </a:defPPr>
          </a:lstStyle>
          <a:p xmlns:a="http://schemas.openxmlformats.org/drawingml/2006/main">
            <a:pPr algn="r">
              <a:defRPr sz="1350" b="0">
                <a:solidFill>
                  <a:srgbClr val="52605B"/>
                </a:solidFill>
                <a:latin typeface="Arial"/>
                <a:ea typeface="Arial"/>
                <a:cs typeface="Arial"/>
              </a:defRPr>
            </a:pPr>
            <a:r>
              <a:rPr sz="1350" b="0">
                <a:solidFill>
                  <a:srgbClr val="52605B"/>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F66193A1-7521-4DAC-A70E-61D7C8F78B21}"/>
              </a:ext>
            </a:extLst>
          </p:cNvPr>
          <p:cNvSpPr>
            <a:spLocks xmlns:a="http://schemas.openxmlformats.org/drawingml/2006/main" noGrp="1"/>
          </p:cNvSpPr>
          <p:nvPr/>
        </p:nvSpPr>
        <p:spPr>
          <a:xfrm xmlns:a="http://schemas.openxmlformats.org/drawingml/2006/main">
            <a:off x="733425" y="1762125"/>
            <a:ext cx="1028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675" b="0">
                <a:solidFill>
                  <a:srgbClr val="0D765E"/>
                </a:solidFill>
                <a:latin typeface="Georgia"/>
                <a:ea typeface="Georgia"/>
                <a:cs typeface="Georgia"/>
              </a:defRPr>
            </a:defPPr>
          </a:lstStyle>
          <a:p xmlns:a="http://schemas.openxmlformats.org/drawingml/2006/main">
            <a:pPr algn="l">
              <a:defRPr sz="3675" b="0">
                <a:solidFill>
                  <a:srgbClr val="0D765E"/>
                </a:solidFill>
                <a:latin typeface="Georgia"/>
                <a:ea typeface="Georgia"/>
                <a:cs typeface="Georgia"/>
              </a:defRPr>
            </a:pPr>
            <a:r>
              <a:rPr sz="3675" b="0">
                <a:solidFill>
                  <a:srgbClr val="0D765E"/>
                </a:solidFill>
                <a:latin typeface="Georgia"/>
                <a:ea typeface="Georgia"/>
                <a:cs typeface="Georgia"/>
              </a:rPr>
              <a:t>A quote has to keep its article.</a:t>
            </a:r>
          </a:p>
        </p:txBody>
      </p:sp>
      <p:sp>
        <p:nvSpPr>
          <p:cNvPr id="5" name="">
            <a:extLst xmlns:a="http://schemas.openxmlformats.org/drawingml/2006/main">
              <a:ext uri="{FF2B5EF4-FFF2-40B4-BE49-F238E27FC236}">
                <a16:creationId xmlns:a16="http://schemas.microsoft.com/office/drawing/2014/main" id="{BA85CD8F-1B93-4D80-BC60-DAEE0CD50E0A}"/>
              </a:ext>
            </a:extLst>
          </p:cNvPr>
          <p:cNvSpPr>
            <a:spLocks xmlns:a="http://schemas.openxmlformats.org/drawingml/2006/main" noGrp="1"/>
          </p:cNvSpPr>
          <p:nvPr/>
        </p:nvSpPr>
        <p:spPr>
          <a:xfrm xmlns:a="http://schemas.openxmlformats.org/drawingml/2006/main">
            <a:off x="752475" y="2724150"/>
            <a:ext cx="104298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17221F"/>
                </a:solidFill>
                <a:latin typeface="Arial"/>
                <a:ea typeface="Arial"/>
                <a:cs typeface="Arial"/>
              </a:defRPr>
            </a:defPPr>
          </a:lstStyle>
          <a:p xmlns:a="http://schemas.openxmlformats.org/drawingml/2006/main">
            <a:pPr algn="l">
              <a:defRPr sz="2175" b="0">
                <a:solidFill>
                  <a:srgbClr val="17221F"/>
                </a:solidFill>
                <a:latin typeface="Arial"/>
                <a:ea typeface="Arial"/>
                <a:cs typeface="Arial"/>
              </a:defRPr>
            </a:pPr>
            <a:r>
              <a:rPr sz="2175" b="0">
                <a:solidFill>
                  <a:srgbClr val="17221F"/>
                </a:solidFill>
                <a:latin typeface="Arial"/>
                <a:ea typeface="Arial"/>
                <a:cs typeface="Arial"/>
              </a:rPr>
              <a:t>The v2 pipeline and Android UI used different result structures. A loose mapping could show a valid quote under the wrong source.</a:t>
            </a:r>
          </a:p>
        </p:txBody>
      </p:sp>
      <p:sp>
        <p:nvSpPr>
          <p:cNvPr id="6" name="">
            <a:extLst xmlns:a="http://schemas.openxmlformats.org/drawingml/2006/main">
              <a:ext uri="{FF2B5EF4-FFF2-40B4-BE49-F238E27FC236}">
                <a16:creationId xmlns:a16="http://schemas.microsoft.com/office/drawing/2014/main" id="{55877A65-E144-4C35-9E20-6FCC035F82CD}"/>
              </a:ext>
            </a:extLst>
          </p:cNvPr>
          <p:cNvSpPr>
            <a:spLocks xmlns:a="http://schemas.openxmlformats.org/drawingml/2006/main" noGrp="1"/>
          </p:cNvSpPr>
          <p:nvPr/>
        </p:nvSpPr>
        <p:spPr>
          <a:xfrm xmlns:a="http://schemas.openxmlformats.org/drawingml/2006/main">
            <a:off x="742950" y="4076700"/>
            <a:ext cx="10715625" cy="19050"/>
          </a:xfrm>
          <a:prstGeom xmlns:a="http://schemas.openxmlformats.org/drawingml/2006/main" prst="rect">
            <a:avLst/>
          </a:prstGeom>
          <a:solidFill xmlns:a="http://schemas.openxmlformats.org/drawingml/2006/main">
            <a:srgbClr val="1722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C65489-5319-4E83-A267-B6F2EF14F07F}"/>
              </a:ext>
            </a:extLst>
          </p:cNvPr>
          <p:cNvSpPr>
            <a:spLocks xmlns:a="http://schemas.openxmlformats.org/drawingml/2006/main" noGrp="1"/>
          </p:cNvSpPr>
          <p:nvPr/>
        </p:nvSpPr>
        <p:spPr>
          <a:xfrm xmlns:a="http://schemas.openxmlformats.org/drawingml/2006/main">
            <a:off x="752475" y="4371975"/>
            <a:ext cx="3257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D765E"/>
                </a:solidFill>
                <a:latin typeface="Arial"/>
                <a:ea typeface="Arial"/>
                <a:cs typeface="Arial"/>
              </a:defRPr>
            </a:defPPr>
          </a:lstStyle>
          <a:p xmlns:a="http://schemas.openxmlformats.org/drawingml/2006/main">
            <a:pPr algn="l">
              <a:defRPr sz="1800" b="1">
                <a:solidFill>
                  <a:srgbClr val="0D765E"/>
                </a:solidFill>
                <a:latin typeface="Arial"/>
                <a:ea typeface="Arial"/>
                <a:cs typeface="Arial"/>
              </a:defRPr>
            </a:pPr>
            <a:r>
              <a:rPr sz="1800" b="1">
                <a:solidFill>
                  <a:srgbClr val="0D765E"/>
                </a:solidFill>
                <a:latin typeface="Arial"/>
                <a:ea typeface="Arial"/>
                <a:cs typeface="Arial"/>
              </a:rPr>
              <a:t>article_index</a:t>
            </a:r>
          </a:p>
        </p:txBody>
      </p:sp>
      <p:sp>
        <p:nvSpPr>
          <p:cNvPr id="8" name="">
            <a:extLst xmlns:a="http://schemas.openxmlformats.org/drawingml/2006/main">
              <a:ext uri="{FF2B5EF4-FFF2-40B4-BE49-F238E27FC236}">
                <a16:creationId xmlns:a16="http://schemas.microsoft.com/office/drawing/2014/main" id="{68DC36C0-A762-4E17-8DA0-3694B4793097}"/>
              </a:ext>
            </a:extLst>
          </p:cNvPr>
          <p:cNvSpPr>
            <a:spLocks xmlns:a="http://schemas.openxmlformats.org/drawingml/2006/main" noGrp="1"/>
          </p:cNvSpPr>
          <p:nvPr/>
        </p:nvSpPr>
        <p:spPr>
          <a:xfrm xmlns:a="http://schemas.openxmlformats.org/drawingml/2006/main">
            <a:off x="752475" y="5019675"/>
            <a:ext cx="323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Which article?</a:t>
            </a:r>
          </a:p>
        </p:txBody>
      </p:sp>
      <p:sp>
        <p:nvSpPr>
          <p:cNvPr id="9" name="">
            <a:extLst xmlns:a="http://schemas.openxmlformats.org/drawingml/2006/main">
              <a:ext uri="{FF2B5EF4-FFF2-40B4-BE49-F238E27FC236}">
                <a16:creationId xmlns:a16="http://schemas.microsoft.com/office/drawing/2014/main" id="{48FC9A1E-ABAD-4A76-A324-80C558CE0F0D}"/>
              </a:ext>
            </a:extLst>
          </p:cNvPr>
          <p:cNvSpPr>
            <a:spLocks xmlns:a="http://schemas.openxmlformats.org/drawingml/2006/main" noGrp="1"/>
          </p:cNvSpPr>
          <p:nvPr/>
        </p:nvSpPr>
        <p:spPr>
          <a:xfrm xmlns:a="http://schemas.openxmlformats.org/drawingml/2006/main">
            <a:off x="4343400" y="4371975"/>
            <a:ext cx="3257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D765E"/>
                </a:solidFill>
                <a:latin typeface="Arial"/>
                <a:ea typeface="Arial"/>
                <a:cs typeface="Arial"/>
              </a:defRPr>
            </a:defPPr>
          </a:lstStyle>
          <a:p xmlns:a="http://schemas.openxmlformats.org/drawingml/2006/main">
            <a:pPr algn="l">
              <a:defRPr sz="1800" b="1">
                <a:solidFill>
                  <a:srgbClr val="0D765E"/>
                </a:solidFill>
                <a:latin typeface="Arial"/>
                <a:ea typeface="Arial"/>
                <a:cs typeface="Arial"/>
              </a:defRPr>
            </a:pPr>
            <a:r>
              <a:rPr sz="1800" b="1">
                <a:solidFill>
                  <a:srgbClr val="0D765E"/>
                </a:solidFill>
                <a:latin typeface="Arial"/>
                <a:ea typeface="Arial"/>
                <a:cs typeface="Arial"/>
              </a:rPr>
              <a:t>source_url + quote</a:t>
            </a:r>
          </a:p>
        </p:txBody>
      </p:sp>
      <p:sp>
        <p:nvSpPr>
          <p:cNvPr id="10" name="">
            <a:extLst xmlns:a="http://schemas.openxmlformats.org/drawingml/2006/main">
              <a:ext uri="{FF2B5EF4-FFF2-40B4-BE49-F238E27FC236}">
                <a16:creationId xmlns:a16="http://schemas.microsoft.com/office/drawing/2014/main" id="{592E4E1B-29F8-4E92-8D1A-482529B38A7F}"/>
              </a:ext>
            </a:extLst>
          </p:cNvPr>
          <p:cNvSpPr>
            <a:spLocks xmlns:a="http://schemas.openxmlformats.org/drawingml/2006/main" noGrp="1"/>
          </p:cNvSpPr>
          <p:nvPr/>
        </p:nvSpPr>
        <p:spPr>
          <a:xfrm xmlns:a="http://schemas.openxmlformats.org/drawingml/2006/main">
            <a:off x="4343400" y="5019675"/>
            <a:ext cx="323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Where is the passage?</a:t>
            </a:r>
          </a:p>
        </p:txBody>
      </p:sp>
      <p:sp>
        <p:nvSpPr>
          <p:cNvPr id="11" name="">
            <a:extLst xmlns:a="http://schemas.openxmlformats.org/drawingml/2006/main">
              <a:ext uri="{FF2B5EF4-FFF2-40B4-BE49-F238E27FC236}">
                <a16:creationId xmlns:a16="http://schemas.microsoft.com/office/drawing/2014/main" id="{6A660C15-99DE-4EAA-A9FB-2A0BF1C7EF5A}"/>
              </a:ext>
            </a:extLst>
          </p:cNvPr>
          <p:cNvSpPr>
            <a:spLocks xmlns:a="http://schemas.openxmlformats.org/drawingml/2006/main" noGrp="1"/>
          </p:cNvSpPr>
          <p:nvPr/>
        </p:nvSpPr>
        <p:spPr>
          <a:xfrm xmlns:a="http://schemas.openxmlformats.org/drawingml/2006/main">
            <a:off x="7934325" y="4371975"/>
            <a:ext cx="3257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0D765E"/>
                </a:solidFill>
                <a:latin typeface="Arial"/>
                <a:ea typeface="Arial"/>
                <a:cs typeface="Arial"/>
              </a:defRPr>
            </a:defPPr>
          </a:lstStyle>
          <a:p xmlns:a="http://schemas.openxmlformats.org/drawingml/2006/main">
            <a:pPr algn="l">
              <a:defRPr sz="1800" b="1">
                <a:solidFill>
                  <a:srgbClr val="0D765E"/>
                </a:solidFill>
                <a:latin typeface="Arial"/>
                <a:ea typeface="Arial"/>
                <a:cs typeface="Arial"/>
              </a:defRPr>
            </a:pPr>
            <a:r>
              <a:rPr sz="1800" b="1">
                <a:solidFill>
                  <a:srgbClr val="0D765E"/>
                </a:solidFill>
                <a:latin typeface="Arial"/>
                <a:ea typeface="Arial"/>
                <a:cs typeface="Arial"/>
              </a:rPr>
              <a:t>relation + speaker</a:t>
            </a:r>
          </a:p>
        </p:txBody>
      </p:sp>
      <p:sp>
        <p:nvSpPr>
          <p:cNvPr id="12" name="">
            <a:extLst xmlns:a="http://schemas.openxmlformats.org/drawingml/2006/main">
              <a:ext uri="{FF2B5EF4-FFF2-40B4-BE49-F238E27FC236}">
                <a16:creationId xmlns:a16="http://schemas.microsoft.com/office/drawing/2014/main" id="{06DFB763-D584-4F2E-83F3-15A736F93854}"/>
              </a:ext>
            </a:extLst>
          </p:cNvPr>
          <p:cNvSpPr>
            <a:spLocks xmlns:a="http://schemas.openxmlformats.org/drawingml/2006/main" noGrp="1"/>
          </p:cNvSpPr>
          <p:nvPr/>
        </p:nvSpPr>
        <p:spPr>
          <a:xfrm xmlns:a="http://schemas.openxmlformats.org/drawingml/2006/main">
            <a:off x="7934325" y="5019675"/>
            <a:ext cx="323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05B"/>
                </a:solidFill>
                <a:latin typeface="Arial"/>
                <a:ea typeface="Arial"/>
                <a:cs typeface="Arial"/>
              </a:defRPr>
            </a:defPPr>
          </a:lstStyle>
          <a:p xmlns:a="http://schemas.openxmlformats.org/drawingml/2006/main">
            <a:pPr algn="l">
              <a:defRPr sz="1800" b="0">
                <a:solidFill>
                  <a:srgbClr val="52605B"/>
                </a:solidFill>
                <a:latin typeface="Arial"/>
                <a:ea typeface="Arial"/>
                <a:cs typeface="Arial"/>
              </a:defRPr>
            </a:pPr>
            <a:r>
              <a:rPr sz="1800" b="0">
                <a:solidFill>
                  <a:srgbClr val="52605B"/>
                </a:solidFill>
                <a:latin typeface="Arial"/>
                <a:ea typeface="Arial"/>
                <a:cs typeface="Arial"/>
              </a:rPr>
              <a:t>What does it mean, and who said it?</a:t>
            </a:r>
          </a:p>
        </p:txBody>
      </p:sp>
    </p:spTree>
    <p:extLst>
      <p:ext uri="{BB962C8B-B14F-4D97-AF65-F5344CB8AC3E}">
        <p14:creationId xmlns:p14="http://schemas.microsoft.com/office/powerpoint/2010/main" val="667703571"/>
      </p:ext>
    </p:extLst>
  </p:cSld>
</p:sld>
</file>

<file path=ppt/slides/slide8.xml><?xml version="1.0" encoding="utf-8"?>
<p:sld xmlns:p="http://schemas.openxmlformats.org/presentationml/2006/main">
  <p:cSld>
    <p:bg>
      <p:bgPr>
        <a:solidFill xmlns:a="http://schemas.openxmlformats.org/drawingml/2006/main">
          <a:srgbClr val="14272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6E6F9F-B898-4A6B-B6AD-EE910A6DC118}"/>
              </a:ext>
            </a:extLst>
          </p:cNvPr>
          <p:cNvSpPr>
            <a:spLocks xmlns:a="http://schemas.openxmlformats.org/drawingml/2006/main" noGrp="1"/>
          </p:cNvSpPr>
          <p:nvPr/>
        </p:nvSpPr>
        <p:spPr>
          <a:xfrm xmlns:a="http://schemas.openxmlformats.org/drawingml/2006/main">
            <a:off x="685800" y="552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FFFFFF"/>
                </a:solidFill>
                <a:latin typeface="Georgia"/>
                <a:ea typeface="Georgia"/>
                <a:cs typeface="Georgia"/>
              </a:defRPr>
            </a:defPPr>
          </a:lstStyle>
          <a:p xmlns:a="http://schemas.openxmlformats.org/drawingml/2006/main">
            <a:pPr algn="l">
              <a:defRPr sz="3525" b="0">
                <a:solidFill>
                  <a:srgbClr val="FFFFFF"/>
                </a:solidFill>
                <a:latin typeface="Georgia"/>
                <a:ea typeface="Georgia"/>
                <a:cs typeface="Georgia"/>
              </a:defRPr>
            </a:pPr>
            <a:r>
              <a:rPr sz="3525" b="0">
                <a:solidFill>
                  <a:srgbClr val="FFFFFF"/>
                </a:solidFill>
                <a:latin typeface="Georgia"/>
                <a:ea typeface="Georgia"/>
                <a:cs typeface="Georgia"/>
              </a:rPr>
              <a:t>Current UI preview</a:t>
            </a:r>
          </a:p>
        </p:txBody>
      </p:sp>
      <p:sp>
        <p:nvSpPr>
          <p:cNvPr id="2" name="">
            <a:extLst xmlns:a="http://schemas.openxmlformats.org/drawingml/2006/main">
              <a:ext uri="{FF2B5EF4-FFF2-40B4-BE49-F238E27FC236}">
                <a16:creationId xmlns:a16="http://schemas.microsoft.com/office/drawing/2014/main" id="{D76AD93D-6804-407F-92FA-41EB954C464B}"/>
              </a:ext>
            </a:extLst>
          </p:cNvPr>
          <p:cNvSpPr>
            <a:spLocks xmlns:a="http://schemas.openxmlformats.org/drawingml/2006/main" noGrp="1"/>
          </p:cNvSpPr>
          <p:nvPr/>
        </p:nvSpPr>
        <p:spPr>
          <a:xfrm xmlns:a="http://schemas.openxmlformats.org/drawingml/2006/main">
            <a:off x="704850" y="1381125"/>
            <a:ext cx="10772775" cy="19050"/>
          </a:xfrm>
          <a:prstGeom xmlns:a="http://schemas.openxmlformats.org/drawingml/2006/main" prst="rect">
            <a:avLst/>
          </a:prstGeom>
          <a:solidFill xmlns:a="http://schemas.openxmlformats.org/drawingml/2006/main">
            <a:srgbClr val="46645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C28FCBF-EF74-45DC-B1F4-B51D85EB251D}"/>
              </a:ext>
            </a:extLst>
          </p:cNvPr>
          <p:cNvSpPr>
            <a:spLocks xmlns:a="http://schemas.openxmlformats.org/drawingml/2006/main" noGrp="1"/>
          </p:cNvSpPr>
          <p:nvPr/>
        </p:nvSpPr>
        <p:spPr>
          <a:xfrm xmlns:a="http://schemas.openxmlformats.org/drawingml/2006/main">
            <a:off x="11125200" y="6267450"/>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DCE9E3"/>
                </a:solidFill>
                <a:latin typeface="Arial"/>
                <a:ea typeface="Arial"/>
                <a:cs typeface="Arial"/>
              </a:defRPr>
            </a:defPPr>
          </a:lstStyle>
          <a:p xmlns:a="http://schemas.openxmlformats.org/drawingml/2006/main">
            <a:pPr algn="r">
              <a:defRPr sz="1350" b="0">
                <a:solidFill>
                  <a:srgbClr val="DCE9E3"/>
                </a:solidFill>
                <a:latin typeface="Arial"/>
                <a:ea typeface="Arial"/>
                <a:cs typeface="Arial"/>
              </a:defRPr>
            </a:pPr>
            <a:r>
              <a:rPr sz="1350" b="0">
                <a:solidFill>
                  <a:srgbClr val="DCE9E3"/>
                </a:solidFill>
                <a:latin typeface="Arial"/>
                <a:ea typeface="Arial"/>
                <a:cs typeface="Arial"/>
              </a:rPr>
              <a:t>08</a:t>
            </a:r>
          </a:p>
        </p:txBody>
      </p:sp>
      <p:pic>
        <p:nvPicPr>
          <p:cNvPr id="4" name="">
            <a:extLst xmlns:a="http://schemas.openxmlformats.org/drawingml/2006/main">
              <a:ext uri="{FF2B5EF4-FFF2-40B4-BE49-F238E27FC236}">
                <a16:creationId xmlns:a16="http://schemas.microsoft.com/office/drawing/2014/main" id="{E331E034-7E88-4989-A998-A5FE7B18C0D4}"/>
              </a:ext>
            </a:extLst>
          </p:cNvPr>
          <p:cNvPicPr>
            <a:picLocks xmlns:a="http://schemas.openxmlformats.org/drawingml/2006/main" noChangeAspect="1"/>
          </p:cNvPicPr>
          <p:nvPr/>
        </p:nvPicPr>
        <p:blipFill>
          <a:blip xmlns:r="http://schemas.openxmlformats.org/officeDocument/2006/relationships" xmlns:a="http://schemas.openxmlformats.org/drawingml/2006/main" r:embed="Ra8dd7dd67d1e4b8e"/>
          <a:srcRect xmlns:a="http://schemas.openxmlformats.org/drawingml/2006/main" l="3000" t="27000" r="3000" b="32000"/>
          <a:stretch xmlns:a="http://schemas.openxmlformats.org/drawingml/2006/main"/>
        </p:blipFill>
        <p:spPr>
          <a:xfrm xmlns:a="http://schemas.openxmlformats.org/drawingml/2006/main">
            <a:off x="695325" y="1571625"/>
            <a:ext cx="4953000" cy="46101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692FFC9-3DFE-481F-96C9-870BDD9933B3}"/>
              </a:ext>
            </a:extLst>
          </p:cNvPr>
          <p:cNvSpPr>
            <a:spLocks xmlns:a="http://schemas.openxmlformats.org/drawingml/2006/main" noGrp="1"/>
          </p:cNvSpPr>
          <p:nvPr/>
        </p:nvSpPr>
        <p:spPr>
          <a:xfrm xmlns:a="http://schemas.openxmlformats.org/drawingml/2006/main">
            <a:off x="6048375" y="1914525"/>
            <a:ext cx="51244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E9CE7A"/>
                </a:solidFill>
                <a:latin typeface="Arial"/>
                <a:ea typeface="Arial"/>
                <a:cs typeface="Arial"/>
              </a:defRPr>
            </a:defPPr>
          </a:lstStyle>
          <a:p xmlns:a="http://schemas.openxmlformats.org/drawingml/2006/main">
            <a:pPr algn="l">
              <a:defRPr sz="2175" b="1">
                <a:solidFill>
                  <a:srgbClr val="E9CE7A"/>
                </a:solidFill>
                <a:latin typeface="Arial"/>
                <a:ea typeface="Arial"/>
                <a:cs typeface="Arial"/>
              </a:defRPr>
            </a:pPr>
            <a:r>
              <a:rPr sz="2175" b="1">
                <a:solidFill>
                  <a:srgbClr val="E9CE7A"/>
                </a:solidFill>
                <a:latin typeface="Arial"/>
                <a:ea typeface="Arial"/>
                <a:cs typeface="Arial"/>
              </a:rPr>
              <a:t>Synthetic response</a:t>
            </a:r>
          </a:p>
        </p:txBody>
      </p:sp>
      <p:sp>
        <p:nvSpPr>
          <p:cNvPr id="6" name="">
            <a:extLst xmlns:a="http://schemas.openxmlformats.org/drawingml/2006/main">
              <a:ext uri="{FF2B5EF4-FFF2-40B4-BE49-F238E27FC236}">
                <a16:creationId xmlns:a16="http://schemas.microsoft.com/office/drawing/2014/main" id="{F45B7274-05AD-4BE8-98E7-716913C93AA2}"/>
              </a:ext>
            </a:extLst>
          </p:cNvPr>
          <p:cNvSpPr>
            <a:spLocks xmlns:a="http://schemas.openxmlformats.org/drawingml/2006/main" noGrp="1"/>
          </p:cNvSpPr>
          <p:nvPr/>
        </p:nvSpPr>
        <p:spPr>
          <a:xfrm xmlns:a="http://schemas.openxmlformats.org/drawingml/2006/main">
            <a:off x="6038850" y="2667000"/>
            <a:ext cx="513397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75" b="0">
                <a:solidFill>
                  <a:srgbClr val="FFFFFF"/>
                </a:solidFill>
                <a:latin typeface="Georgia"/>
                <a:ea typeface="Georgia"/>
                <a:cs typeface="Georgia"/>
              </a:defRPr>
            </a:defPPr>
          </a:lstStyle>
          <a:p xmlns:a="http://schemas.openxmlformats.org/drawingml/2006/main">
            <a:pPr algn="l">
              <a:defRPr sz="2775" b="0">
                <a:solidFill>
                  <a:srgbClr val="FFFFFF"/>
                </a:solidFill>
                <a:latin typeface="Georgia"/>
                <a:ea typeface="Georgia"/>
                <a:cs typeface="Georgia"/>
              </a:defRPr>
            </a:pPr>
            <a:r>
              <a:rPr sz="2775" b="0">
                <a:solidFill>
                  <a:srgbClr val="FFFFFF"/>
                </a:solidFill>
                <a:latin typeface="Georgia"/>
                <a:ea typeface="Georgia"/>
                <a:cs typeface="Georgia"/>
              </a:rPr>
              <a:t>A quote, its source link, and rubric details.</a:t>
            </a:r>
          </a:p>
        </p:txBody>
      </p:sp>
      <p:sp>
        <p:nvSpPr>
          <p:cNvPr id="7" name="">
            <a:extLst xmlns:a="http://schemas.openxmlformats.org/drawingml/2006/main">
              <a:ext uri="{FF2B5EF4-FFF2-40B4-BE49-F238E27FC236}">
                <a16:creationId xmlns:a16="http://schemas.microsoft.com/office/drawing/2014/main" id="{7AD79EF5-44F2-4041-BEFA-B2BD4B02DA64}"/>
              </a:ext>
            </a:extLst>
          </p:cNvPr>
          <p:cNvSpPr>
            <a:spLocks xmlns:a="http://schemas.openxmlformats.org/drawingml/2006/main" noGrp="1"/>
          </p:cNvSpPr>
          <p:nvPr/>
        </p:nvSpPr>
        <p:spPr>
          <a:xfrm xmlns:a="http://schemas.openxmlformats.org/drawingml/2006/main">
            <a:off x="6057900" y="4819650"/>
            <a:ext cx="4772025" cy="19050"/>
          </a:xfrm>
          <a:prstGeom xmlns:a="http://schemas.openxmlformats.org/drawingml/2006/main" prst="rect">
            <a:avLst/>
          </a:prstGeom>
          <a:solidFill xmlns:a="http://schemas.openxmlformats.org/drawingml/2006/main">
            <a:srgbClr val="4B655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6E18DE9-F389-4615-8A65-DE4C836DDC6A}"/>
              </a:ext>
            </a:extLst>
          </p:cNvPr>
          <p:cNvSpPr>
            <a:spLocks xmlns:a="http://schemas.openxmlformats.org/drawingml/2006/main" noGrp="1"/>
          </p:cNvSpPr>
          <p:nvPr/>
        </p:nvSpPr>
        <p:spPr>
          <a:xfrm xmlns:a="http://schemas.openxmlformats.org/drawingml/2006/main">
            <a:off x="6057900" y="5010150"/>
            <a:ext cx="47720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DCE9E3"/>
                </a:solidFill>
                <a:latin typeface="Arial"/>
                <a:ea typeface="Arial"/>
                <a:cs typeface="Arial"/>
              </a:defRPr>
            </a:defPPr>
          </a:lstStyle>
          <a:p xmlns:a="http://schemas.openxmlformats.org/drawingml/2006/main">
            <a:pPr algn="l">
              <a:defRPr sz="1800" b="0">
                <a:solidFill>
                  <a:srgbClr val="DCE9E3"/>
                </a:solidFill>
                <a:latin typeface="Arial"/>
                <a:ea typeface="Arial"/>
                <a:cs typeface="Arial"/>
              </a:defRPr>
            </a:pPr>
            <a:r>
              <a:rPr sz="1800" b="0">
                <a:solidFill>
                  <a:srgbClr val="DCE9E3"/>
                </a:solidFill>
                <a:latin typeface="Arial"/>
                <a:ea typeface="Arial"/>
                <a:cs typeface="Arial"/>
              </a:rPr>
              <a:t>Live NAVER/Gemini walkthrough and source review are still pending.</a:t>
            </a:r>
          </a:p>
        </p:txBody>
      </p:sp>
    </p:spTree>
    <p:extLst>
      <p:ext uri="{BB962C8B-B14F-4D97-AF65-F5344CB8AC3E}">
        <p14:creationId xmlns:p14="http://schemas.microsoft.com/office/powerpoint/2010/main" val="1231511017"/>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CB5A756-453F-4BE2-88E9-D51D82229235}"/>
              </a:ext>
            </a:extLst>
          </p:cNvPr>
          <p:cNvSpPr>
            <a:spLocks xmlns:a="http://schemas.openxmlformats.org/drawingml/2006/main" noGrp="1"/>
          </p:cNvSpPr>
          <p:nvPr/>
        </p:nvSpPr>
        <p:spPr>
          <a:xfrm xmlns:a="http://schemas.openxmlformats.org/drawingml/2006/main">
            <a:off x="685800" y="552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17221F"/>
                </a:solidFill>
                <a:latin typeface="Georgia"/>
                <a:ea typeface="Georgia"/>
                <a:cs typeface="Georgia"/>
              </a:defRPr>
            </a:defPPr>
          </a:lstStyle>
          <a:p xmlns:a="http://schemas.openxmlformats.org/drawingml/2006/main">
            <a:pPr algn="l">
              <a:defRPr sz="3525" b="0">
                <a:solidFill>
                  <a:srgbClr val="17221F"/>
                </a:solidFill>
                <a:latin typeface="Georgia"/>
                <a:ea typeface="Georgia"/>
                <a:cs typeface="Georgia"/>
              </a:defRPr>
            </a:pPr>
            <a:r>
              <a:rPr sz="3525" b="0">
                <a:solidFill>
                  <a:srgbClr val="17221F"/>
                </a:solidFill>
                <a:latin typeface="Georgia"/>
                <a:ea typeface="Georgia"/>
                <a:cs typeface="Georgia"/>
              </a:rPr>
              <a:t>Team and integration status</a:t>
            </a:r>
          </a:p>
        </p:txBody>
      </p:sp>
      <p:sp>
        <p:nvSpPr>
          <p:cNvPr id="2" name="">
            <a:extLst xmlns:a="http://schemas.openxmlformats.org/drawingml/2006/main">
              <a:ext uri="{FF2B5EF4-FFF2-40B4-BE49-F238E27FC236}">
                <a16:creationId xmlns:a16="http://schemas.microsoft.com/office/drawing/2014/main" id="{4A36A003-3B47-4E1C-AF27-B32FF8C72615}"/>
              </a:ext>
            </a:extLst>
          </p:cNvPr>
          <p:cNvSpPr>
            <a:spLocks xmlns:a="http://schemas.openxmlformats.org/drawingml/2006/main" noGrp="1"/>
          </p:cNvSpPr>
          <p:nvPr/>
        </p:nvSpPr>
        <p:spPr>
          <a:xfrm xmlns:a="http://schemas.openxmlformats.org/drawingml/2006/main">
            <a:off x="704850" y="1381125"/>
            <a:ext cx="107727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11C3D24-D614-4B13-A96A-80C10A7944F4}"/>
              </a:ext>
            </a:extLst>
          </p:cNvPr>
          <p:cNvSpPr>
            <a:spLocks xmlns:a="http://schemas.openxmlformats.org/drawingml/2006/main" noGrp="1"/>
          </p:cNvSpPr>
          <p:nvPr/>
        </p:nvSpPr>
        <p:spPr>
          <a:xfrm xmlns:a="http://schemas.openxmlformats.org/drawingml/2006/main">
            <a:off x="11125200" y="6267450"/>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52605B"/>
                </a:solidFill>
                <a:latin typeface="Arial"/>
                <a:ea typeface="Arial"/>
                <a:cs typeface="Arial"/>
              </a:defRPr>
            </a:defPPr>
          </a:lstStyle>
          <a:p xmlns:a="http://schemas.openxmlformats.org/drawingml/2006/main">
            <a:pPr algn="r">
              <a:defRPr sz="1350" b="0">
                <a:solidFill>
                  <a:srgbClr val="52605B"/>
                </a:solidFill>
                <a:latin typeface="Arial"/>
                <a:ea typeface="Arial"/>
                <a:cs typeface="Arial"/>
              </a:defRPr>
            </a:pPr>
            <a:r>
              <a:rPr sz="1350" b="0">
                <a:solidFill>
                  <a:srgbClr val="52605B"/>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8145BB15-A2E6-4218-B3B5-D9F888E1591F}"/>
              </a:ext>
            </a:extLst>
          </p:cNvPr>
          <p:cNvSpPr>
            <a:spLocks xmlns:a="http://schemas.openxmlformats.org/drawingml/2006/main" noGrp="1"/>
          </p:cNvSpPr>
          <p:nvPr/>
        </p:nvSpPr>
        <p:spPr>
          <a:xfrm xmlns:a="http://schemas.openxmlformats.org/drawingml/2006/main">
            <a:off x="762000" y="1743075"/>
            <a:ext cx="4114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7221F"/>
                </a:solidFill>
                <a:latin typeface="Georgia"/>
                <a:ea typeface="Georgia"/>
                <a:cs typeface="Georgia"/>
              </a:defRPr>
            </a:defPPr>
          </a:lstStyle>
          <a:p xmlns:a="http://schemas.openxmlformats.org/drawingml/2006/main">
            <a:pPr algn="l">
              <a:defRPr sz="2250" b="0">
                <a:solidFill>
                  <a:srgbClr val="17221F"/>
                </a:solidFill>
                <a:latin typeface="Georgia"/>
                <a:ea typeface="Georgia"/>
                <a:cs typeface="Georgia"/>
              </a:defRPr>
            </a:pPr>
            <a:r>
              <a:rPr sz="2250" b="0">
                <a:solidFill>
                  <a:srgbClr val="17221F"/>
                </a:solidFill>
                <a:latin typeface="Georgia"/>
                <a:ea typeface="Georgia"/>
                <a:cs typeface="Georgia"/>
              </a:rPr>
              <a:t>Seoyoung Do</a:t>
            </a:r>
          </a:p>
        </p:txBody>
      </p:sp>
      <p:sp>
        <p:nvSpPr>
          <p:cNvPr id="5" name="">
            <a:extLst xmlns:a="http://schemas.openxmlformats.org/drawingml/2006/main">
              <a:ext uri="{FF2B5EF4-FFF2-40B4-BE49-F238E27FC236}">
                <a16:creationId xmlns:a16="http://schemas.microsoft.com/office/drawing/2014/main" id="{82BB9C79-E34F-4F83-942B-297F0F475EE7}"/>
              </a:ext>
            </a:extLst>
          </p:cNvPr>
          <p:cNvSpPr>
            <a:spLocks xmlns:a="http://schemas.openxmlformats.org/drawingml/2006/main" noGrp="1"/>
          </p:cNvSpPr>
          <p:nvPr/>
        </p:nvSpPr>
        <p:spPr>
          <a:xfrm xmlns:a="http://schemas.openxmlformats.org/drawingml/2006/main">
            <a:off x="5429250" y="1781175"/>
            <a:ext cx="554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0D765E"/>
                </a:solidFill>
                <a:latin typeface="Arial"/>
                <a:ea typeface="Arial"/>
                <a:cs typeface="Arial"/>
              </a:defRPr>
            </a:defPPr>
          </a:lstStyle>
          <a:p xmlns:a="http://schemas.openxmlformats.org/drawingml/2006/main">
            <a:pPr algn="l">
              <a:defRPr sz="2175" b="0">
                <a:solidFill>
                  <a:srgbClr val="0D765E"/>
                </a:solidFill>
                <a:latin typeface="Arial"/>
                <a:ea typeface="Arial"/>
                <a:cs typeface="Arial"/>
              </a:defRPr>
            </a:pPr>
            <a:r>
              <a:rPr sz="2175" b="0">
                <a:solidFill>
                  <a:srgbClr val="0D765E"/>
                </a:solidFill>
                <a:latin typeface="Arial"/>
                <a:ea typeface="Arial"/>
                <a:cs typeface="Arial"/>
              </a:rPr>
              <a:t>Comparison rubric</a:t>
            </a:r>
          </a:p>
        </p:txBody>
      </p:sp>
      <p:sp>
        <p:nvSpPr>
          <p:cNvPr id="6" name="">
            <a:extLst xmlns:a="http://schemas.openxmlformats.org/drawingml/2006/main">
              <a:ext uri="{FF2B5EF4-FFF2-40B4-BE49-F238E27FC236}">
                <a16:creationId xmlns:a16="http://schemas.microsoft.com/office/drawing/2014/main" id="{E6F5662C-ADDD-4BCF-A9C0-F5F85F86ED10}"/>
              </a:ext>
            </a:extLst>
          </p:cNvPr>
          <p:cNvSpPr>
            <a:spLocks xmlns:a="http://schemas.openxmlformats.org/drawingml/2006/main" noGrp="1"/>
          </p:cNvSpPr>
          <p:nvPr/>
        </p:nvSpPr>
        <p:spPr>
          <a:xfrm xmlns:a="http://schemas.openxmlformats.org/drawingml/2006/main">
            <a:off x="752475" y="2495550"/>
            <a:ext cx="10477500" cy="9525"/>
          </a:xfrm>
          <a:prstGeom xmlns:a="http://schemas.openxmlformats.org/drawingml/2006/main" prst="rect">
            <a:avLst/>
          </a:prstGeom>
          <a:solidFill xmlns:a="http://schemas.openxmlformats.org/drawingml/2006/main">
            <a:srgbClr val="DDE4D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44C6D19-A55D-4DBD-BC22-6A1264DA38EC}"/>
              </a:ext>
            </a:extLst>
          </p:cNvPr>
          <p:cNvSpPr>
            <a:spLocks xmlns:a="http://schemas.openxmlformats.org/drawingml/2006/main" noGrp="1"/>
          </p:cNvSpPr>
          <p:nvPr/>
        </p:nvSpPr>
        <p:spPr>
          <a:xfrm xmlns:a="http://schemas.openxmlformats.org/drawingml/2006/main">
            <a:off x="762000" y="2676525"/>
            <a:ext cx="4114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7221F"/>
                </a:solidFill>
                <a:latin typeface="Georgia"/>
                <a:ea typeface="Georgia"/>
                <a:cs typeface="Georgia"/>
              </a:defRPr>
            </a:defPPr>
          </a:lstStyle>
          <a:p xmlns:a="http://schemas.openxmlformats.org/drawingml/2006/main">
            <a:pPr algn="l">
              <a:defRPr sz="2250" b="0">
                <a:solidFill>
                  <a:srgbClr val="17221F"/>
                </a:solidFill>
                <a:latin typeface="Georgia"/>
                <a:ea typeface="Georgia"/>
                <a:cs typeface="Georgia"/>
              </a:defRPr>
            </a:pPr>
            <a:r>
              <a:rPr sz="2250" b="0">
                <a:solidFill>
                  <a:srgbClr val="17221F"/>
                </a:solidFill>
                <a:latin typeface="Georgia"/>
                <a:ea typeface="Georgia"/>
                <a:cs typeface="Georgia"/>
              </a:rPr>
              <a:t>Junseo Heo</a:t>
            </a:r>
          </a:p>
        </p:txBody>
      </p:sp>
      <p:sp>
        <p:nvSpPr>
          <p:cNvPr id="8" name="">
            <a:extLst xmlns:a="http://schemas.openxmlformats.org/drawingml/2006/main">
              <a:ext uri="{FF2B5EF4-FFF2-40B4-BE49-F238E27FC236}">
                <a16:creationId xmlns:a16="http://schemas.microsoft.com/office/drawing/2014/main" id="{C1927047-5817-4FEB-843B-042E66F9AB71}"/>
              </a:ext>
            </a:extLst>
          </p:cNvPr>
          <p:cNvSpPr>
            <a:spLocks xmlns:a="http://schemas.openxmlformats.org/drawingml/2006/main" noGrp="1"/>
          </p:cNvSpPr>
          <p:nvPr/>
        </p:nvSpPr>
        <p:spPr>
          <a:xfrm xmlns:a="http://schemas.openxmlformats.org/drawingml/2006/main">
            <a:off x="5429250" y="2714625"/>
            <a:ext cx="554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0D765E"/>
                </a:solidFill>
                <a:latin typeface="Arial"/>
                <a:ea typeface="Arial"/>
                <a:cs typeface="Arial"/>
              </a:defRPr>
            </a:defPPr>
          </a:lstStyle>
          <a:p xmlns:a="http://schemas.openxmlformats.org/drawingml/2006/main">
            <a:pPr algn="l">
              <a:defRPr sz="2175" b="0">
                <a:solidFill>
                  <a:srgbClr val="0D765E"/>
                </a:solidFill>
                <a:latin typeface="Arial"/>
                <a:ea typeface="Arial"/>
                <a:cs typeface="Arial"/>
              </a:defRPr>
            </a:pPr>
            <a:r>
              <a:rPr sz="2175" b="0">
                <a:solidFill>
                  <a:srgbClr val="0D765E"/>
                </a:solidFill>
                <a:latin typeface="Arial"/>
                <a:ea typeface="Arial"/>
                <a:cs typeface="Arial"/>
              </a:rPr>
              <a:t>v2 analysis pipeline</a:t>
            </a:r>
          </a:p>
        </p:txBody>
      </p:sp>
      <p:sp>
        <p:nvSpPr>
          <p:cNvPr id="9" name="">
            <a:extLst xmlns:a="http://schemas.openxmlformats.org/drawingml/2006/main">
              <a:ext uri="{FF2B5EF4-FFF2-40B4-BE49-F238E27FC236}">
                <a16:creationId xmlns:a16="http://schemas.microsoft.com/office/drawing/2014/main" id="{4EAFCB14-DBA9-400F-9CE1-5E4E6FF693A1}"/>
              </a:ext>
            </a:extLst>
          </p:cNvPr>
          <p:cNvSpPr>
            <a:spLocks xmlns:a="http://schemas.openxmlformats.org/drawingml/2006/main" noGrp="1"/>
          </p:cNvSpPr>
          <p:nvPr/>
        </p:nvSpPr>
        <p:spPr>
          <a:xfrm xmlns:a="http://schemas.openxmlformats.org/drawingml/2006/main">
            <a:off x="752475" y="3429000"/>
            <a:ext cx="10477500" cy="9525"/>
          </a:xfrm>
          <a:prstGeom xmlns:a="http://schemas.openxmlformats.org/drawingml/2006/main" prst="rect">
            <a:avLst/>
          </a:prstGeom>
          <a:solidFill xmlns:a="http://schemas.openxmlformats.org/drawingml/2006/main">
            <a:srgbClr val="DDE4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BB8F2F9-B895-44EB-A119-B25474AD2342}"/>
              </a:ext>
            </a:extLst>
          </p:cNvPr>
          <p:cNvSpPr>
            <a:spLocks xmlns:a="http://schemas.openxmlformats.org/drawingml/2006/main" noGrp="1"/>
          </p:cNvSpPr>
          <p:nvPr/>
        </p:nvSpPr>
        <p:spPr>
          <a:xfrm xmlns:a="http://schemas.openxmlformats.org/drawingml/2006/main">
            <a:off x="762000" y="3609975"/>
            <a:ext cx="4114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7221F"/>
                </a:solidFill>
                <a:latin typeface="Georgia"/>
                <a:ea typeface="Georgia"/>
                <a:cs typeface="Georgia"/>
              </a:defRPr>
            </a:defPPr>
          </a:lstStyle>
          <a:p xmlns:a="http://schemas.openxmlformats.org/drawingml/2006/main">
            <a:pPr algn="l">
              <a:defRPr sz="2250" b="0">
                <a:solidFill>
                  <a:srgbClr val="17221F"/>
                </a:solidFill>
                <a:latin typeface="Georgia"/>
                <a:ea typeface="Georgia"/>
                <a:cs typeface="Georgia"/>
              </a:defRPr>
            </a:pPr>
            <a:r>
              <a:rPr sz="2250" b="0">
                <a:solidFill>
                  <a:srgbClr val="17221F"/>
                </a:solidFill>
                <a:latin typeface="Georgia"/>
                <a:ea typeface="Georgia"/>
                <a:cs typeface="Georgia"/>
              </a:rPr>
              <a:t>Jinsol Lee</a:t>
            </a:r>
          </a:p>
        </p:txBody>
      </p:sp>
      <p:sp>
        <p:nvSpPr>
          <p:cNvPr id="11" name="">
            <a:extLst xmlns:a="http://schemas.openxmlformats.org/drawingml/2006/main">
              <a:ext uri="{FF2B5EF4-FFF2-40B4-BE49-F238E27FC236}">
                <a16:creationId xmlns:a16="http://schemas.microsoft.com/office/drawing/2014/main" id="{6E82F6C3-793C-40DA-B7B7-F83D0ECDBF32}"/>
              </a:ext>
            </a:extLst>
          </p:cNvPr>
          <p:cNvSpPr>
            <a:spLocks xmlns:a="http://schemas.openxmlformats.org/drawingml/2006/main" noGrp="1"/>
          </p:cNvSpPr>
          <p:nvPr/>
        </p:nvSpPr>
        <p:spPr>
          <a:xfrm xmlns:a="http://schemas.openxmlformats.org/drawingml/2006/main">
            <a:off x="5429250" y="3648075"/>
            <a:ext cx="554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0D765E"/>
                </a:solidFill>
                <a:latin typeface="Arial"/>
                <a:ea typeface="Arial"/>
                <a:cs typeface="Arial"/>
              </a:defRPr>
            </a:defPPr>
          </a:lstStyle>
          <a:p xmlns:a="http://schemas.openxmlformats.org/drawingml/2006/main">
            <a:pPr algn="l">
              <a:defRPr sz="2175" b="0">
                <a:solidFill>
                  <a:srgbClr val="0D765E"/>
                </a:solidFill>
                <a:latin typeface="Arial"/>
                <a:ea typeface="Arial"/>
                <a:cs typeface="Arial"/>
              </a:defRPr>
            </a:pPr>
            <a:r>
              <a:rPr sz="2175" b="0">
                <a:solidFill>
                  <a:srgbClr val="0D765E"/>
                </a:solidFill>
                <a:latin typeface="Arial"/>
                <a:ea typeface="Arial"/>
                <a:cs typeface="Arial"/>
              </a:rPr>
              <a:t>Android result screens</a:t>
            </a:r>
          </a:p>
        </p:txBody>
      </p:sp>
      <p:sp>
        <p:nvSpPr>
          <p:cNvPr id="12" name="">
            <a:extLst xmlns:a="http://schemas.openxmlformats.org/drawingml/2006/main">
              <a:ext uri="{FF2B5EF4-FFF2-40B4-BE49-F238E27FC236}">
                <a16:creationId xmlns:a16="http://schemas.microsoft.com/office/drawing/2014/main" id="{5A67D72C-2E58-45EB-A7AE-BE4B5724772D}"/>
              </a:ext>
            </a:extLst>
          </p:cNvPr>
          <p:cNvSpPr>
            <a:spLocks xmlns:a="http://schemas.openxmlformats.org/drawingml/2006/main" noGrp="1"/>
          </p:cNvSpPr>
          <p:nvPr/>
        </p:nvSpPr>
        <p:spPr>
          <a:xfrm xmlns:a="http://schemas.openxmlformats.org/drawingml/2006/main">
            <a:off x="752475" y="4362450"/>
            <a:ext cx="10477500" cy="9525"/>
          </a:xfrm>
          <a:prstGeom xmlns:a="http://schemas.openxmlformats.org/drawingml/2006/main" prst="rect">
            <a:avLst/>
          </a:prstGeom>
          <a:solidFill xmlns:a="http://schemas.openxmlformats.org/drawingml/2006/main">
            <a:srgbClr val="DDE4D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7D9D1F2-8E54-40FE-BAFC-E4C2A1103F71}"/>
              </a:ext>
            </a:extLst>
          </p:cNvPr>
          <p:cNvSpPr>
            <a:spLocks xmlns:a="http://schemas.openxmlformats.org/drawingml/2006/main" noGrp="1"/>
          </p:cNvSpPr>
          <p:nvPr/>
        </p:nvSpPr>
        <p:spPr>
          <a:xfrm xmlns:a="http://schemas.openxmlformats.org/drawingml/2006/main">
            <a:off x="762000" y="4543425"/>
            <a:ext cx="4114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7221F"/>
                </a:solidFill>
                <a:latin typeface="Georgia"/>
                <a:ea typeface="Georgia"/>
                <a:cs typeface="Georgia"/>
              </a:defRPr>
            </a:defPPr>
          </a:lstStyle>
          <a:p xmlns:a="http://schemas.openxmlformats.org/drawingml/2006/main">
            <a:pPr algn="l">
              <a:defRPr sz="2250" b="0">
                <a:solidFill>
                  <a:srgbClr val="17221F"/>
                </a:solidFill>
                <a:latin typeface="Georgia"/>
                <a:ea typeface="Georgia"/>
                <a:cs typeface="Georgia"/>
              </a:defRPr>
            </a:pPr>
            <a:r>
              <a:rPr sz="2250" b="0">
                <a:solidFill>
                  <a:srgbClr val="17221F"/>
                </a:solidFill>
                <a:latin typeface="Georgia"/>
                <a:ea typeface="Georgia"/>
                <a:cs typeface="Georgia"/>
              </a:rPr>
              <a:t>Seungmin Kim</a:t>
            </a:r>
          </a:p>
        </p:txBody>
      </p:sp>
      <p:sp>
        <p:nvSpPr>
          <p:cNvPr id="14" name="">
            <a:extLst xmlns:a="http://schemas.openxmlformats.org/drawingml/2006/main">
              <a:ext uri="{FF2B5EF4-FFF2-40B4-BE49-F238E27FC236}">
                <a16:creationId xmlns:a16="http://schemas.microsoft.com/office/drawing/2014/main" id="{BB23699A-75B5-4FA6-8E90-18A488A0CC82}"/>
              </a:ext>
            </a:extLst>
          </p:cNvPr>
          <p:cNvSpPr>
            <a:spLocks xmlns:a="http://schemas.openxmlformats.org/drawingml/2006/main" noGrp="1"/>
          </p:cNvSpPr>
          <p:nvPr/>
        </p:nvSpPr>
        <p:spPr>
          <a:xfrm xmlns:a="http://schemas.openxmlformats.org/drawingml/2006/main">
            <a:off x="5429250" y="4581525"/>
            <a:ext cx="554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0D765E"/>
                </a:solidFill>
                <a:latin typeface="Arial"/>
                <a:ea typeface="Arial"/>
                <a:cs typeface="Arial"/>
              </a:defRPr>
            </a:defPPr>
          </a:lstStyle>
          <a:p xmlns:a="http://schemas.openxmlformats.org/drawingml/2006/main">
            <a:pPr algn="l">
              <a:defRPr sz="2175" b="0">
                <a:solidFill>
                  <a:srgbClr val="0D765E"/>
                </a:solidFill>
                <a:latin typeface="Arial"/>
                <a:ea typeface="Arial"/>
                <a:cs typeface="Arial"/>
              </a:defRPr>
            </a:pPr>
            <a:r>
              <a:rPr sz="2175" b="0">
                <a:solidFill>
                  <a:srgbClr val="0D765E"/>
                </a:solidFill>
                <a:latin typeface="Arial"/>
                <a:ea typeface="Arial"/>
                <a:cs typeface="Arial"/>
              </a:rPr>
              <a:t>API integration, tests, demo</a:t>
            </a:r>
          </a:p>
        </p:txBody>
      </p:sp>
      <p:sp>
        <p:nvSpPr>
          <p:cNvPr id="15" name="">
            <a:extLst xmlns:a="http://schemas.openxmlformats.org/drawingml/2006/main">
              <a:ext uri="{FF2B5EF4-FFF2-40B4-BE49-F238E27FC236}">
                <a16:creationId xmlns:a16="http://schemas.microsoft.com/office/drawing/2014/main" id="{A22C0C8A-EF89-4684-9459-59671FE96E24}"/>
              </a:ext>
            </a:extLst>
          </p:cNvPr>
          <p:cNvSpPr>
            <a:spLocks xmlns:a="http://schemas.openxmlformats.org/drawingml/2006/main" noGrp="1"/>
          </p:cNvSpPr>
          <p:nvPr/>
        </p:nvSpPr>
        <p:spPr>
          <a:xfrm xmlns:a="http://schemas.openxmlformats.org/drawingml/2006/main">
            <a:off x="742950" y="5610225"/>
            <a:ext cx="10715625" cy="19050"/>
          </a:xfrm>
          <a:prstGeom xmlns:a="http://schemas.openxmlformats.org/drawingml/2006/main" prst="rect">
            <a:avLst/>
          </a:prstGeom>
          <a:solidFill xmlns:a="http://schemas.openxmlformats.org/drawingml/2006/main">
            <a:srgbClr val="17221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70175A6-70D0-458F-900D-A67F16E118F6}"/>
              </a:ext>
            </a:extLst>
          </p:cNvPr>
          <p:cNvSpPr>
            <a:spLocks xmlns:a="http://schemas.openxmlformats.org/drawingml/2006/main" noGrp="1"/>
          </p:cNvSpPr>
          <p:nvPr/>
        </p:nvSpPr>
        <p:spPr>
          <a:xfrm xmlns:a="http://schemas.openxmlformats.org/drawingml/2006/main">
            <a:off x="752475" y="5753100"/>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05B"/>
                </a:solidFill>
                <a:latin typeface="Arial"/>
                <a:ea typeface="Arial"/>
                <a:cs typeface="Arial"/>
              </a:defRPr>
            </a:defPPr>
          </a:lstStyle>
          <a:p xmlns:a="http://schemas.openxmlformats.org/drawingml/2006/main">
            <a:pPr algn="l">
              <a:defRPr sz="1725" b="0">
                <a:solidFill>
                  <a:srgbClr val="52605B"/>
                </a:solidFill>
                <a:latin typeface="Arial"/>
                <a:ea typeface="Arial"/>
                <a:cs typeface="Arial"/>
              </a:defRPr>
            </a:pPr>
            <a:r>
              <a:rPr sz="1725" b="0">
                <a:solidFill>
                  <a:srgbClr val="52605B"/>
                </a:solidFill>
                <a:latin typeface="Arial"/>
                <a:ea typeface="Arial"/>
                <a:cs typeface="Arial"/>
              </a:rPr>
              <a:t>Draft PR #10 connects the parts. Offline tests pass; live v2 remains to be checked.</a:t>
            </a:r>
          </a:p>
        </p:txBody>
      </p:sp>
    </p:spTree>
    <p:extLst>
      <p:ext uri="{BB962C8B-B14F-4D97-AF65-F5344CB8AC3E}">
        <p14:creationId xmlns:p14="http://schemas.microsoft.com/office/powerpoint/2010/main" val="287679998"/>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3060B0F-DA74-4D51-8E96-AF8EF25C06B1}"/>
              </a:ext>
            </a:extLst>
          </p:cNvPr>
          <p:cNvSpPr>
            <a:spLocks xmlns:a="http://schemas.openxmlformats.org/drawingml/2006/main" noGrp="1"/>
          </p:cNvSpPr>
          <p:nvPr/>
        </p:nvSpPr>
        <p:spPr>
          <a:xfrm xmlns:a="http://schemas.openxmlformats.org/drawingml/2006/main">
            <a:off x="685800" y="552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17221F"/>
                </a:solidFill>
                <a:latin typeface="Georgia"/>
                <a:ea typeface="Georgia"/>
                <a:cs typeface="Georgia"/>
              </a:defRPr>
            </a:defPPr>
          </a:lstStyle>
          <a:p xmlns:a="http://schemas.openxmlformats.org/drawingml/2006/main">
            <a:pPr algn="l">
              <a:defRPr sz="3525" b="0">
                <a:solidFill>
                  <a:srgbClr val="17221F"/>
                </a:solidFill>
                <a:latin typeface="Georgia"/>
                <a:ea typeface="Georgia"/>
                <a:cs typeface="Georgia"/>
              </a:defRPr>
            </a:pPr>
            <a:r>
              <a:rPr sz="3525" b="0">
                <a:solidFill>
                  <a:srgbClr val="17221F"/>
                </a:solidFill>
                <a:latin typeface="Georgia"/>
                <a:ea typeface="Georgia"/>
                <a:cs typeface="Georgia"/>
              </a:rPr>
              <a:t>Before we call it a demo</a:t>
            </a:r>
          </a:p>
        </p:txBody>
      </p:sp>
      <p:sp>
        <p:nvSpPr>
          <p:cNvPr id="2" name="">
            <a:extLst xmlns:a="http://schemas.openxmlformats.org/drawingml/2006/main">
              <a:ext uri="{FF2B5EF4-FFF2-40B4-BE49-F238E27FC236}">
                <a16:creationId xmlns:a16="http://schemas.microsoft.com/office/drawing/2014/main" id="{62C90395-4D74-47AA-82DC-42EA1A8A38CD}"/>
              </a:ext>
            </a:extLst>
          </p:cNvPr>
          <p:cNvSpPr>
            <a:spLocks xmlns:a="http://schemas.openxmlformats.org/drawingml/2006/main" noGrp="1"/>
          </p:cNvSpPr>
          <p:nvPr/>
        </p:nvSpPr>
        <p:spPr>
          <a:xfrm xmlns:a="http://schemas.openxmlformats.org/drawingml/2006/main">
            <a:off x="704850" y="1381125"/>
            <a:ext cx="107727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3F1B9F-4506-46BF-8830-613B07EC4E26}"/>
              </a:ext>
            </a:extLst>
          </p:cNvPr>
          <p:cNvSpPr>
            <a:spLocks xmlns:a="http://schemas.openxmlformats.org/drawingml/2006/main" noGrp="1"/>
          </p:cNvSpPr>
          <p:nvPr/>
        </p:nvSpPr>
        <p:spPr>
          <a:xfrm xmlns:a="http://schemas.openxmlformats.org/drawingml/2006/main">
            <a:off x="11125200" y="6267450"/>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52605B"/>
                </a:solidFill>
                <a:latin typeface="Arial"/>
                <a:ea typeface="Arial"/>
                <a:cs typeface="Arial"/>
              </a:defRPr>
            </a:defPPr>
          </a:lstStyle>
          <a:p xmlns:a="http://schemas.openxmlformats.org/drawingml/2006/main">
            <a:pPr algn="r">
              <a:defRPr sz="1350" b="0">
                <a:solidFill>
                  <a:srgbClr val="52605B"/>
                </a:solidFill>
                <a:latin typeface="Arial"/>
                <a:ea typeface="Arial"/>
                <a:cs typeface="Arial"/>
              </a:defRPr>
            </a:pPr>
            <a:r>
              <a:rPr sz="1350" b="0">
                <a:solidFill>
                  <a:srgbClr val="52605B"/>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D4C8C888-7708-4EAD-8B09-E2AF9C7317B2}"/>
              </a:ext>
            </a:extLst>
          </p:cNvPr>
          <p:cNvSpPr>
            <a:spLocks xmlns:a="http://schemas.openxmlformats.org/drawingml/2006/main" noGrp="1"/>
          </p:cNvSpPr>
          <p:nvPr/>
        </p:nvSpPr>
        <p:spPr>
          <a:xfrm xmlns:a="http://schemas.openxmlformats.org/drawingml/2006/main">
            <a:off x="752475" y="1743075"/>
            <a:ext cx="1104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975" b="0">
                <a:solidFill>
                  <a:srgbClr val="0D765E"/>
                </a:solidFill>
                <a:latin typeface="Georgia"/>
                <a:ea typeface="Georgia"/>
                <a:cs typeface="Georgia"/>
              </a:defRPr>
            </a:defPPr>
          </a:lstStyle>
          <a:p xmlns:a="http://schemas.openxmlformats.org/drawingml/2006/main">
            <a:pPr algn="l">
              <a:defRPr sz="3975" b="0">
                <a:solidFill>
                  <a:srgbClr val="0D765E"/>
                </a:solidFill>
                <a:latin typeface="Georgia"/>
                <a:ea typeface="Georgia"/>
                <a:cs typeface="Georgia"/>
              </a:defRPr>
            </a:pPr>
            <a:r>
              <a:rPr sz="3975" b="0">
                <a:solidFill>
                  <a:srgbClr val="0D765E"/>
                </a:solidFill>
                <a:latin typeface="Georgia"/>
                <a:ea typeface="Georgia"/>
                <a:cs typeface="Georgia"/>
              </a:rPr>
              <a:t>01</a:t>
            </a:r>
          </a:p>
        </p:txBody>
      </p:sp>
      <p:sp>
        <p:nvSpPr>
          <p:cNvPr id="5" name="">
            <a:extLst xmlns:a="http://schemas.openxmlformats.org/drawingml/2006/main">
              <a:ext uri="{FF2B5EF4-FFF2-40B4-BE49-F238E27FC236}">
                <a16:creationId xmlns:a16="http://schemas.microsoft.com/office/drawing/2014/main" id="{D3661B15-5B5A-4013-982D-B0DB05E57CA0}"/>
              </a:ext>
            </a:extLst>
          </p:cNvPr>
          <p:cNvSpPr>
            <a:spLocks xmlns:a="http://schemas.openxmlformats.org/drawingml/2006/main" noGrp="1"/>
          </p:cNvSpPr>
          <p:nvPr/>
        </p:nvSpPr>
        <p:spPr>
          <a:xfrm xmlns:a="http://schemas.openxmlformats.org/drawingml/2006/main">
            <a:off x="2000250" y="1743075"/>
            <a:ext cx="619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7221F"/>
                </a:solidFill>
                <a:latin typeface="Arial"/>
                <a:ea typeface="Arial"/>
                <a:cs typeface="Arial"/>
              </a:defRPr>
            </a:defPPr>
          </a:lstStyle>
          <a:p xmlns:a="http://schemas.openxmlformats.org/drawingml/2006/main">
            <a:pPr algn="l">
              <a:defRPr sz="2550" b="1">
                <a:solidFill>
                  <a:srgbClr val="17221F"/>
                </a:solidFill>
                <a:latin typeface="Arial"/>
                <a:ea typeface="Arial"/>
                <a:cs typeface="Arial"/>
              </a:defRPr>
            </a:pPr>
            <a:r>
              <a:rPr sz="2550" b="1">
                <a:solidFill>
                  <a:srgbClr val="17221F"/>
                </a:solidFill>
                <a:latin typeface="Arial"/>
                <a:ea typeface="Arial"/>
                <a:cs typeface="Arial"/>
              </a:rPr>
              <a:t>Run v2 on a public article</a:t>
            </a:r>
          </a:p>
        </p:txBody>
      </p:sp>
      <p:sp>
        <p:nvSpPr>
          <p:cNvPr id="6" name="">
            <a:extLst xmlns:a="http://schemas.openxmlformats.org/drawingml/2006/main">
              <a:ext uri="{FF2B5EF4-FFF2-40B4-BE49-F238E27FC236}">
                <a16:creationId xmlns:a16="http://schemas.microsoft.com/office/drawing/2014/main" id="{206EEC04-97BA-44A5-818B-AFB3A650EC43}"/>
              </a:ext>
            </a:extLst>
          </p:cNvPr>
          <p:cNvSpPr>
            <a:spLocks xmlns:a="http://schemas.openxmlformats.org/drawingml/2006/main" noGrp="1"/>
          </p:cNvSpPr>
          <p:nvPr/>
        </p:nvSpPr>
        <p:spPr>
          <a:xfrm xmlns:a="http://schemas.openxmlformats.org/drawingml/2006/main">
            <a:off x="2009775" y="23336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05B"/>
                </a:solidFill>
                <a:latin typeface="Arial"/>
                <a:ea typeface="Arial"/>
                <a:cs typeface="Arial"/>
              </a:defRPr>
            </a:defPPr>
          </a:lstStyle>
          <a:p xmlns:a="http://schemas.openxmlformats.org/drawingml/2006/main">
            <a:pPr algn="l">
              <a:defRPr sz="1875" b="0">
                <a:solidFill>
                  <a:srgbClr val="52605B"/>
                </a:solidFill>
                <a:latin typeface="Arial"/>
                <a:ea typeface="Arial"/>
                <a:cs typeface="Arial"/>
              </a:defRPr>
            </a:pPr>
            <a:r>
              <a:rPr sz="1875" b="0">
                <a:solidFill>
                  <a:srgbClr val="52605B"/>
                </a:solidFill>
                <a:latin typeface="Arial"/>
                <a:ea typeface="Arial"/>
                <a:cs typeface="Arial"/>
              </a:rPr>
              <a:t>Record status, analysis ID, and time.</a:t>
            </a:r>
          </a:p>
        </p:txBody>
      </p:sp>
      <p:sp>
        <p:nvSpPr>
          <p:cNvPr id="7" name="">
            <a:extLst xmlns:a="http://schemas.openxmlformats.org/drawingml/2006/main">
              <a:ext uri="{FF2B5EF4-FFF2-40B4-BE49-F238E27FC236}">
                <a16:creationId xmlns:a16="http://schemas.microsoft.com/office/drawing/2014/main" id="{4466E6A7-D65A-4798-8363-B2AD40F1FE4A}"/>
              </a:ext>
            </a:extLst>
          </p:cNvPr>
          <p:cNvSpPr>
            <a:spLocks xmlns:a="http://schemas.openxmlformats.org/drawingml/2006/main" noGrp="1"/>
          </p:cNvSpPr>
          <p:nvPr/>
        </p:nvSpPr>
        <p:spPr>
          <a:xfrm xmlns:a="http://schemas.openxmlformats.org/drawingml/2006/main">
            <a:off x="2000250" y="2847975"/>
            <a:ext cx="9429750" cy="9525"/>
          </a:xfrm>
          <a:prstGeom xmlns:a="http://schemas.openxmlformats.org/drawingml/2006/main" prst="rect">
            <a:avLst/>
          </a:prstGeom>
          <a:solidFill xmlns:a="http://schemas.openxmlformats.org/drawingml/2006/main">
            <a:srgbClr val="DDE4D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D7FEB54-3D0D-48BB-9D5B-D1DE170746E0}"/>
              </a:ext>
            </a:extLst>
          </p:cNvPr>
          <p:cNvSpPr>
            <a:spLocks xmlns:a="http://schemas.openxmlformats.org/drawingml/2006/main" noGrp="1"/>
          </p:cNvSpPr>
          <p:nvPr/>
        </p:nvSpPr>
        <p:spPr>
          <a:xfrm xmlns:a="http://schemas.openxmlformats.org/drawingml/2006/main">
            <a:off x="752475" y="3009900"/>
            <a:ext cx="1104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975" b="0">
                <a:solidFill>
                  <a:srgbClr val="0D765E"/>
                </a:solidFill>
                <a:latin typeface="Georgia"/>
                <a:ea typeface="Georgia"/>
                <a:cs typeface="Georgia"/>
              </a:defRPr>
            </a:defPPr>
          </a:lstStyle>
          <a:p xmlns:a="http://schemas.openxmlformats.org/drawingml/2006/main">
            <a:pPr algn="l">
              <a:defRPr sz="3975" b="0">
                <a:solidFill>
                  <a:srgbClr val="0D765E"/>
                </a:solidFill>
                <a:latin typeface="Georgia"/>
                <a:ea typeface="Georgia"/>
                <a:cs typeface="Georgia"/>
              </a:defRPr>
            </a:pPr>
            <a:r>
              <a:rPr sz="3975" b="0">
                <a:solidFill>
                  <a:srgbClr val="0D765E"/>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A335263F-02B5-433B-B5A0-5CD758CF91B0}"/>
              </a:ext>
            </a:extLst>
          </p:cNvPr>
          <p:cNvSpPr>
            <a:spLocks xmlns:a="http://schemas.openxmlformats.org/drawingml/2006/main" noGrp="1"/>
          </p:cNvSpPr>
          <p:nvPr/>
        </p:nvSpPr>
        <p:spPr>
          <a:xfrm xmlns:a="http://schemas.openxmlformats.org/drawingml/2006/main">
            <a:off x="2000250" y="3009900"/>
            <a:ext cx="619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7221F"/>
                </a:solidFill>
                <a:latin typeface="Arial"/>
                <a:ea typeface="Arial"/>
                <a:cs typeface="Arial"/>
              </a:defRPr>
            </a:defPPr>
          </a:lstStyle>
          <a:p xmlns:a="http://schemas.openxmlformats.org/drawingml/2006/main">
            <a:pPr algn="l">
              <a:defRPr sz="2550" b="1">
                <a:solidFill>
                  <a:srgbClr val="17221F"/>
                </a:solidFill>
                <a:latin typeface="Arial"/>
                <a:ea typeface="Arial"/>
                <a:cs typeface="Arial"/>
              </a:defRPr>
            </a:pPr>
            <a:r>
              <a:rPr sz="2550" b="1">
                <a:solidFill>
                  <a:srgbClr val="17221F"/>
                </a:solidFill>
                <a:latin typeface="Arial"/>
                <a:ea typeface="Arial"/>
                <a:cs typeface="Arial"/>
              </a:rPr>
              <a:t>Read the cited passages</a:t>
            </a:r>
          </a:p>
        </p:txBody>
      </p:sp>
      <p:sp>
        <p:nvSpPr>
          <p:cNvPr id="10" name="">
            <a:extLst xmlns:a="http://schemas.openxmlformats.org/drawingml/2006/main">
              <a:ext uri="{FF2B5EF4-FFF2-40B4-BE49-F238E27FC236}">
                <a16:creationId xmlns:a16="http://schemas.microsoft.com/office/drawing/2014/main" id="{2425F00E-B335-45F1-9C04-E6FE23269194}"/>
              </a:ext>
            </a:extLst>
          </p:cNvPr>
          <p:cNvSpPr>
            <a:spLocks xmlns:a="http://schemas.openxmlformats.org/drawingml/2006/main" noGrp="1"/>
          </p:cNvSpPr>
          <p:nvPr/>
        </p:nvSpPr>
        <p:spPr>
          <a:xfrm xmlns:a="http://schemas.openxmlformats.org/drawingml/2006/main">
            <a:off x="2009775" y="3600450"/>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05B"/>
                </a:solidFill>
                <a:latin typeface="Arial"/>
                <a:ea typeface="Arial"/>
                <a:cs typeface="Arial"/>
              </a:defRPr>
            </a:defPPr>
          </a:lstStyle>
          <a:p xmlns:a="http://schemas.openxmlformats.org/drawingml/2006/main">
            <a:pPr algn="l">
              <a:defRPr sz="1875" b="0">
                <a:solidFill>
                  <a:srgbClr val="52605B"/>
                </a:solidFill>
                <a:latin typeface="Arial"/>
                <a:ea typeface="Arial"/>
                <a:cs typeface="Arial"/>
              </a:defRPr>
            </a:pPr>
            <a:r>
              <a:rPr sz="1875" b="0">
                <a:solidFill>
                  <a:srgbClr val="52605B"/>
                </a:solidFill>
                <a:latin typeface="Arial"/>
                <a:ea typeface="Arial"/>
                <a:cs typeface="Arial"/>
              </a:rPr>
              <a:t>Check event, claim relation, quote, and speaker.</a:t>
            </a:r>
          </a:p>
        </p:txBody>
      </p:sp>
      <p:sp>
        <p:nvSpPr>
          <p:cNvPr id="11" name="">
            <a:extLst xmlns:a="http://schemas.openxmlformats.org/drawingml/2006/main">
              <a:ext uri="{FF2B5EF4-FFF2-40B4-BE49-F238E27FC236}">
                <a16:creationId xmlns:a16="http://schemas.microsoft.com/office/drawing/2014/main" id="{3D424012-74FA-45BD-9169-69FD3A6D584F}"/>
              </a:ext>
            </a:extLst>
          </p:cNvPr>
          <p:cNvSpPr>
            <a:spLocks xmlns:a="http://schemas.openxmlformats.org/drawingml/2006/main" noGrp="1"/>
          </p:cNvSpPr>
          <p:nvPr/>
        </p:nvSpPr>
        <p:spPr>
          <a:xfrm xmlns:a="http://schemas.openxmlformats.org/drawingml/2006/main">
            <a:off x="2000250" y="4114800"/>
            <a:ext cx="9429750" cy="9525"/>
          </a:xfrm>
          <a:prstGeom xmlns:a="http://schemas.openxmlformats.org/drawingml/2006/main" prst="rect">
            <a:avLst/>
          </a:prstGeom>
          <a:solidFill xmlns:a="http://schemas.openxmlformats.org/drawingml/2006/main">
            <a:srgbClr val="DDE4D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CF0AE0-D94D-491A-AC61-E3E339805D51}"/>
              </a:ext>
            </a:extLst>
          </p:cNvPr>
          <p:cNvSpPr>
            <a:spLocks xmlns:a="http://schemas.openxmlformats.org/drawingml/2006/main" noGrp="1"/>
          </p:cNvSpPr>
          <p:nvPr/>
        </p:nvSpPr>
        <p:spPr>
          <a:xfrm xmlns:a="http://schemas.openxmlformats.org/drawingml/2006/main">
            <a:off x="752475" y="4276725"/>
            <a:ext cx="1104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975" b="0">
                <a:solidFill>
                  <a:srgbClr val="0D765E"/>
                </a:solidFill>
                <a:latin typeface="Georgia"/>
                <a:ea typeface="Georgia"/>
                <a:cs typeface="Georgia"/>
              </a:defRPr>
            </a:defPPr>
          </a:lstStyle>
          <a:p xmlns:a="http://schemas.openxmlformats.org/drawingml/2006/main">
            <a:pPr algn="l">
              <a:defRPr sz="3975" b="0">
                <a:solidFill>
                  <a:srgbClr val="0D765E"/>
                </a:solidFill>
                <a:latin typeface="Georgia"/>
                <a:ea typeface="Georgia"/>
                <a:cs typeface="Georgia"/>
              </a:defRPr>
            </a:pPr>
            <a:r>
              <a:rPr sz="3975" b="0">
                <a:solidFill>
                  <a:srgbClr val="0D765E"/>
                </a:solidFill>
                <a:latin typeface="Georgia"/>
                <a:ea typeface="Georgia"/>
                <a:cs typeface="Georgia"/>
              </a:rPr>
              <a:t>03</a:t>
            </a:r>
          </a:p>
        </p:txBody>
      </p:sp>
      <p:sp>
        <p:nvSpPr>
          <p:cNvPr id="13" name="">
            <a:extLst xmlns:a="http://schemas.openxmlformats.org/drawingml/2006/main">
              <a:ext uri="{FF2B5EF4-FFF2-40B4-BE49-F238E27FC236}">
                <a16:creationId xmlns:a16="http://schemas.microsoft.com/office/drawing/2014/main" id="{349641CD-77E7-4B52-882A-22ABB720F001}"/>
              </a:ext>
            </a:extLst>
          </p:cNvPr>
          <p:cNvSpPr>
            <a:spLocks xmlns:a="http://schemas.openxmlformats.org/drawingml/2006/main" noGrp="1"/>
          </p:cNvSpPr>
          <p:nvPr/>
        </p:nvSpPr>
        <p:spPr>
          <a:xfrm xmlns:a="http://schemas.openxmlformats.org/drawingml/2006/main">
            <a:off x="2000250" y="4276725"/>
            <a:ext cx="619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7221F"/>
                </a:solidFill>
                <a:latin typeface="Arial"/>
                <a:ea typeface="Arial"/>
                <a:cs typeface="Arial"/>
              </a:defRPr>
            </a:defPPr>
          </a:lstStyle>
          <a:p xmlns:a="http://schemas.openxmlformats.org/drawingml/2006/main">
            <a:pPr algn="l">
              <a:defRPr sz="2550" b="1">
                <a:solidFill>
                  <a:srgbClr val="17221F"/>
                </a:solidFill>
                <a:latin typeface="Arial"/>
                <a:ea typeface="Arial"/>
                <a:cs typeface="Arial"/>
              </a:defRPr>
            </a:pPr>
            <a:r>
              <a:rPr sz="2550" b="1">
                <a:solidFill>
                  <a:srgbClr val="17221F"/>
                </a:solidFill>
                <a:latin typeface="Arial"/>
                <a:ea typeface="Arial"/>
                <a:cs typeface="Arial"/>
              </a:rPr>
              <a:t>Record the Android flow</a:t>
            </a:r>
          </a:p>
        </p:txBody>
      </p:sp>
      <p:sp>
        <p:nvSpPr>
          <p:cNvPr id="14" name="">
            <a:extLst xmlns:a="http://schemas.openxmlformats.org/drawingml/2006/main">
              <a:ext uri="{FF2B5EF4-FFF2-40B4-BE49-F238E27FC236}">
                <a16:creationId xmlns:a16="http://schemas.microsoft.com/office/drawing/2014/main" id="{3C7B8548-F033-4FC6-A35A-4344FF4BCF8C}"/>
              </a:ext>
            </a:extLst>
          </p:cNvPr>
          <p:cNvSpPr>
            <a:spLocks xmlns:a="http://schemas.openxmlformats.org/drawingml/2006/main" noGrp="1"/>
          </p:cNvSpPr>
          <p:nvPr/>
        </p:nvSpPr>
        <p:spPr>
          <a:xfrm xmlns:a="http://schemas.openxmlformats.org/drawingml/2006/main">
            <a:off x="2009775" y="486727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05B"/>
                </a:solidFill>
                <a:latin typeface="Arial"/>
                <a:ea typeface="Arial"/>
                <a:cs typeface="Arial"/>
              </a:defRPr>
            </a:defPPr>
          </a:lstStyle>
          <a:p xmlns:a="http://schemas.openxmlformats.org/drawingml/2006/main">
            <a:pPr algn="l">
              <a:defRPr sz="1875" b="0">
                <a:solidFill>
                  <a:srgbClr val="52605B"/>
                </a:solidFill>
                <a:latin typeface="Arial"/>
                <a:ea typeface="Arial"/>
                <a:cs typeface="Arial"/>
              </a:defRPr>
            </a:pPr>
            <a:r>
              <a:rPr sz="1875" b="0">
                <a:solidFill>
                  <a:srgbClr val="52605B"/>
                </a:solidFill>
                <a:latin typeface="Arial"/>
                <a:ea typeface="Arial"/>
                <a:cs typeface="Arial"/>
              </a:rPr>
              <a:t>Use that backend and APK; show the source page.</a:t>
            </a:r>
          </a:p>
        </p:txBody>
      </p:sp>
    </p:spTree>
    <p:extLst>
      <p:ext uri="{BB962C8B-B14F-4D97-AF65-F5344CB8AC3E}">
        <p14:creationId xmlns:p14="http://schemas.microsoft.com/office/powerpoint/2010/main" val="1302224683"/>
      </p:ext>
    </p:extLst>
  </p:cSld>
</p:sld>
</file>

<file path=ppt/slides/slide1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2FCCC7C-7BC6-406C-8BCB-B382BC044883}"/>
              </a:ext>
            </a:extLst>
          </p:cNvPr>
          <p:cNvSpPr>
            <a:spLocks xmlns:a="http://schemas.openxmlformats.org/drawingml/2006/main" noGrp="1"/>
          </p:cNvSpPr>
          <p:nvPr/>
        </p:nvSpPr>
        <p:spPr>
          <a:xfrm xmlns:a="http://schemas.openxmlformats.org/drawingml/2006/main">
            <a:off x="685800" y="552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0">
                <a:solidFill>
                  <a:srgbClr val="17221F"/>
                </a:solidFill>
                <a:latin typeface="Georgia"/>
                <a:ea typeface="Georgia"/>
                <a:cs typeface="Georgia"/>
              </a:defRPr>
            </a:defPPr>
          </a:lstStyle>
          <a:p xmlns:a="http://schemas.openxmlformats.org/drawingml/2006/main">
            <a:pPr algn="l">
              <a:defRPr sz="3525" b="0">
                <a:solidFill>
                  <a:srgbClr val="17221F"/>
                </a:solidFill>
                <a:latin typeface="Georgia"/>
                <a:ea typeface="Georgia"/>
                <a:cs typeface="Georgia"/>
              </a:defRPr>
            </a:pPr>
            <a:r>
              <a:rPr sz="3525" b="0">
                <a:solidFill>
                  <a:srgbClr val="17221F"/>
                </a:solidFill>
                <a:latin typeface="Georgia"/>
                <a:ea typeface="Georgia"/>
                <a:cs typeface="Georgia"/>
              </a:rPr>
              <a:t>AI in the workflow</a:t>
            </a:r>
          </a:p>
        </p:txBody>
      </p:sp>
      <p:sp>
        <p:nvSpPr>
          <p:cNvPr id="2" name="">
            <a:extLst xmlns:a="http://schemas.openxmlformats.org/drawingml/2006/main">
              <a:ext uri="{FF2B5EF4-FFF2-40B4-BE49-F238E27FC236}">
                <a16:creationId xmlns:a16="http://schemas.microsoft.com/office/drawing/2014/main" id="{8D756D50-B045-4D36-BEB2-345F5B1E8983}"/>
              </a:ext>
            </a:extLst>
          </p:cNvPr>
          <p:cNvSpPr>
            <a:spLocks xmlns:a="http://schemas.openxmlformats.org/drawingml/2006/main" noGrp="1"/>
          </p:cNvSpPr>
          <p:nvPr/>
        </p:nvSpPr>
        <p:spPr>
          <a:xfrm xmlns:a="http://schemas.openxmlformats.org/drawingml/2006/main">
            <a:off x="704850" y="1381125"/>
            <a:ext cx="10772775" cy="19050"/>
          </a:xfrm>
          <a:prstGeom xmlns:a="http://schemas.openxmlformats.org/drawingml/2006/main" prst="rect">
            <a:avLst/>
          </a:prstGeom>
          <a:solidFill xmlns:a="http://schemas.openxmlformats.org/drawingml/2006/main">
            <a:srgbClr val="B9C4B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EC4383-A086-4850-B6EB-0DB9A276DBA2}"/>
              </a:ext>
            </a:extLst>
          </p:cNvPr>
          <p:cNvSpPr>
            <a:spLocks xmlns:a="http://schemas.openxmlformats.org/drawingml/2006/main" noGrp="1"/>
          </p:cNvSpPr>
          <p:nvPr/>
        </p:nvSpPr>
        <p:spPr>
          <a:xfrm xmlns:a="http://schemas.openxmlformats.org/drawingml/2006/main">
            <a:off x="11125200" y="6267450"/>
            <a:ext cx="409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0">
                <a:solidFill>
                  <a:srgbClr val="52605B"/>
                </a:solidFill>
                <a:latin typeface="Arial"/>
                <a:ea typeface="Arial"/>
                <a:cs typeface="Arial"/>
              </a:defRPr>
            </a:defPPr>
          </a:lstStyle>
          <a:p xmlns:a="http://schemas.openxmlformats.org/drawingml/2006/main">
            <a:pPr algn="r">
              <a:defRPr sz="1350" b="0">
                <a:solidFill>
                  <a:srgbClr val="52605B"/>
                </a:solidFill>
                <a:latin typeface="Arial"/>
                <a:ea typeface="Arial"/>
                <a:cs typeface="Arial"/>
              </a:defRPr>
            </a:pPr>
            <a:r>
              <a:rPr sz="1350" b="0">
                <a:solidFill>
                  <a:srgbClr val="52605B"/>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313FE0A2-BD2F-42B6-864D-7D3B9E061F82}"/>
              </a:ext>
            </a:extLst>
          </p:cNvPr>
          <p:cNvSpPr>
            <a:spLocks xmlns:a="http://schemas.openxmlformats.org/drawingml/2006/main" noGrp="1"/>
          </p:cNvSpPr>
          <p:nvPr/>
        </p:nvSpPr>
        <p:spPr>
          <a:xfrm xmlns:a="http://schemas.openxmlformats.org/drawingml/2006/main">
            <a:off x="742950" y="1781175"/>
            <a:ext cx="101917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600" b="0">
                <a:solidFill>
                  <a:srgbClr val="17221F"/>
                </a:solidFill>
                <a:latin typeface="Georgia"/>
                <a:ea typeface="Georgia"/>
                <a:cs typeface="Georgia"/>
              </a:defRPr>
            </a:defPPr>
          </a:lstStyle>
          <a:p xmlns:a="http://schemas.openxmlformats.org/drawingml/2006/main">
            <a:pPr algn="l">
              <a:defRPr sz="3600" b="0">
                <a:solidFill>
                  <a:srgbClr val="17221F"/>
                </a:solidFill>
                <a:latin typeface="Georgia"/>
                <a:ea typeface="Georgia"/>
                <a:cs typeface="Georgia"/>
              </a:defRPr>
            </a:pPr>
            <a:r>
              <a:rPr sz="3600" b="0">
                <a:solidFill>
                  <a:srgbClr val="17221F"/>
                </a:solidFill>
                <a:latin typeface="Georgia"/>
                <a:ea typeface="Georgia"/>
                <a:cs typeface="Georgia"/>
              </a:rPr>
              <a:t>AI drafted a first pass.</a:t>
            </a:r>
          </a:p>
          <a:p xmlns:a="http://schemas.openxmlformats.org/drawingml/2006/main">
            <a:pPr algn="l">
              <a:defRPr sz="3600" b="0">
                <a:solidFill>
                  <a:srgbClr val="17221F"/>
                </a:solidFill>
                <a:latin typeface="Georgia"/>
                <a:ea typeface="Georgia"/>
                <a:cs typeface="Georgia"/>
              </a:defRPr>
            </a:pPr>
            <a:r>
              <a:rPr sz="3600" b="0">
                <a:solidFill>
                  <a:srgbClr val="17221F"/>
                </a:solidFill>
                <a:latin typeface="Georgia"/>
                <a:ea typeface="Georgia"/>
                <a:cs typeface="Georgia"/>
              </a:rPr>
              <a:t>Review caught a relation mismatch.</a:t>
            </a:r>
          </a:p>
        </p:txBody>
      </p:sp>
      <p:sp>
        <p:nvSpPr>
          <p:cNvPr id="5" name="">
            <a:extLst xmlns:a="http://schemas.openxmlformats.org/drawingml/2006/main">
              <a:ext uri="{FF2B5EF4-FFF2-40B4-BE49-F238E27FC236}">
                <a16:creationId xmlns:a16="http://schemas.microsoft.com/office/drawing/2014/main" id="{90ACEDB9-0BF4-4660-9FC8-4D9D7ABDA815}"/>
              </a:ext>
            </a:extLst>
          </p:cNvPr>
          <p:cNvSpPr>
            <a:spLocks xmlns:a="http://schemas.openxmlformats.org/drawingml/2006/main" noGrp="1"/>
          </p:cNvSpPr>
          <p:nvPr/>
        </p:nvSpPr>
        <p:spPr>
          <a:xfrm xmlns:a="http://schemas.openxmlformats.org/drawingml/2006/main">
            <a:off x="742950" y="3733800"/>
            <a:ext cx="10706100" cy="19050"/>
          </a:xfrm>
          <a:prstGeom xmlns:a="http://schemas.openxmlformats.org/drawingml/2006/main" prst="rect">
            <a:avLst/>
          </a:prstGeom>
          <a:solidFill xmlns:a="http://schemas.openxmlformats.org/drawingml/2006/main">
            <a:srgbClr val="17221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B770AA4-52F7-45F4-89DA-D83C02B27349}"/>
              </a:ext>
            </a:extLst>
          </p:cNvPr>
          <p:cNvSpPr>
            <a:spLocks xmlns:a="http://schemas.openxmlformats.org/drawingml/2006/main" noGrp="1"/>
          </p:cNvSpPr>
          <p:nvPr/>
        </p:nvSpPr>
        <p:spPr>
          <a:xfrm xmlns:a="http://schemas.openxmlformats.org/drawingml/2006/main">
            <a:off x="742950" y="4019550"/>
            <a:ext cx="4905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0D765E"/>
                </a:solidFill>
                <a:latin typeface="Arial"/>
                <a:ea typeface="Arial"/>
                <a:cs typeface="Arial"/>
              </a:defRPr>
            </a:defPPr>
          </a:lstStyle>
          <a:p xmlns:a="http://schemas.openxmlformats.org/drawingml/2006/main">
            <a:pPr algn="l">
              <a:defRPr sz="2175" b="1">
                <a:solidFill>
                  <a:srgbClr val="0D765E"/>
                </a:solidFill>
                <a:latin typeface="Arial"/>
                <a:ea typeface="Arial"/>
                <a:cs typeface="Arial"/>
              </a:defRPr>
            </a:pPr>
            <a:r>
              <a:rPr sz="2175" b="1">
                <a:solidFill>
                  <a:srgbClr val="0D765E"/>
                </a:solidFill>
                <a:latin typeface="Arial"/>
                <a:ea typeface="Arial"/>
                <a:cs typeface="Arial"/>
              </a:rPr>
              <a:t>Code checks</a:t>
            </a:r>
          </a:p>
        </p:txBody>
      </p:sp>
      <p:sp>
        <p:nvSpPr>
          <p:cNvPr id="7" name="">
            <a:extLst xmlns:a="http://schemas.openxmlformats.org/drawingml/2006/main">
              <a:ext uri="{FF2B5EF4-FFF2-40B4-BE49-F238E27FC236}">
                <a16:creationId xmlns:a16="http://schemas.microsoft.com/office/drawing/2014/main" id="{39D62575-6306-4B76-9E1D-A6D867418B18}"/>
              </a:ext>
            </a:extLst>
          </p:cNvPr>
          <p:cNvSpPr>
            <a:spLocks xmlns:a="http://schemas.openxmlformats.org/drawingml/2006/main" noGrp="1"/>
          </p:cNvSpPr>
          <p:nvPr/>
        </p:nvSpPr>
        <p:spPr>
          <a:xfrm xmlns:a="http://schemas.openxmlformats.org/drawingml/2006/main">
            <a:off x="752475" y="4610100"/>
            <a:ext cx="4686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0">
                <a:solidFill>
                  <a:srgbClr val="17221F"/>
                </a:solidFill>
                <a:latin typeface="Arial"/>
                <a:ea typeface="Arial"/>
                <a:cs typeface="Arial"/>
              </a:defRPr>
            </a:defPPr>
          </a:lstStyle>
          <a:p xmlns:a="http://schemas.openxmlformats.org/drawingml/2006/main">
            <a:pPr algn="l">
              <a:defRPr sz="1950" b="0">
                <a:solidFill>
                  <a:srgbClr val="17221F"/>
                </a:solidFill>
                <a:latin typeface="Arial"/>
                <a:ea typeface="Arial"/>
                <a:cs typeface="Arial"/>
              </a:defRPr>
            </a:pPr>
            <a:r>
              <a:rPr sz="1950" b="0">
                <a:solidFill>
                  <a:srgbClr val="17221F"/>
                </a:solidFill>
                <a:latin typeface="Arial"/>
                <a:ea typeface="Arial"/>
                <a:cs typeface="Arial"/>
              </a:rPr>
              <a:t>IDs, quote spans, source links, failure states</a:t>
            </a:r>
          </a:p>
        </p:txBody>
      </p:sp>
      <p:sp>
        <p:nvSpPr>
          <p:cNvPr id="8" name="">
            <a:extLst xmlns:a="http://schemas.openxmlformats.org/drawingml/2006/main">
              <a:ext uri="{FF2B5EF4-FFF2-40B4-BE49-F238E27FC236}">
                <a16:creationId xmlns:a16="http://schemas.microsoft.com/office/drawing/2014/main" id="{DF79302B-8D77-4B3D-91DE-3D1B1E58E601}"/>
              </a:ext>
            </a:extLst>
          </p:cNvPr>
          <p:cNvSpPr>
            <a:spLocks xmlns:a="http://schemas.openxmlformats.org/drawingml/2006/main" noGrp="1"/>
          </p:cNvSpPr>
          <p:nvPr/>
        </p:nvSpPr>
        <p:spPr>
          <a:xfrm xmlns:a="http://schemas.openxmlformats.org/drawingml/2006/main">
            <a:off x="6410325" y="4019550"/>
            <a:ext cx="4819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AD5136"/>
                </a:solidFill>
                <a:latin typeface="Arial"/>
                <a:ea typeface="Arial"/>
                <a:cs typeface="Arial"/>
              </a:defRPr>
            </a:defPPr>
          </a:lstStyle>
          <a:p xmlns:a="http://schemas.openxmlformats.org/drawingml/2006/main">
            <a:pPr algn="l">
              <a:defRPr sz="2175" b="1">
                <a:solidFill>
                  <a:srgbClr val="AD5136"/>
                </a:solidFill>
                <a:latin typeface="Arial"/>
                <a:ea typeface="Arial"/>
                <a:cs typeface="Arial"/>
              </a:defRPr>
            </a:pPr>
            <a:r>
              <a:rPr sz="2175" b="1">
                <a:solidFill>
                  <a:srgbClr val="AD5136"/>
                </a:solidFill>
                <a:latin typeface="Arial"/>
                <a:ea typeface="Arial"/>
                <a:cs typeface="Arial"/>
              </a:rPr>
              <a:t>People still need to check</a:t>
            </a:r>
          </a:p>
        </p:txBody>
      </p:sp>
      <p:sp>
        <p:nvSpPr>
          <p:cNvPr id="9" name="">
            <a:extLst xmlns:a="http://schemas.openxmlformats.org/drawingml/2006/main">
              <a:ext uri="{FF2B5EF4-FFF2-40B4-BE49-F238E27FC236}">
                <a16:creationId xmlns:a16="http://schemas.microsoft.com/office/drawing/2014/main" id="{B1FD0644-C7C4-4474-A26B-977F9FE6B0D7}"/>
              </a:ext>
            </a:extLst>
          </p:cNvPr>
          <p:cNvSpPr>
            <a:spLocks xmlns:a="http://schemas.openxmlformats.org/drawingml/2006/main" noGrp="1"/>
          </p:cNvSpPr>
          <p:nvPr/>
        </p:nvSpPr>
        <p:spPr>
          <a:xfrm xmlns:a="http://schemas.openxmlformats.org/drawingml/2006/main">
            <a:off x="6419850" y="4610100"/>
            <a:ext cx="47815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0">
                <a:solidFill>
                  <a:srgbClr val="17221F"/>
                </a:solidFill>
                <a:latin typeface="Arial"/>
                <a:ea typeface="Arial"/>
                <a:cs typeface="Arial"/>
              </a:defRPr>
            </a:defPPr>
          </a:lstStyle>
          <a:p xmlns:a="http://schemas.openxmlformats.org/drawingml/2006/main">
            <a:pPr algn="l">
              <a:defRPr sz="1950" b="0">
                <a:solidFill>
                  <a:srgbClr val="17221F"/>
                </a:solidFill>
                <a:latin typeface="Arial"/>
                <a:ea typeface="Arial"/>
                <a:cs typeface="Arial"/>
              </a:defRPr>
            </a:pPr>
            <a:r>
              <a:rPr sz="1950" b="0">
                <a:solidFill>
                  <a:srgbClr val="17221F"/>
                </a:solidFill>
                <a:latin typeface="Arial"/>
                <a:ea typeface="Arial"/>
                <a:cs typeface="Arial"/>
              </a:rPr>
              <a:t>Same-event selection and the meaning of each comparison</a:t>
            </a:r>
          </a:p>
        </p:txBody>
      </p:sp>
    </p:spTree>
    <p:extLst>
      <p:ext uri="{BB962C8B-B14F-4D97-AF65-F5344CB8AC3E}">
        <p14:creationId xmlns:p14="http://schemas.microsoft.com/office/powerpoint/2010/main" val="1908502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2026-10-18T10:30:39.2410000Z</dcterms:created>
  <dcterms:modified xsi:type="dcterms:W3CDTF">2026-10-18T10:30:39.2410000Z</dcterms:modified>
</coreProperties>
</file>