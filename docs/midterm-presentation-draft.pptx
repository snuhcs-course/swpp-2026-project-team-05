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eeb3da2914b4e07" /><Relationship Type="http://schemas.openxmlformats.org/officeDocument/2006/relationships/extended-properties" Target="/docProps/app.xml" Id="Re7d1795273e84047" /><Relationship Type="http://schemas.openxmlformats.org/officeDocument/2006/relationships/officeDocument" Target="/ppt/presentation.xml" Id="Re671fd46907e4632" /></Relationships>
</file>

<file path=ppt/presentation.xml><?xml version="1.0" encoding="utf-8"?>
<p:presentation xmlns:p="http://schemas.openxmlformats.org/presentationml/2006/main">
  <p:sldMasterIdLst>
    <p:sldMasterId xmlns:r="http://schemas.openxmlformats.org/officeDocument/2006/relationships" id="2147483648" r:id="Rb24d1d1ac0a34e9f"/>
  </p:sldMasterIdLst>
  <p:notesMasterIdLst>
    <p:notesMasterId xmlns:r="http://schemas.openxmlformats.org/officeDocument/2006/relationships" r:id="R712b780ac9ed4329"/>
  </p:notesMasterIdLst>
  <p:sldIdLst>
    <p:sldId xmlns:r="http://schemas.openxmlformats.org/officeDocument/2006/relationships" id="256" r:id="Re0e300d56b8f485a"/>
    <p:sldId xmlns:r="http://schemas.openxmlformats.org/officeDocument/2006/relationships" id="257" r:id="R7b940e16eeef42fd"/>
    <p:sldId xmlns:r="http://schemas.openxmlformats.org/officeDocument/2006/relationships" id="258" r:id="Rae8b5828683e4f11"/>
    <p:sldId xmlns:r="http://schemas.openxmlformats.org/officeDocument/2006/relationships" id="259" r:id="Rc1ef24438f3341e5"/>
    <p:sldId xmlns:r="http://schemas.openxmlformats.org/officeDocument/2006/relationships" id="260" r:id="Rcb1e51dcf0324d1d"/>
    <p:sldId xmlns:r="http://schemas.openxmlformats.org/officeDocument/2006/relationships" id="261" r:id="R0803bf3b46044a68"/>
    <p:sldId xmlns:r="http://schemas.openxmlformats.org/officeDocument/2006/relationships" id="262" r:id="R2e9328ba75484b51"/>
    <p:sldId xmlns:r="http://schemas.openxmlformats.org/officeDocument/2006/relationships" id="263" r:id="R092765fc8f584c66"/>
    <p:sldId xmlns:r="http://schemas.openxmlformats.org/officeDocument/2006/relationships" id="264" r:id="R0534f5efe5144aef"/>
    <p:sldId xmlns:r="http://schemas.openxmlformats.org/officeDocument/2006/relationships" id="265" r:id="Rf1771004b1094389"/>
    <p:sldId xmlns:r="http://schemas.openxmlformats.org/officeDocument/2006/relationships" id="266" r:id="R41a0d56426844da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06f63b4e9c54faf" /><Relationship Type="http://schemas.openxmlformats.org/officeDocument/2006/relationships/slideMaster" Target="/ppt/slideMasters/slideMaster1.xml" Id="Rb24d1d1ac0a34e9f" /><Relationship Type="http://schemas.openxmlformats.org/officeDocument/2006/relationships/notesMaster" Target="/ppt/notesMasters/notesMaster1.xml" Id="R712b780ac9ed4329" /><Relationship Type="http://schemas.openxmlformats.org/officeDocument/2006/relationships/presProps" Target="/ppt/presProps.xml" Id="R29f09b1ffabd4390" /><Relationship Type="http://schemas.openxmlformats.org/officeDocument/2006/relationships/tableStyles" Target="/ppt/tableStyles.xml" Id="Ree352072fcad4408" /><Relationship Type="http://schemas.openxmlformats.org/officeDocument/2006/relationships/slide" Target="/ppt/slides/slide1.xml" Id="Re0e300d56b8f485a" /><Relationship Type="http://schemas.openxmlformats.org/officeDocument/2006/relationships/slide" Target="/ppt/slides/slide2.xml" Id="R7b940e16eeef42fd" /><Relationship Type="http://schemas.openxmlformats.org/officeDocument/2006/relationships/slide" Target="/ppt/slides/slide3.xml" Id="Rae8b5828683e4f11" /><Relationship Type="http://schemas.openxmlformats.org/officeDocument/2006/relationships/slide" Target="/ppt/slides/slide4.xml" Id="Rc1ef24438f3341e5" /><Relationship Type="http://schemas.openxmlformats.org/officeDocument/2006/relationships/slide" Target="/ppt/slides/slide5.xml" Id="Rcb1e51dcf0324d1d" /><Relationship Type="http://schemas.openxmlformats.org/officeDocument/2006/relationships/slide" Target="/ppt/slides/slide6.xml" Id="R0803bf3b46044a68" /><Relationship Type="http://schemas.openxmlformats.org/officeDocument/2006/relationships/slide" Target="/ppt/slides/slide7.xml" Id="R2e9328ba75484b51" /><Relationship Type="http://schemas.openxmlformats.org/officeDocument/2006/relationships/slide" Target="/ppt/slides/slide8.xml" Id="R092765fc8f584c66" /><Relationship Type="http://schemas.openxmlformats.org/officeDocument/2006/relationships/slide" Target="/ppt/slides/slide9.xml" Id="R0534f5efe5144aef" /><Relationship Type="http://schemas.openxmlformats.org/officeDocument/2006/relationships/slide" Target="/ppt/slides/slide10.xml" Id="Rf1771004b1094389" /><Relationship Type="http://schemas.openxmlformats.org/officeDocument/2006/relationships/slide" Target="/ppt/slides/slide11.xml" Id="R41a0d56426844d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b535295a0b40b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e64abb1f074bb7" /><Relationship Type="http://schemas.openxmlformats.org/officeDocument/2006/relationships/notesMaster" Target="/ppt/notesMasters/notesMaster1.xml" Id="R0e1ee3aea6a246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85473b653204a80" /><Relationship Type="http://schemas.openxmlformats.org/officeDocument/2006/relationships/notesMaster" Target="/ppt/notesMasters/notesMaster1.xml" Id="R79a3fd481eb245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700267f80f41c7" /><Relationship Type="http://schemas.openxmlformats.org/officeDocument/2006/relationships/notesMaster" Target="/ppt/notesMasters/notesMaster1.xml" Id="Rb4f53e7ab94643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be64d95bc74b9f" /><Relationship Type="http://schemas.openxmlformats.org/officeDocument/2006/relationships/notesMaster" Target="/ppt/notesMasters/notesMaster1.xml" Id="R45639eaf7ea5453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9b16c52cda466e" /><Relationship Type="http://schemas.openxmlformats.org/officeDocument/2006/relationships/notesMaster" Target="/ppt/notesMasters/notesMaster1.xml" Id="Re9d9573637e247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60d2578bc94312" /><Relationship Type="http://schemas.openxmlformats.org/officeDocument/2006/relationships/notesMaster" Target="/ppt/notesMasters/notesMaster1.xml" Id="R6e330d9092df46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f3c82a1e184a5f" /><Relationship Type="http://schemas.openxmlformats.org/officeDocument/2006/relationships/notesMaster" Target="/ppt/notesMasters/notesMaster1.xml" Id="Re4a0084fbaed40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5e96cb46d143d6" /><Relationship Type="http://schemas.openxmlformats.org/officeDocument/2006/relationships/notesMaster" Target="/ppt/notesMasters/notesMaster1.xml" Id="Rf419029c615c48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7f21bff7294bc1" /><Relationship Type="http://schemas.openxmlformats.org/officeDocument/2006/relationships/notesMaster" Target="/ppt/notesMasters/notesMaster1.xml" Id="R6ef103047b6c4a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e8b24e510944a98" /><Relationship Type="http://schemas.openxmlformats.org/officeDocument/2006/relationships/notesMaster" Target="/ppt/notesMasters/notesMaster1.xml" Id="Ra61453744c5e4ee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266cabcda184343" /><Relationship Type="http://schemas.openxmlformats.org/officeDocument/2006/relationships/notesMaster" Target="/ppt/notesMasters/notesMaster1.xml" Id="R8b9a7d2ff69e4b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A reader starts with one Korean news article. FrameLESS looks for reports of the same event and shows the passages that address claims in the chosen article. We do not issue an article-wide truth or political-bias verdict.</a:t>
            </a:r>
          </a:p>
          <a:p xmlns:a="http://schemas.openxmlformats.org/drawingml/2006/main">
            <a:r>
              <a:t/>
            </a:r>
          </a:p>
          <a:p xmlns:a="http://schemas.openxmlformats.org/drawingml/2006/main">
            <a:r>
              <a:t>SOURCES AND STATUS</a:t>
            </a:r>
          </a:p>
          <a:p xmlns:a="http://schemas.openxmlformats.org/drawingml/2006/main">
            <a:r>
              <a:t>Project requirements: https://github.com/snuhcs-course/swpp-2026-project-team-05/wiki/Requirements-and-Specifications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Our Iteration 1 review considered NAVER News for discovery. Ground News describes story-level coverage and outlet context in its own material. FrameLESS focuses on passages tied to the reader-selected article. This slide is positioning, not a claim that other products never show source text.</a:t>
            </a:r>
          </a:p>
          <a:p xmlns:a="http://schemas.openxmlformats.org/drawingml/2006/main">
            <a:r>
              <a:t/>
            </a:r>
          </a:p>
          <a:p xmlns:a="http://schemas.openxmlformats.org/drawingml/2006/main">
            <a:r>
              <a:t>SOURCES AND STATUS</a:t>
            </a:r>
          </a:p>
          <a:p xmlns:a="http://schemas.openxmlformats.org/drawingml/2006/main">
            <a:r>
              <a:t>FrameLESS competitive review: https://github.com/snuhcs-course/swpp-2026-project-team-05/wiki/Requirements-and-Specifications</a:t>
            </a:r>
          </a:p>
          <a:p xmlns:a="http://schemas.openxmlformats.org/drawingml/2006/main">
            <a:r>
              <a:t>Ground News product description: https://help.ground.news/en/articles/485057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Follow one action per stage. The output is a way to inspect reporting differences, not a fact-check label. Public article pages can block extraction, so missing and recoverable error states matter.</a:t>
            </a:r>
          </a:p>
          <a:p xmlns:a="http://schemas.openxmlformats.org/drawingml/2006/main">
            <a:r>
              <a:t/>
            </a:r>
          </a:p>
          <a:p xmlns:a="http://schemas.openxmlformats.org/drawingml/2006/main">
            <a:r>
              <a:t>SOURCES AND STATUS</a:t>
            </a:r>
          </a:p>
          <a:p xmlns:a="http://schemas.openxmlformats.org/drawingml/2006/main">
            <a:r>
              <a:t>Product flow: https://github.com/snuhcs-course/swpp-2026-project-team-05/wiki/Requirements-and-Specifications</a:t>
            </a:r>
          </a:p>
          <a:p xmlns:a="http://schemas.openxmlformats.org/drawingml/2006/main">
            <a:r>
              <a:t>PR #10 merged into main at 6b75cb9 and v2 was deployed on 18 October. The first live API call reached comparison but rubric validation failed. Android remains unverified after a local emulator HTTPS certificate trust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Iteration 1 delivered an end-to-end app and a deployed backend. Its limitations made us separate true absence from an unavailable or incomplete comparison. The old demo video is historical and must be labeled Iteration 1 if used.</a:t>
            </a:r>
          </a:p>
          <a:p xmlns:a="http://schemas.openxmlformats.org/drawingml/2006/main">
            <a:r>
              <a:t/>
            </a:r>
          </a:p>
          <a:p xmlns:a="http://schemas.openxmlformats.org/drawingml/2006/main">
            <a:r>
              <a:t>SOURCES AND STATUS</a:t>
            </a:r>
          </a:p>
          <a:p xmlns:a="http://schemas.openxmlformats.org/drawingml/2006/main">
            <a:r>
              <a:t>Iteration 1 design: https://github.com/snuhcs-course/swpp-2026-project-team-05/wiki/Design-Documentation</a:t>
            </a:r>
          </a:p>
          <a:p xmlns:a="http://schemas.openxmlformats.org/drawingml/2006/main">
            <a:r>
              <a:t>Iteration 1 video: https://github.com/snuhcs-course/swpp-2026-project-team-05/blob/iteration-1-demo/docs/demo/iteration-1-demo.mp4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adopted rubric is I1–I5 for information and A–G for reporter expression. It distinguishes not found, uncertain, and unscored; a low expression value is not absolute neutrality. Seoyoung’s proposed question grouping P3 is not presented as a shipped feature.</a:t>
            </a:r>
          </a:p>
          <a:p xmlns:a="http://schemas.openxmlformats.org/drawingml/2006/main">
            <a:r>
              <a:t/>
            </a:r>
          </a:p>
          <a:p xmlns:a="http://schemas.openxmlformats.org/drawingml/2006/main">
            <a:r>
              <a:t>SOURCES AND STATUS</a:t>
            </a:r>
          </a:p>
          <a:p xmlns:a="http://schemas.openxmlformats.org/drawingml/2006/main">
            <a:r>
              <a:t>Rubric implementation: server/analysis/v2/rubric_analysis.py</a:t>
            </a:r>
          </a:p>
          <a:p xmlns:a="http://schemas.openxmlformats.org/drawingml/2006/main">
            <a:r>
              <a:t>Team discussion: https://swpp2026fall.slack.com/archives/C0C56TCMKU6/p1792113199423159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Android client sends an article URL to Django. The server fetches article text, searches through NAVER API HUB, calls Gemini, and returns source-linked JSON. The integrated v2 server was deployed to the existing Vercel URL on 18 October. Its first live request returned HTTP 200 in 46.3 seconds with comparison available; rubric validation failed and the overall status was partial. Source accuracy and the Android path remain unverified. API keys remain server-side.</a:t>
            </a:r>
          </a:p>
          <a:p xmlns:a="http://schemas.openxmlformats.org/drawingml/2006/main">
            <a:r>
              <a:t/>
            </a:r>
          </a:p>
          <a:p xmlns:a="http://schemas.openxmlformats.org/drawingml/2006/main">
            <a:r>
              <a:t>SOURCES AND STATUS</a:t>
            </a:r>
          </a:p>
          <a:p xmlns:a="http://schemas.openxmlformats.org/drawingml/2006/main">
            <a:r>
              <a:t>Architecture history: https://github.com/snuhcs-course/swpp-2026-project-team-05/wiki/Design-Documentation</a:t>
            </a:r>
          </a:p>
          <a:p xmlns:a="http://schemas.openxmlformats.org/drawingml/2006/main">
            <a:r>
              <a:t>Current contract: server/views.py and server/analysis/v2_adapter.py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adapter preserves stable article and claim IDs, a literal source passage and URL, relation and speaker attribution, and partial or unavailable states. Offline tests and a synthetic-response emulator run check the contract and screen path. A first live API call reached comparison, but rubric validation failed. None of these checks establishes the semantic quality of a model judgment. Consult the testing draft for revision-specific results.</a:t>
            </a:r>
          </a:p>
          <a:p xmlns:a="http://schemas.openxmlformats.org/drawingml/2006/main">
            <a:r>
              <a:t/>
            </a:r>
          </a:p>
          <a:p xmlns:a="http://schemas.openxmlformats.org/drawingml/2006/main">
            <a:r>
              <a:t>SOURCES AND STATUS</a:t>
            </a:r>
          </a:p>
          <a:p xmlns:a="http://schemas.openxmlformats.org/drawingml/2006/main">
            <a:r>
              <a:t>Adapter: server/analysis/v2_adapter.py</a:t>
            </a:r>
          </a:p>
          <a:p xmlns:a="http://schemas.openxmlformats.org/drawingml/2006/main">
            <a:r>
              <a:t>Testing draft: docs/testing-documentation-iter2.md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screenshot came from an emulator using a mocked HTTP response. It demonstrates screen navigation and rendering, not a live Gemini or NAVER result. Separately, the first production API request returned HTTP 200 in 46.3 seconds with three input claims, three related articles, and comparison available. Rubric validation failed, giving an overall partial status. Android remains unverified after a local emulator HTTPS certificate trust error. Replace or supplement this slide only after a complete recorded run of the exact backend and APK. If unavailable, label the historical Iteration 1 clip as such.</a:t>
            </a:r>
          </a:p>
          <a:p xmlns:a="http://schemas.openxmlformats.org/drawingml/2006/main">
            <a:r>
              <a:t/>
            </a:r>
          </a:p>
          <a:p xmlns:a="http://schemas.openxmlformats.org/drawingml/2006/main">
            <a:r>
              <a:t>SOURCES AND STATUS</a:t>
            </a:r>
          </a:p>
          <a:p xmlns:a="http://schemas.openxmlformats.org/drawingml/2006/main">
            <a:r>
              <a:t>Synthetic screen: docs/testing-assets/android-synthetic-rubric.png</a:t>
            </a:r>
          </a:p>
          <a:p xmlns:a="http://schemas.openxmlformats.org/drawingml/2006/main">
            <a:r>
              <a:t>Live sign-off checklist: docs/midterm-presentation-outline.md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team assignment came from Slack. Jinsol’s UI and Junseo’s pipeline are connected through Django in PR #10, merged into main at 6b75cb9. The server was deployed to the existing Vercel URL on 18 October. One real API request reached comparison; rubric validation failed. Android remains unverified after a local emulator HTTPS certificate trust error. A complete demo is not yet signed off.</a:t>
            </a:r>
          </a:p>
          <a:p xmlns:a="http://schemas.openxmlformats.org/drawingml/2006/main">
            <a:r>
              <a:t/>
            </a:r>
          </a:p>
          <a:p xmlns:a="http://schemas.openxmlformats.org/drawingml/2006/main">
            <a:r>
              <a:t>SOURCES AND STATUS</a:t>
            </a:r>
          </a:p>
          <a:p xmlns:a="http://schemas.openxmlformats.org/drawingml/2006/main">
            <a:r>
              <a:t>Team roles: https://swpp2026fall.slack.com/archives/C0C56TCMKU6/p1791896799209629</a:t>
            </a:r>
          </a:p>
          <a:p xmlns:a="http://schemas.openxmlformats.org/drawingml/2006/main">
            <a:r>
              <a:t>Integration PR: https://github.com/snuhcs-course/swpp-2026-project-team-05/pull/10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first deployed API request reached comparison in 46.3 seconds but rubric validation failed. Fix and rerun that stage, check source passages and model relations against the articles, then repeat the Android walkthrough after a local emulator HTTPS certificate trust error. The demo branch and Iteration 2 package follow those checks.</a:t>
            </a:r>
          </a:p>
          <a:p xmlns:a="http://schemas.openxmlformats.org/drawingml/2006/main">
            <a:r>
              <a:t/>
            </a:r>
          </a:p>
          <a:p xmlns:a="http://schemas.openxmlformats.org/drawingml/2006/main">
            <a:r>
              <a:t>SOURCES AND STATUS</a:t>
            </a:r>
          </a:p>
          <a:p xmlns:a="http://schemas.openxmlformats.org/drawingml/2006/main">
            <a:r>
              <a:t>Iteration 2 submission notice: https://swpp2026fall.slack.com/archives/C0BUL8N1864/p1791763218720289</a:t>
            </a:r>
          </a:p>
          <a:p xmlns:a="http://schemas.openxmlformats.org/drawingml/2006/main">
            <a:r>
              <a:t>Test gaps: docs/testing-documentation-iter2.md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In this integration, AI assisted with adapter and test drafting. Final review found that a claim relation could be withheld in the comparison card but asserted in the I1 card. We fixed both to show a withheld judgment and added regression tests. A passing fixture test does not prove that Gemini’s interpretation is fair. This is an account of the current integration work; ask each teammate for a real AI-use example before speaking for the whole team.</a:t>
            </a:r>
          </a:p>
          <a:p xmlns:a="http://schemas.openxmlformats.org/drawingml/2006/main">
            <a:r>
              <a:t/>
            </a:r>
          </a:p>
          <a:p xmlns:a="http://schemas.openxmlformats.org/drawingml/2006/main">
            <a:r>
              <a:t>SOURCES AND STATUS</a:t>
            </a:r>
          </a:p>
          <a:p xmlns:a="http://schemas.openxmlformats.org/drawingml/2006/main">
            <a:r>
              <a:t>Current contract: server/analysis/v2_adapter.py</a:t>
            </a:r>
          </a:p>
          <a:p xmlns:a="http://schemas.openxmlformats.org/drawingml/2006/main">
            <a:r>
              <a:t>AI collaboration Wiki: https://github.com/snuhcs-course/swpp-2026-project-team-05/wiki/AI-Collaboration-Report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6289880a29485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1bf306ff1064ec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43521c462014ae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86eb11492d245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af6d1ed233c479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a637dba9a74ef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62E4EE-3DCD-4E02-B91C-9B36C12728C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AF4BC07-468E-42B1-9996-C061018E70B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250860-455D-47E4-B5D3-6ABFBA12B73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FE4B69-42EF-4227-AC79-F37DD543F1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B537218-D708-4EB2-91CA-5D5D5A13045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19767CF-B557-48FC-8559-3AEAF615B7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D64AF1-30E4-4E1F-9918-65CB568ADE0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969FBAA-1ECD-4D90-91D4-234654D110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FC2F74-0978-4F7D-8D83-A0605404BE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F29500-4A40-4EA5-A313-0518201A70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39e60fb64c41be" /><Relationship Type="http://schemas.openxmlformats.org/officeDocument/2006/relationships/slideLayout" Target="/ppt/slideLayouts/slideLayout1.xml" Id="R2d18196eacc24fc7" /><Relationship Type="http://schemas.openxmlformats.org/officeDocument/2006/relationships/slideLayout" Target="/ppt/slideLayouts/slideLayout2.xml" Id="R3192137db7d24948" /><Relationship Type="http://schemas.openxmlformats.org/officeDocument/2006/relationships/slideLayout" Target="/ppt/slideLayouts/slideLayout3.xml" Id="R7c2f19bbc3114ff8" /><Relationship Type="http://schemas.openxmlformats.org/officeDocument/2006/relationships/slideLayout" Target="/ppt/slideLayouts/slideLayout4.xml" Id="R2aa87b282e7b47dc" /><Relationship Type="http://schemas.openxmlformats.org/officeDocument/2006/relationships/slideLayout" Target="/ppt/slideLayouts/slideLayout5.xml" Id="R770d6aa74b4349b8" /><Relationship Type="http://schemas.openxmlformats.org/officeDocument/2006/relationships/slideLayout" Target="/ppt/slideLayouts/slideLayout6.xml" Id="R96be2a6bad2942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18196eacc24fc7"/>
    <p:sldLayoutId xmlns:r="http://schemas.openxmlformats.org/officeDocument/2006/relationships" id="2147483650" r:id="R3192137db7d24948"/>
    <p:sldLayoutId xmlns:r="http://schemas.openxmlformats.org/officeDocument/2006/relationships" id="2147483651" r:id="R7c2f19bbc3114ff8"/>
    <p:sldLayoutId xmlns:r="http://schemas.openxmlformats.org/officeDocument/2006/relationships" id="2147483652" r:id="R2aa87b282e7b47dc"/>
    <p:sldLayoutId xmlns:r="http://schemas.openxmlformats.org/officeDocument/2006/relationships" id="2147483653" r:id="R770d6aa74b4349b8"/>
    <p:sldLayoutId xmlns:r="http://schemas.openxmlformats.org/officeDocument/2006/relationships" id="2147483654" r:id="R96be2a6bad2942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2e903a953ad4a40" /><Relationship Type="http://schemas.openxmlformats.org/officeDocument/2006/relationships/notesSlide" Target="/ppt/notesSlides/notesSlide1.xml" Id="R569daf535c2a48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6da9a6eeae24d1c" /><Relationship Type="http://schemas.openxmlformats.org/officeDocument/2006/relationships/notesSlide" Target="/ppt/notesSlides/notesSlide2.xml" Id="Re6e1e7c5ba894c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6636d53597741bb" /><Relationship Type="http://schemas.openxmlformats.org/officeDocument/2006/relationships/notesSlide" Target="/ppt/notesSlides/notesSlide3.xml" Id="R67b1ab8dcb6847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d24f9168d0c433d" /><Relationship Type="http://schemas.openxmlformats.org/officeDocument/2006/relationships/notesSlide" Target="/ppt/notesSlides/notesSlide4.xml" Id="R815c2a0e2ea244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d821ba91a014282" /><Relationship Type="http://schemas.openxmlformats.org/officeDocument/2006/relationships/notesSlide" Target="/ppt/notesSlides/notesSlide5.xml" Id="R948c56679ec145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a88f31242424319" /><Relationship Type="http://schemas.openxmlformats.org/officeDocument/2006/relationships/notesSlide" Target="/ppt/notesSlides/notesSlide6.xml" Id="Rde02fb32bd6448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1e39c7aabb54fdf" /><Relationship Type="http://schemas.openxmlformats.org/officeDocument/2006/relationships/notesSlide" Target="/ppt/notesSlides/notesSlide7.xml" Id="R96215033843b42a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d4efc9fd37d4afc" /><Relationship Type="http://schemas.openxmlformats.org/officeDocument/2006/relationships/image" Target="/ppt/media/image.png" Id="Rf6cad14ef4cb4cd1" /><Relationship Type="http://schemas.openxmlformats.org/officeDocument/2006/relationships/notesSlide" Target="/ppt/notesSlides/notesSlide8.xml" Id="R4c1132ce6ac543e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e842d1f5dcc4ae2" /><Relationship Type="http://schemas.openxmlformats.org/officeDocument/2006/relationships/notesSlide" Target="/ppt/notesSlides/notesSlide9.xml" Id="R26d2ee62a9ce46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192bb6fa1874bdc" /><Relationship Type="http://schemas.openxmlformats.org/officeDocument/2006/relationships/notesSlide" Target="/ppt/notesSlides/notesSlide10.xml" Id="R93ec0558c33d4b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6304605b9f642d7" /><Relationship Type="http://schemas.openxmlformats.org/officeDocument/2006/relationships/notesSlide" Target="/ppt/notesSlides/notesSlide11.xml" Id="R307505f6f89645fd" /></Relationships>
</file>

<file path=ppt/slides/slide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7BFC27-3935-4859-852D-D39BAA0EAF0A}"/>
              </a:ext>
            </a:extLst>
          </p:cNvPr>
          <p:cNvSpPr>
            <a:spLocks xmlns:a="http://schemas.openxmlformats.org/drawingml/2006/main" noGrp="1"/>
          </p:cNvSpPr>
          <p:nvPr/>
        </p:nvSpPr>
        <p:spPr>
          <a:xfrm xmlns:a="http://schemas.openxmlformats.org/drawingml/2006/main">
            <a:off x="704850" y="514350"/>
            <a:ext cx="628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0D765E"/>
                </a:solidFill>
                <a:latin typeface="Arial"/>
                <a:ea typeface="Arial"/>
                <a:cs typeface="Arial"/>
              </a:defRPr>
            </a:defPPr>
          </a:lstStyle>
          <a:p xmlns:a="http://schemas.openxmlformats.org/drawingml/2006/main">
            <a:pPr algn="l">
              <a:defRPr sz="1425" b="1">
                <a:solidFill>
                  <a:srgbClr val="0D765E"/>
                </a:solidFill>
                <a:latin typeface="Arial"/>
                <a:ea typeface="Arial"/>
                <a:cs typeface="Arial"/>
              </a:defRPr>
            </a:pPr>
            <a:r>
              <a:rPr sz="1425" b="1">
                <a:solidFill>
                  <a:srgbClr val="0D765E"/>
                </a:solidFill>
                <a:latin typeface="Arial"/>
                <a:ea typeface="Arial"/>
                <a:cs typeface="Arial"/>
              </a:rPr>
              <a:t>SWPP 2026 FALL     TEAM 05</a:t>
            </a:r>
          </a:p>
        </p:txBody>
      </p:sp>
      <p:sp>
        <p:nvSpPr>
          <p:cNvPr id="2" name="">
            <a:extLst xmlns:a="http://schemas.openxmlformats.org/drawingml/2006/main">
              <a:ext uri="{FF2B5EF4-FFF2-40B4-BE49-F238E27FC236}">
                <a16:creationId xmlns:a16="http://schemas.microsoft.com/office/drawing/2014/main" id="{9A3A2A06-79C8-4669-AF6B-DD4CBC2EA466}"/>
              </a:ext>
            </a:extLst>
          </p:cNvPr>
          <p:cNvSpPr>
            <a:spLocks xmlns:a="http://schemas.openxmlformats.org/drawingml/2006/main" noGrp="1"/>
          </p:cNvSpPr>
          <p:nvPr/>
        </p:nvSpPr>
        <p:spPr>
          <a:xfrm xmlns:a="http://schemas.openxmlformats.org/drawingml/2006/main">
            <a:off x="704850" y="1028700"/>
            <a:ext cx="10763250"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F9A8AA9-849C-448A-8F14-FBAF15ADCC31}"/>
              </a:ext>
            </a:extLst>
          </p:cNvPr>
          <p:cNvSpPr>
            <a:spLocks xmlns:a="http://schemas.openxmlformats.org/drawingml/2006/main" noGrp="1"/>
          </p:cNvSpPr>
          <p:nvPr/>
        </p:nvSpPr>
        <p:spPr>
          <a:xfrm xmlns:a="http://schemas.openxmlformats.org/drawingml/2006/main">
            <a:off x="666750" y="1600200"/>
            <a:ext cx="10096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7500" b="0">
                <a:solidFill>
                  <a:srgbClr val="17221F"/>
                </a:solidFill>
                <a:latin typeface="Georgia"/>
                <a:ea typeface="Georgia"/>
                <a:cs typeface="Georgia"/>
              </a:defRPr>
            </a:defPPr>
          </a:lstStyle>
          <a:p xmlns:a="http://schemas.openxmlformats.org/drawingml/2006/main">
            <a:pPr algn="l">
              <a:defRPr sz="7500" b="0">
                <a:solidFill>
                  <a:srgbClr val="17221F"/>
                </a:solidFill>
                <a:latin typeface="Georgia"/>
                <a:ea typeface="Georgia"/>
                <a:cs typeface="Georgia"/>
              </a:defRPr>
            </a:pPr>
            <a:r>
              <a:rPr sz="7500" b="0">
                <a:solidFill>
                  <a:srgbClr val="17221F"/>
                </a:solidFill>
                <a:latin typeface="Georgia"/>
                <a:ea typeface="Georgia"/>
                <a:cs typeface="Georgia"/>
              </a:rPr>
              <a:t>FrameLESS</a:t>
            </a:r>
          </a:p>
        </p:txBody>
      </p:sp>
      <p:sp>
        <p:nvSpPr>
          <p:cNvPr id="4" name="">
            <a:extLst xmlns:a="http://schemas.openxmlformats.org/drawingml/2006/main">
              <a:ext uri="{FF2B5EF4-FFF2-40B4-BE49-F238E27FC236}">
                <a16:creationId xmlns:a16="http://schemas.microsoft.com/office/drawing/2014/main" id="{AB75F8D7-ED82-43BA-B82C-3F0ABB4198B7}"/>
              </a:ext>
            </a:extLst>
          </p:cNvPr>
          <p:cNvSpPr>
            <a:spLocks xmlns:a="http://schemas.openxmlformats.org/drawingml/2006/main" noGrp="1"/>
          </p:cNvSpPr>
          <p:nvPr/>
        </p:nvSpPr>
        <p:spPr>
          <a:xfrm xmlns:a="http://schemas.openxmlformats.org/drawingml/2006/main">
            <a:off x="714375" y="3409950"/>
            <a:ext cx="10001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0D765E"/>
                </a:solidFill>
                <a:latin typeface="Georgia"/>
                <a:ea typeface="Georgia"/>
                <a:cs typeface="Georgia"/>
              </a:defRPr>
            </a:defPPr>
          </a:lstStyle>
          <a:p xmlns:a="http://schemas.openxmlformats.org/drawingml/2006/main">
            <a:pPr algn="l">
              <a:defRPr sz="3525" b="0">
                <a:solidFill>
                  <a:srgbClr val="0D765E"/>
                </a:solidFill>
                <a:latin typeface="Georgia"/>
                <a:ea typeface="Georgia"/>
                <a:cs typeface="Georgia"/>
              </a:defRPr>
            </a:pPr>
            <a:r>
              <a:rPr sz="3525" b="0">
                <a:solidFill>
                  <a:srgbClr val="0D765E"/>
                </a:solidFill>
                <a:latin typeface="Georgia"/>
                <a:ea typeface="Georgia"/>
                <a:cs typeface="Georgia"/>
              </a:rPr>
              <a:t>Read the same event across sources.</a:t>
            </a:r>
          </a:p>
        </p:txBody>
      </p:sp>
      <p:sp>
        <p:nvSpPr>
          <p:cNvPr id="5" name="">
            <a:extLst xmlns:a="http://schemas.openxmlformats.org/drawingml/2006/main">
              <a:ext uri="{FF2B5EF4-FFF2-40B4-BE49-F238E27FC236}">
                <a16:creationId xmlns:a16="http://schemas.microsoft.com/office/drawing/2014/main" id="{5BC3590A-31C4-4CF2-945B-D661D3DC029A}"/>
              </a:ext>
            </a:extLst>
          </p:cNvPr>
          <p:cNvSpPr>
            <a:spLocks xmlns:a="http://schemas.openxmlformats.org/drawingml/2006/main" noGrp="1"/>
          </p:cNvSpPr>
          <p:nvPr/>
        </p:nvSpPr>
        <p:spPr>
          <a:xfrm xmlns:a="http://schemas.openxmlformats.org/drawingml/2006/main">
            <a:off x="733425" y="4762500"/>
            <a:ext cx="9906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0">
                <a:solidFill>
                  <a:srgbClr val="17221F"/>
                </a:solidFill>
                <a:latin typeface="Arial"/>
                <a:ea typeface="Arial"/>
                <a:cs typeface="Arial"/>
              </a:defRPr>
            </a:defPPr>
          </a:lstStyle>
          <a:p xmlns:a="http://schemas.openxmlformats.org/drawingml/2006/main">
            <a:pPr algn="l">
              <a:defRPr sz="2025" b="0">
                <a:solidFill>
                  <a:srgbClr val="17221F"/>
                </a:solidFill>
                <a:latin typeface="Arial"/>
                <a:ea typeface="Arial"/>
                <a:cs typeface="Arial"/>
              </a:defRPr>
            </a:pPr>
            <a:r>
              <a:rPr sz="2025" b="0">
                <a:solidFill>
                  <a:srgbClr val="17221F"/>
                </a:solidFill>
                <a:latin typeface="Arial"/>
                <a:ea typeface="Arial"/>
                <a:cs typeface="Arial"/>
              </a:rPr>
              <a:t>An Android app that puts original passages beside the claims they address.</a:t>
            </a:r>
          </a:p>
        </p:txBody>
      </p:sp>
      <p:sp>
        <p:nvSpPr>
          <p:cNvPr id="6" name="">
            <a:extLst xmlns:a="http://schemas.openxmlformats.org/drawingml/2006/main">
              <a:ext uri="{FF2B5EF4-FFF2-40B4-BE49-F238E27FC236}">
                <a16:creationId xmlns:a16="http://schemas.microsoft.com/office/drawing/2014/main" id="{F7CC3160-0393-44BA-9445-E9B3CAB8A1F7}"/>
              </a:ext>
            </a:extLst>
          </p:cNvPr>
          <p:cNvSpPr>
            <a:spLocks xmlns:a="http://schemas.openxmlformats.org/drawingml/2006/main" noGrp="1"/>
          </p:cNvSpPr>
          <p:nvPr/>
        </p:nvSpPr>
        <p:spPr>
          <a:xfrm xmlns:a="http://schemas.openxmlformats.org/drawingml/2006/main">
            <a:off x="714375" y="5857875"/>
            <a:ext cx="1076325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6D5FA6E-C841-4624-BD5B-23D22B33A43C}"/>
              </a:ext>
            </a:extLst>
          </p:cNvPr>
          <p:cNvSpPr>
            <a:spLocks xmlns:a="http://schemas.openxmlformats.org/drawingml/2006/main" noGrp="1"/>
          </p:cNvSpPr>
          <p:nvPr/>
        </p:nvSpPr>
        <p:spPr>
          <a:xfrm xmlns:a="http://schemas.openxmlformats.org/drawingml/2006/main">
            <a:off x="733425" y="6048375"/>
            <a:ext cx="1000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0">
                <a:solidFill>
                  <a:srgbClr val="52605B"/>
                </a:solidFill>
                <a:latin typeface="Arial"/>
                <a:ea typeface="Arial"/>
                <a:cs typeface="Arial"/>
              </a:defRPr>
            </a:defPPr>
          </a:lstStyle>
          <a:p xmlns:a="http://schemas.openxmlformats.org/drawingml/2006/main">
            <a:pPr algn="l">
              <a:defRPr sz="1500" b="0">
                <a:solidFill>
                  <a:srgbClr val="52605B"/>
                </a:solidFill>
                <a:latin typeface="Arial"/>
                <a:ea typeface="Arial"/>
                <a:cs typeface="Arial"/>
              </a:defRPr>
            </a:pPr>
            <a:r>
              <a:rPr sz="1500" b="0">
                <a:solidFill>
                  <a:srgbClr val="52605B"/>
                </a:solidFill>
                <a:latin typeface="Arial"/>
                <a:ea typeface="Arial"/>
                <a:cs typeface="Arial"/>
              </a:rPr>
              <a:t>Seoyoung Do     Junseo Heo     Jinsol Lee     Seungmin Kim</a:t>
            </a:r>
          </a:p>
        </p:txBody>
      </p:sp>
    </p:spTree>
    <p:extLst>
      <p:ext uri="{BB962C8B-B14F-4D97-AF65-F5344CB8AC3E}">
        <p14:creationId xmlns:p14="http://schemas.microsoft.com/office/powerpoint/2010/main" val="220179917"/>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CD1C99E-869E-4F0D-93E1-E0C8508BE0CE}"/>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The comparison gap</a:t>
            </a:r>
          </a:p>
        </p:txBody>
      </p:sp>
      <p:sp>
        <p:nvSpPr>
          <p:cNvPr id="2" name="">
            <a:extLst xmlns:a="http://schemas.openxmlformats.org/drawingml/2006/main">
              <a:ext uri="{FF2B5EF4-FFF2-40B4-BE49-F238E27FC236}">
                <a16:creationId xmlns:a16="http://schemas.microsoft.com/office/drawing/2014/main" id="{BC14896E-3F7F-4DFE-858C-CF88AA8EE557}"/>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9885F86-C138-4CE9-B674-0BEAB74903B1}"/>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559D1A03-6EA1-45E4-9B0B-3873FCF10536}"/>
              </a:ext>
            </a:extLst>
          </p:cNvPr>
          <p:cNvSpPr>
            <a:spLocks xmlns:a="http://schemas.openxmlformats.org/drawingml/2006/main" noGrp="1"/>
          </p:cNvSpPr>
          <p:nvPr/>
        </p:nvSpPr>
        <p:spPr>
          <a:xfrm xmlns:a="http://schemas.openxmlformats.org/drawingml/2006/main">
            <a:off x="733425" y="1857375"/>
            <a:ext cx="10287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450" b="0">
                <a:solidFill>
                  <a:srgbClr val="17221F"/>
                </a:solidFill>
                <a:latin typeface="Georgia"/>
                <a:ea typeface="Georgia"/>
                <a:cs typeface="Georgia"/>
              </a:defRPr>
            </a:defPPr>
          </a:lstStyle>
          <a:p xmlns:a="http://schemas.openxmlformats.org/drawingml/2006/main">
            <a:pPr algn="l">
              <a:defRPr sz="3450" b="0">
                <a:solidFill>
                  <a:srgbClr val="17221F"/>
                </a:solidFill>
                <a:latin typeface="Georgia"/>
                <a:ea typeface="Georgia"/>
                <a:cs typeface="Georgia"/>
              </a:defRPr>
            </a:pPr>
            <a:r>
              <a:rPr sz="3450" b="0">
                <a:solidFill>
                  <a:srgbClr val="17221F"/>
                </a:solidFill>
                <a:latin typeface="Georgia"/>
                <a:ea typeface="Georgia"/>
                <a:cs typeface="Georgia"/>
              </a:rPr>
              <a:t>A reader opens several reports.</a:t>
            </a:r>
          </a:p>
          <a:p xmlns:a="http://schemas.openxmlformats.org/drawingml/2006/main">
            <a:pPr algn="l">
              <a:defRPr sz="3450" b="0">
                <a:solidFill>
                  <a:srgbClr val="17221F"/>
                </a:solidFill>
                <a:latin typeface="Georgia"/>
                <a:ea typeface="Georgia"/>
                <a:cs typeface="Georgia"/>
              </a:defRPr>
            </a:pPr>
            <a:r>
              <a:rPr sz="3450" b="0">
                <a:solidFill>
                  <a:srgbClr val="17221F"/>
                </a:solidFill>
                <a:latin typeface="Georgia"/>
                <a:ea typeface="Georgia"/>
                <a:cs typeface="Georgia"/>
              </a:rPr>
              <a:t>Finding the matching passages is still manual.</a:t>
            </a:r>
          </a:p>
        </p:txBody>
      </p:sp>
      <p:sp>
        <p:nvSpPr>
          <p:cNvPr id="5" name="">
            <a:extLst xmlns:a="http://schemas.openxmlformats.org/drawingml/2006/main">
              <a:ext uri="{FF2B5EF4-FFF2-40B4-BE49-F238E27FC236}">
                <a16:creationId xmlns:a16="http://schemas.microsoft.com/office/drawing/2014/main" id="{4EFACF4E-A338-44B4-AC37-F8299F8A3A42}"/>
              </a:ext>
            </a:extLst>
          </p:cNvPr>
          <p:cNvSpPr>
            <a:spLocks xmlns:a="http://schemas.openxmlformats.org/drawingml/2006/main" noGrp="1"/>
          </p:cNvSpPr>
          <p:nvPr/>
        </p:nvSpPr>
        <p:spPr>
          <a:xfrm xmlns:a="http://schemas.openxmlformats.org/drawingml/2006/main">
            <a:off x="714375" y="4191000"/>
            <a:ext cx="10763250"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11CB095-B63A-4551-849F-A9B2DCD0C3DA}"/>
              </a:ext>
            </a:extLst>
          </p:cNvPr>
          <p:cNvSpPr>
            <a:spLocks xmlns:a="http://schemas.openxmlformats.org/drawingml/2006/main" noGrp="1"/>
          </p:cNvSpPr>
          <p:nvPr/>
        </p:nvSpPr>
        <p:spPr>
          <a:xfrm xmlns:a="http://schemas.openxmlformats.org/drawingml/2006/main">
            <a:off x="733425" y="4543425"/>
            <a:ext cx="32099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17221F"/>
                </a:solidFill>
                <a:latin typeface="Arial"/>
                <a:ea typeface="Arial"/>
                <a:cs typeface="Arial"/>
              </a:defRPr>
            </a:defPPr>
          </a:lstStyle>
          <a:p xmlns:a="http://schemas.openxmlformats.org/drawingml/2006/main">
            <a:pPr algn="l">
              <a:defRPr sz="1800" b="1">
                <a:solidFill>
                  <a:srgbClr val="17221F"/>
                </a:solidFill>
                <a:latin typeface="Arial"/>
                <a:ea typeface="Arial"/>
                <a:cs typeface="Arial"/>
              </a:defRPr>
            </a:pPr>
            <a:r>
              <a:rPr sz="1800" b="1">
                <a:solidFill>
                  <a:srgbClr val="17221F"/>
                </a:solidFill>
                <a:latin typeface="Arial"/>
                <a:ea typeface="Arial"/>
                <a:cs typeface="Arial"/>
              </a:rPr>
              <a:t>NAVER News</a:t>
            </a:r>
          </a:p>
        </p:txBody>
      </p:sp>
      <p:sp>
        <p:nvSpPr>
          <p:cNvPr id="7" name="">
            <a:extLst xmlns:a="http://schemas.openxmlformats.org/drawingml/2006/main">
              <a:ext uri="{FF2B5EF4-FFF2-40B4-BE49-F238E27FC236}">
                <a16:creationId xmlns:a16="http://schemas.microsoft.com/office/drawing/2014/main" id="{55A8B8B8-47F3-4502-BF0D-0A75B7F7B93D}"/>
              </a:ext>
            </a:extLst>
          </p:cNvPr>
          <p:cNvSpPr>
            <a:spLocks xmlns:a="http://schemas.openxmlformats.org/drawingml/2006/main" noGrp="1"/>
          </p:cNvSpPr>
          <p:nvPr/>
        </p:nvSpPr>
        <p:spPr>
          <a:xfrm xmlns:a="http://schemas.openxmlformats.org/drawingml/2006/main">
            <a:off x="733425" y="50387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Find more articles</a:t>
            </a:r>
          </a:p>
        </p:txBody>
      </p:sp>
      <p:sp>
        <p:nvSpPr>
          <p:cNvPr id="8" name="">
            <a:extLst xmlns:a="http://schemas.openxmlformats.org/drawingml/2006/main">
              <a:ext uri="{FF2B5EF4-FFF2-40B4-BE49-F238E27FC236}">
                <a16:creationId xmlns:a16="http://schemas.microsoft.com/office/drawing/2014/main" id="{2D1C3503-0956-47F7-AED4-4D6F79770674}"/>
              </a:ext>
            </a:extLst>
          </p:cNvPr>
          <p:cNvSpPr>
            <a:spLocks xmlns:a="http://schemas.openxmlformats.org/drawingml/2006/main" noGrp="1"/>
          </p:cNvSpPr>
          <p:nvPr/>
        </p:nvSpPr>
        <p:spPr>
          <a:xfrm xmlns:a="http://schemas.openxmlformats.org/drawingml/2006/main">
            <a:off x="4333875" y="4543425"/>
            <a:ext cx="32099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17221F"/>
                </a:solidFill>
                <a:latin typeface="Arial"/>
                <a:ea typeface="Arial"/>
                <a:cs typeface="Arial"/>
              </a:defRPr>
            </a:defPPr>
          </a:lstStyle>
          <a:p xmlns:a="http://schemas.openxmlformats.org/drawingml/2006/main">
            <a:pPr algn="l">
              <a:defRPr sz="1800" b="1">
                <a:solidFill>
                  <a:srgbClr val="17221F"/>
                </a:solidFill>
                <a:latin typeface="Arial"/>
                <a:ea typeface="Arial"/>
                <a:cs typeface="Arial"/>
              </a:defRPr>
            </a:pPr>
            <a:r>
              <a:rPr sz="1800" b="1">
                <a:solidFill>
                  <a:srgbClr val="17221F"/>
                </a:solidFill>
                <a:latin typeface="Arial"/>
                <a:ea typeface="Arial"/>
                <a:cs typeface="Arial"/>
              </a:rPr>
              <a:t>Ground News</a:t>
            </a:r>
          </a:p>
        </p:txBody>
      </p:sp>
      <p:sp>
        <p:nvSpPr>
          <p:cNvPr id="9" name="">
            <a:extLst xmlns:a="http://schemas.openxmlformats.org/drawingml/2006/main">
              <a:ext uri="{FF2B5EF4-FFF2-40B4-BE49-F238E27FC236}">
                <a16:creationId xmlns:a16="http://schemas.microsoft.com/office/drawing/2014/main" id="{B0F1FBCD-7E60-4F2C-AD75-A635356E1C81}"/>
              </a:ext>
            </a:extLst>
          </p:cNvPr>
          <p:cNvSpPr>
            <a:spLocks xmlns:a="http://schemas.openxmlformats.org/drawingml/2006/main" noGrp="1"/>
          </p:cNvSpPr>
          <p:nvPr/>
        </p:nvSpPr>
        <p:spPr>
          <a:xfrm xmlns:a="http://schemas.openxmlformats.org/drawingml/2006/main">
            <a:off x="4333875" y="50387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See coverage across outlets</a:t>
            </a:r>
          </a:p>
        </p:txBody>
      </p:sp>
      <p:sp>
        <p:nvSpPr>
          <p:cNvPr id="10" name="">
            <a:extLst xmlns:a="http://schemas.openxmlformats.org/drawingml/2006/main">
              <a:ext uri="{FF2B5EF4-FFF2-40B4-BE49-F238E27FC236}">
                <a16:creationId xmlns:a16="http://schemas.microsoft.com/office/drawing/2014/main" id="{EB513D0B-CF50-4BBA-988D-15EEC02F7C22}"/>
              </a:ext>
            </a:extLst>
          </p:cNvPr>
          <p:cNvSpPr>
            <a:spLocks xmlns:a="http://schemas.openxmlformats.org/drawingml/2006/main" noGrp="1"/>
          </p:cNvSpPr>
          <p:nvPr/>
        </p:nvSpPr>
        <p:spPr>
          <a:xfrm xmlns:a="http://schemas.openxmlformats.org/drawingml/2006/main">
            <a:off x="7934325" y="4543425"/>
            <a:ext cx="32099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FrameLESS</a:t>
            </a:r>
          </a:p>
        </p:txBody>
      </p:sp>
      <p:sp>
        <p:nvSpPr>
          <p:cNvPr id="11" name="">
            <a:extLst xmlns:a="http://schemas.openxmlformats.org/drawingml/2006/main">
              <a:ext uri="{FF2B5EF4-FFF2-40B4-BE49-F238E27FC236}">
                <a16:creationId xmlns:a16="http://schemas.microsoft.com/office/drawing/2014/main" id="{A0FD1AD7-7007-4905-88BB-830CE51BB7F5}"/>
              </a:ext>
            </a:extLst>
          </p:cNvPr>
          <p:cNvSpPr>
            <a:spLocks xmlns:a="http://schemas.openxmlformats.org/drawingml/2006/main" noGrp="1"/>
          </p:cNvSpPr>
          <p:nvPr/>
        </p:nvSpPr>
        <p:spPr>
          <a:xfrm xmlns:a="http://schemas.openxmlformats.org/drawingml/2006/main">
            <a:off x="7934325" y="50387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Inspect passages linked to a claim</a:t>
            </a:r>
          </a:p>
        </p:txBody>
      </p:sp>
    </p:spTree>
    <p:extLst>
      <p:ext uri="{BB962C8B-B14F-4D97-AF65-F5344CB8AC3E}">
        <p14:creationId xmlns:p14="http://schemas.microsoft.com/office/powerpoint/2010/main" val="2143914795"/>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6CFFF3D-6B63-4932-8791-1156CF74627D}"/>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From URL to source</a:t>
            </a:r>
          </a:p>
        </p:txBody>
      </p:sp>
      <p:sp>
        <p:nvSpPr>
          <p:cNvPr id="2" name="">
            <a:extLst xmlns:a="http://schemas.openxmlformats.org/drawingml/2006/main">
              <a:ext uri="{FF2B5EF4-FFF2-40B4-BE49-F238E27FC236}">
                <a16:creationId xmlns:a16="http://schemas.microsoft.com/office/drawing/2014/main" id="{FBC16ED3-EE75-4CA2-96D2-D709A809DE4C}"/>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9D3E984-AF98-4E49-A8A4-B57961B63F5F}"/>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49786DC-937A-40E0-9F00-CC86E0F8C256}"/>
              </a:ext>
            </a:extLst>
          </p:cNvPr>
          <p:cNvSpPr>
            <a:spLocks xmlns:a="http://schemas.openxmlformats.org/drawingml/2006/main" noGrp="1"/>
          </p:cNvSpPr>
          <p:nvPr/>
        </p:nvSpPr>
        <p:spPr>
          <a:xfrm xmlns:a="http://schemas.openxmlformats.org/drawingml/2006/main">
            <a:off x="742950" y="1685925"/>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98ABA0"/>
                </a:solidFill>
                <a:latin typeface="Georgia"/>
                <a:ea typeface="Georgia"/>
                <a:cs typeface="Georgia"/>
              </a:defRPr>
            </a:defPPr>
          </a:lstStyle>
          <a:p xmlns:a="http://schemas.openxmlformats.org/drawingml/2006/main">
            <a:pPr algn="l">
              <a:defRPr sz="3600" b="0">
                <a:solidFill>
                  <a:srgbClr val="98ABA0"/>
                </a:solidFill>
                <a:latin typeface="Georgia"/>
                <a:ea typeface="Georgia"/>
                <a:cs typeface="Georgia"/>
              </a:defRPr>
            </a:pPr>
            <a:r>
              <a:rPr sz="3600" b="0">
                <a:solidFill>
                  <a:srgbClr val="98ABA0"/>
                </a:solidFill>
                <a:latin typeface="Georgia"/>
                <a:ea typeface="Georgia"/>
                <a:cs typeface="Georgia"/>
              </a:rPr>
              <a:t>01</a:t>
            </a:r>
          </a:p>
        </p:txBody>
      </p:sp>
      <p:sp>
        <p:nvSpPr>
          <p:cNvPr id="5" name="">
            <a:extLst xmlns:a="http://schemas.openxmlformats.org/drawingml/2006/main">
              <a:ext uri="{FF2B5EF4-FFF2-40B4-BE49-F238E27FC236}">
                <a16:creationId xmlns:a16="http://schemas.microsoft.com/office/drawing/2014/main" id="{7B753E87-E3D4-4E03-A6B9-F7B3FFC16209}"/>
              </a:ext>
            </a:extLst>
          </p:cNvPr>
          <p:cNvSpPr>
            <a:spLocks xmlns:a="http://schemas.openxmlformats.org/drawingml/2006/main" noGrp="1"/>
          </p:cNvSpPr>
          <p:nvPr/>
        </p:nvSpPr>
        <p:spPr>
          <a:xfrm xmlns:a="http://schemas.openxmlformats.org/drawingml/2006/main">
            <a:off x="1952625" y="1704975"/>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Paste an article URL</a:t>
            </a:r>
          </a:p>
        </p:txBody>
      </p:sp>
      <p:sp>
        <p:nvSpPr>
          <p:cNvPr id="6" name="">
            <a:extLst xmlns:a="http://schemas.openxmlformats.org/drawingml/2006/main">
              <a:ext uri="{FF2B5EF4-FFF2-40B4-BE49-F238E27FC236}">
                <a16:creationId xmlns:a16="http://schemas.microsoft.com/office/drawing/2014/main" id="{B429C2F5-B85C-4422-AC5F-53AA7A00609F}"/>
              </a:ext>
            </a:extLst>
          </p:cNvPr>
          <p:cNvSpPr>
            <a:spLocks xmlns:a="http://schemas.openxmlformats.org/drawingml/2006/main" noGrp="1"/>
          </p:cNvSpPr>
          <p:nvPr/>
        </p:nvSpPr>
        <p:spPr>
          <a:xfrm xmlns:a="http://schemas.openxmlformats.org/drawingml/2006/main">
            <a:off x="6581775" y="171450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The app checks the link.</a:t>
            </a:r>
          </a:p>
        </p:txBody>
      </p:sp>
      <p:sp>
        <p:nvSpPr>
          <p:cNvPr id="7" name="">
            <a:extLst xmlns:a="http://schemas.openxmlformats.org/drawingml/2006/main">
              <a:ext uri="{FF2B5EF4-FFF2-40B4-BE49-F238E27FC236}">
                <a16:creationId xmlns:a16="http://schemas.microsoft.com/office/drawing/2014/main" id="{2AF2CC1E-F69A-4000-A889-9C47496F5E95}"/>
              </a:ext>
            </a:extLst>
          </p:cNvPr>
          <p:cNvSpPr>
            <a:spLocks xmlns:a="http://schemas.openxmlformats.org/drawingml/2006/main" noGrp="1"/>
          </p:cNvSpPr>
          <p:nvPr/>
        </p:nvSpPr>
        <p:spPr>
          <a:xfrm xmlns:a="http://schemas.openxmlformats.org/drawingml/2006/main">
            <a:off x="1952625" y="2533650"/>
            <a:ext cx="9505950" cy="9525"/>
          </a:xfrm>
          <a:prstGeom xmlns:a="http://schemas.openxmlformats.org/drawingml/2006/main" prst="rect">
            <a:avLst/>
          </a:prstGeom>
          <a:solidFill xmlns:a="http://schemas.openxmlformats.org/drawingml/2006/main">
            <a:srgbClr val="DCE3D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980D85-CA22-4514-88D0-A50212888CC8}"/>
              </a:ext>
            </a:extLst>
          </p:cNvPr>
          <p:cNvSpPr>
            <a:spLocks xmlns:a="http://schemas.openxmlformats.org/drawingml/2006/main" noGrp="1"/>
          </p:cNvSpPr>
          <p:nvPr/>
        </p:nvSpPr>
        <p:spPr>
          <a:xfrm xmlns:a="http://schemas.openxmlformats.org/drawingml/2006/main">
            <a:off x="742950" y="2762250"/>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98ABA0"/>
                </a:solidFill>
                <a:latin typeface="Georgia"/>
                <a:ea typeface="Georgia"/>
                <a:cs typeface="Georgia"/>
              </a:defRPr>
            </a:defPPr>
          </a:lstStyle>
          <a:p xmlns:a="http://schemas.openxmlformats.org/drawingml/2006/main">
            <a:pPr algn="l">
              <a:defRPr sz="3600" b="0">
                <a:solidFill>
                  <a:srgbClr val="98ABA0"/>
                </a:solidFill>
                <a:latin typeface="Georgia"/>
                <a:ea typeface="Georgia"/>
                <a:cs typeface="Georgia"/>
              </a:defRPr>
            </a:pPr>
            <a:r>
              <a:rPr sz="3600" b="0">
                <a:solidFill>
                  <a:srgbClr val="98ABA0"/>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26E3F224-F209-41D3-933C-97C2569DF4F5}"/>
              </a:ext>
            </a:extLst>
          </p:cNvPr>
          <p:cNvSpPr>
            <a:spLocks xmlns:a="http://schemas.openxmlformats.org/drawingml/2006/main" noGrp="1"/>
          </p:cNvSpPr>
          <p:nvPr/>
        </p:nvSpPr>
        <p:spPr>
          <a:xfrm xmlns:a="http://schemas.openxmlformats.org/drawingml/2006/main">
            <a:off x="1952625" y="2781300"/>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Find the same event</a:t>
            </a:r>
          </a:p>
        </p:txBody>
      </p:sp>
      <p:sp>
        <p:nvSpPr>
          <p:cNvPr id="10" name="">
            <a:extLst xmlns:a="http://schemas.openxmlformats.org/drawingml/2006/main">
              <a:ext uri="{FF2B5EF4-FFF2-40B4-BE49-F238E27FC236}">
                <a16:creationId xmlns:a16="http://schemas.microsoft.com/office/drawing/2014/main" id="{CB66D033-D401-414D-9466-C5609E1B7E1A}"/>
              </a:ext>
            </a:extLst>
          </p:cNvPr>
          <p:cNvSpPr>
            <a:spLocks xmlns:a="http://schemas.openxmlformats.org/drawingml/2006/main" noGrp="1"/>
          </p:cNvSpPr>
          <p:nvPr/>
        </p:nvSpPr>
        <p:spPr>
          <a:xfrm xmlns:a="http://schemas.openxmlformats.org/drawingml/2006/main">
            <a:off x="6581775" y="2790825"/>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The server screens related reporting.</a:t>
            </a:r>
          </a:p>
        </p:txBody>
      </p:sp>
      <p:sp>
        <p:nvSpPr>
          <p:cNvPr id="11" name="">
            <a:extLst xmlns:a="http://schemas.openxmlformats.org/drawingml/2006/main">
              <a:ext uri="{FF2B5EF4-FFF2-40B4-BE49-F238E27FC236}">
                <a16:creationId xmlns:a16="http://schemas.microsoft.com/office/drawing/2014/main" id="{A7DE95E5-52C0-449C-AA77-7AABE7B6B872}"/>
              </a:ext>
            </a:extLst>
          </p:cNvPr>
          <p:cNvSpPr>
            <a:spLocks xmlns:a="http://schemas.openxmlformats.org/drawingml/2006/main" noGrp="1"/>
          </p:cNvSpPr>
          <p:nvPr/>
        </p:nvSpPr>
        <p:spPr>
          <a:xfrm xmlns:a="http://schemas.openxmlformats.org/drawingml/2006/main">
            <a:off x="1952625" y="3609975"/>
            <a:ext cx="9505950" cy="9525"/>
          </a:xfrm>
          <a:prstGeom xmlns:a="http://schemas.openxmlformats.org/drawingml/2006/main" prst="rect">
            <a:avLst/>
          </a:prstGeom>
          <a:solidFill xmlns:a="http://schemas.openxmlformats.org/drawingml/2006/main">
            <a:srgbClr val="DCE3D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A8CCAA6-38FA-4358-AB78-ADB360323005}"/>
              </a:ext>
            </a:extLst>
          </p:cNvPr>
          <p:cNvSpPr>
            <a:spLocks xmlns:a="http://schemas.openxmlformats.org/drawingml/2006/main" noGrp="1"/>
          </p:cNvSpPr>
          <p:nvPr/>
        </p:nvSpPr>
        <p:spPr>
          <a:xfrm xmlns:a="http://schemas.openxmlformats.org/drawingml/2006/main">
            <a:off x="742950" y="3838575"/>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98ABA0"/>
                </a:solidFill>
                <a:latin typeface="Georgia"/>
                <a:ea typeface="Georgia"/>
                <a:cs typeface="Georgia"/>
              </a:defRPr>
            </a:defPPr>
          </a:lstStyle>
          <a:p xmlns:a="http://schemas.openxmlformats.org/drawingml/2006/main">
            <a:pPr algn="l">
              <a:defRPr sz="3600" b="0">
                <a:solidFill>
                  <a:srgbClr val="98ABA0"/>
                </a:solidFill>
                <a:latin typeface="Georgia"/>
                <a:ea typeface="Georgia"/>
                <a:cs typeface="Georgia"/>
              </a:defRPr>
            </a:pPr>
            <a:r>
              <a:rPr sz="3600" b="0">
                <a:solidFill>
                  <a:srgbClr val="98ABA0"/>
                </a:solidFill>
                <a:latin typeface="Georgia"/>
                <a:ea typeface="Georgia"/>
                <a:cs typeface="Georgia"/>
              </a:rPr>
              <a:t>03</a:t>
            </a:r>
          </a:p>
        </p:txBody>
      </p:sp>
      <p:sp>
        <p:nvSpPr>
          <p:cNvPr id="13" name="">
            <a:extLst xmlns:a="http://schemas.openxmlformats.org/drawingml/2006/main">
              <a:ext uri="{FF2B5EF4-FFF2-40B4-BE49-F238E27FC236}">
                <a16:creationId xmlns:a16="http://schemas.microsoft.com/office/drawing/2014/main" id="{F22E5244-5F0F-422D-95D9-292E761D4758}"/>
              </a:ext>
            </a:extLst>
          </p:cNvPr>
          <p:cNvSpPr>
            <a:spLocks xmlns:a="http://schemas.openxmlformats.org/drawingml/2006/main" noGrp="1"/>
          </p:cNvSpPr>
          <p:nvPr/>
        </p:nvSpPr>
        <p:spPr>
          <a:xfrm xmlns:a="http://schemas.openxmlformats.org/drawingml/2006/main">
            <a:off x="1952625" y="3857625"/>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Compare a claim</a:t>
            </a:r>
          </a:p>
        </p:txBody>
      </p:sp>
      <p:sp>
        <p:nvSpPr>
          <p:cNvPr id="14" name="">
            <a:extLst xmlns:a="http://schemas.openxmlformats.org/drawingml/2006/main">
              <a:ext uri="{FF2B5EF4-FFF2-40B4-BE49-F238E27FC236}">
                <a16:creationId xmlns:a16="http://schemas.microsoft.com/office/drawing/2014/main" id="{A5FCA59F-F2C4-4D67-BD61-870064941D40}"/>
              </a:ext>
            </a:extLst>
          </p:cNvPr>
          <p:cNvSpPr>
            <a:spLocks xmlns:a="http://schemas.openxmlformats.org/drawingml/2006/main" noGrp="1"/>
          </p:cNvSpPr>
          <p:nvPr/>
        </p:nvSpPr>
        <p:spPr>
          <a:xfrm xmlns:a="http://schemas.openxmlformats.org/drawingml/2006/main">
            <a:off x="6581775" y="38671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Each result keeps its source and quoted passage.</a:t>
            </a:r>
          </a:p>
        </p:txBody>
      </p:sp>
      <p:sp>
        <p:nvSpPr>
          <p:cNvPr id="15" name="">
            <a:extLst xmlns:a="http://schemas.openxmlformats.org/drawingml/2006/main">
              <a:ext uri="{FF2B5EF4-FFF2-40B4-BE49-F238E27FC236}">
                <a16:creationId xmlns:a16="http://schemas.microsoft.com/office/drawing/2014/main" id="{E615625E-4AF5-43CF-9619-E80A126DDD6A}"/>
              </a:ext>
            </a:extLst>
          </p:cNvPr>
          <p:cNvSpPr>
            <a:spLocks xmlns:a="http://schemas.openxmlformats.org/drawingml/2006/main" noGrp="1"/>
          </p:cNvSpPr>
          <p:nvPr/>
        </p:nvSpPr>
        <p:spPr>
          <a:xfrm xmlns:a="http://schemas.openxmlformats.org/drawingml/2006/main">
            <a:off x="1952625" y="4686300"/>
            <a:ext cx="9505950" cy="9525"/>
          </a:xfrm>
          <a:prstGeom xmlns:a="http://schemas.openxmlformats.org/drawingml/2006/main" prst="rect">
            <a:avLst/>
          </a:prstGeom>
          <a:solidFill xmlns:a="http://schemas.openxmlformats.org/drawingml/2006/main">
            <a:srgbClr val="DCE3D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89DA3F-2A4F-40D7-B8F5-48ED4E7389B9}"/>
              </a:ext>
            </a:extLst>
          </p:cNvPr>
          <p:cNvSpPr>
            <a:spLocks xmlns:a="http://schemas.openxmlformats.org/drawingml/2006/main" noGrp="1"/>
          </p:cNvSpPr>
          <p:nvPr/>
        </p:nvSpPr>
        <p:spPr>
          <a:xfrm xmlns:a="http://schemas.openxmlformats.org/drawingml/2006/main">
            <a:off x="742950" y="4914900"/>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0D765E"/>
                </a:solidFill>
                <a:latin typeface="Georgia"/>
                <a:ea typeface="Georgia"/>
                <a:cs typeface="Georgia"/>
              </a:defRPr>
            </a:defPPr>
          </a:lstStyle>
          <a:p xmlns:a="http://schemas.openxmlformats.org/drawingml/2006/main">
            <a:pPr algn="l">
              <a:defRPr sz="3600" b="0">
                <a:solidFill>
                  <a:srgbClr val="0D765E"/>
                </a:solidFill>
                <a:latin typeface="Georgia"/>
                <a:ea typeface="Georgia"/>
                <a:cs typeface="Georgia"/>
              </a:defRPr>
            </a:pPr>
            <a:r>
              <a:rPr sz="3600" b="0">
                <a:solidFill>
                  <a:srgbClr val="0D765E"/>
                </a:solidFill>
                <a:latin typeface="Georgia"/>
                <a:ea typeface="Georgia"/>
                <a:cs typeface="Georgia"/>
              </a:rPr>
              <a:t>04</a:t>
            </a:r>
          </a:p>
        </p:txBody>
      </p:sp>
      <p:sp>
        <p:nvSpPr>
          <p:cNvPr id="17" name="">
            <a:extLst xmlns:a="http://schemas.openxmlformats.org/drawingml/2006/main">
              <a:ext uri="{FF2B5EF4-FFF2-40B4-BE49-F238E27FC236}">
                <a16:creationId xmlns:a16="http://schemas.microsoft.com/office/drawing/2014/main" id="{FDC56946-F9B6-4C21-83CC-CB30AC7F6805}"/>
              </a:ext>
            </a:extLst>
          </p:cNvPr>
          <p:cNvSpPr>
            <a:spLocks xmlns:a="http://schemas.openxmlformats.org/drawingml/2006/main" noGrp="1"/>
          </p:cNvSpPr>
          <p:nvPr/>
        </p:nvSpPr>
        <p:spPr>
          <a:xfrm xmlns:a="http://schemas.openxmlformats.org/drawingml/2006/main">
            <a:off x="1952625" y="4933950"/>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Open the source</a:t>
            </a:r>
          </a:p>
        </p:txBody>
      </p:sp>
      <p:sp>
        <p:nvSpPr>
          <p:cNvPr id="18" name="">
            <a:extLst xmlns:a="http://schemas.openxmlformats.org/drawingml/2006/main">
              <a:ext uri="{FF2B5EF4-FFF2-40B4-BE49-F238E27FC236}">
                <a16:creationId xmlns:a16="http://schemas.microsoft.com/office/drawing/2014/main" id="{343EDB1C-006C-444E-8012-B16923B5A705}"/>
              </a:ext>
            </a:extLst>
          </p:cNvPr>
          <p:cNvSpPr>
            <a:spLocks xmlns:a="http://schemas.openxmlformats.org/drawingml/2006/main" noGrp="1"/>
          </p:cNvSpPr>
          <p:nvPr/>
        </p:nvSpPr>
        <p:spPr>
          <a:xfrm xmlns:a="http://schemas.openxmlformats.org/drawingml/2006/main">
            <a:off x="6581775" y="4943475"/>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The reader checks the original page.</a:t>
            </a:r>
          </a:p>
        </p:txBody>
      </p:sp>
    </p:spTree>
    <p:extLst>
      <p:ext uri="{BB962C8B-B14F-4D97-AF65-F5344CB8AC3E}">
        <p14:creationId xmlns:p14="http://schemas.microsoft.com/office/powerpoint/2010/main" val="672922549"/>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673AD7F-C5F2-4F78-B4E4-C6E1DAEB83D9}"/>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Iteration 1 baseline</a:t>
            </a:r>
          </a:p>
        </p:txBody>
      </p:sp>
      <p:sp>
        <p:nvSpPr>
          <p:cNvPr id="2" name="">
            <a:extLst xmlns:a="http://schemas.openxmlformats.org/drawingml/2006/main">
              <a:ext uri="{FF2B5EF4-FFF2-40B4-BE49-F238E27FC236}">
                <a16:creationId xmlns:a16="http://schemas.microsoft.com/office/drawing/2014/main" id="{AEA8543F-D82E-4606-A9B1-45C06A716149}"/>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420B4D9-F591-4579-ABC0-85A4942933A8}"/>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AF8FFDA-F550-4C66-9ADF-7867860434E9}"/>
              </a:ext>
            </a:extLst>
          </p:cNvPr>
          <p:cNvSpPr>
            <a:spLocks xmlns:a="http://schemas.openxmlformats.org/drawingml/2006/main" noGrp="1"/>
          </p:cNvSpPr>
          <p:nvPr/>
        </p:nvSpPr>
        <p:spPr>
          <a:xfrm xmlns:a="http://schemas.openxmlformats.org/drawingml/2006/main">
            <a:off x="733425" y="1733550"/>
            <a:ext cx="457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700" b="0">
                <a:solidFill>
                  <a:srgbClr val="0D765E"/>
                </a:solidFill>
                <a:latin typeface="Georgia"/>
                <a:ea typeface="Georgia"/>
                <a:cs typeface="Georgia"/>
              </a:defRPr>
            </a:defPPr>
          </a:lstStyle>
          <a:p xmlns:a="http://schemas.openxmlformats.org/drawingml/2006/main">
            <a:pPr algn="l">
              <a:defRPr sz="2700" b="0">
                <a:solidFill>
                  <a:srgbClr val="0D765E"/>
                </a:solidFill>
                <a:latin typeface="Georgia"/>
                <a:ea typeface="Georgia"/>
                <a:cs typeface="Georgia"/>
              </a:defRPr>
            </a:pPr>
            <a:r>
              <a:rPr sz="2700" b="0">
                <a:solidFill>
                  <a:srgbClr val="0D765E"/>
                </a:solidFill>
                <a:latin typeface="Georgia"/>
                <a:ea typeface="Georgia"/>
                <a:cs typeface="Georgia"/>
              </a:rPr>
              <a:t>Working</a:t>
            </a:r>
          </a:p>
        </p:txBody>
      </p:sp>
      <p:sp>
        <p:nvSpPr>
          <p:cNvPr id="5" name="">
            <a:extLst xmlns:a="http://schemas.openxmlformats.org/drawingml/2006/main">
              <a:ext uri="{FF2B5EF4-FFF2-40B4-BE49-F238E27FC236}">
                <a16:creationId xmlns:a16="http://schemas.microsoft.com/office/drawing/2014/main" id="{B07BEE80-5884-4640-B31E-8CEF9EF781EF}"/>
              </a:ext>
            </a:extLst>
          </p:cNvPr>
          <p:cNvSpPr>
            <a:spLocks xmlns:a="http://schemas.openxmlformats.org/drawingml/2006/main" noGrp="1"/>
          </p:cNvSpPr>
          <p:nvPr/>
        </p:nvSpPr>
        <p:spPr>
          <a:xfrm xmlns:a="http://schemas.openxmlformats.org/drawingml/2006/main">
            <a:off x="752475" y="2476500"/>
            <a:ext cx="468630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Article URL input</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Same-event retrieval</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Linked claim comparisons</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Iteration 1 API</a:t>
            </a:r>
          </a:p>
        </p:txBody>
      </p:sp>
      <p:sp>
        <p:nvSpPr>
          <p:cNvPr id="6" name="">
            <a:extLst xmlns:a="http://schemas.openxmlformats.org/drawingml/2006/main">
              <a:ext uri="{FF2B5EF4-FFF2-40B4-BE49-F238E27FC236}">
                <a16:creationId xmlns:a16="http://schemas.microsoft.com/office/drawing/2014/main" id="{28551AB9-6A13-4FC2-A778-CC6BBFAD3164}"/>
              </a:ext>
            </a:extLst>
          </p:cNvPr>
          <p:cNvSpPr>
            <a:spLocks xmlns:a="http://schemas.openxmlformats.org/drawingml/2006/main" noGrp="1"/>
          </p:cNvSpPr>
          <p:nvPr/>
        </p:nvSpPr>
        <p:spPr>
          <a:xfrm xmlns:a="http://schemas.openxmlformats.org/drawingml/2006/main">
            <a:off x="5962650" y="1704975"/>
            <a:ext cx="19050" cy="369570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715471-7E37-4646-B4E0-937A21239392}"/>
              </a:ext>
            </a:extLst>
          </p:cNvPr>
          <p:cNvSpPr>
            <a:spLocks xmlns:a="http://schemas.openxmlformats.org/drawingml/2006/main" noGrp="1"/>
          </p:cNvSpPr>
          <p:nvPr/>
        </p:nvSpPr>
        <p:spPr>
          <a:xfrm xmlns:a="http://schemas.openxmlformats.org/drawingml/2006/main">
            <a:off x="6505575" y="1733550"/>
            <a:ext cx="4667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700" b="0">
                <a:solidFill>
                  <a:srgbClr val="AD5136"/>
                </a:solidFill>
                <a:latin typeface="Georgia"/>
                <a:ea typeface="Georgia"/>
                <a:cs typeface="Georgia"/>
              </a:defRPr>
            </a:defPPr>
          </a:lstStyle>
          <a:p xmlns:a="http://schemas.openxmlformats.org/drawingml/2006/main">
            <a:pPr algn="l">
              <a:defRPr sz="2700" b="0">
                <a:solidFill>
                  <a:srgbClr val="AD5136"/>
                </a:solidFill>
                <a:latin typeface="Georgia"/>
                <a:ea typeface="Georgia"/>
                <a:cs typeface="Georgia"/>
              </a:defRPr>
            </a:pPr>
            <a:r>
              <a:rPr sz="2700" b="0">
                <a:solidFill>
                  <a:srgbClr val="AD5136"/>
                </a:solidFill>
                <a:latin typeface="Georgia"/>
                <a:ea typeface="Georgia"/>
                <a:cs typeface="Georgia"/>
              </a:rPr>
              <a:t>Unclear</a:t>
            </a:r>
          </a:p>
        </p:txBody>
      </p:sp>
      <p:sp>
        <p:nvSpPr>
          <p:cNvPr id="8" name="">
            <a:extLst xmlns:a="http://schemas.openxmlformats.org/drawingml/2006/main">
              <a:ext uri="{FF2B5EF4-FFF2-40B4-BE49-F238E27FC236}">
                <a16:creationId xmlns:a16="http://schemas.microsoft.com/office/drawing/2014/main" id="{3F1AC3EF-F164-4F27-A89A-439F85EEC3F8}"/>
              </a:ext>
            </a:extLst>
          </p:cNvPr>
          <p:cNvSpPr>
            <a:spLocks xmlns:a="http://schemas.openxmlformats.org/drawingml/2006/main" noGrp="1"/>
          </p:cNvSpPr>
          <p:nvPr/>
        </p:nvSpPr>
        <p:spPr>
          <a:xfrm xmlns:a="http://schemas.openxmlformats.org/drawingml/2006/main">
            <a:off x="6515100" y="2476500"/>
            <a:ext cx="4695825" cy="2724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Claims found only in other articles</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Silence versus failed extraction</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Too little coverage for a comparison</a:t>
            </a:r>
          </a:p>
        </p:txBody>
      </p:sp>
      <p:sp>
        <p:nvSpPr>
          <p:cNvPr id="9" name="">
            <a:extLst xmlns:a="http://schemas.openxmlformats.org/drawingml/2006/main">
              <a:ext uri="{FF2B5EF4-FFF2-40B4-BE49-F238E27FC236}">
                <a16:creationId xmlns:a16="http://schemas.microsoft.com/office/drawing/2014/main" id="{AEB698A4-7365-4C36-9E77-AFD61AF514D1}"/>
              </a:ext>
            </a:extLst>
          </p:cNvPr>
          <p:cNvSpPr>
            <a:spLocks xmlns:a="http://schemas.openxmlformats.org/drawingml/2006/main" noGrp="1"/>
          </p:cNvSpPr>
          <p:nvPr/>
        </p:nvSpPr>
        <p:spPr>
          <a:xfrm xmlns:a="http://schemas.openxmlformats.org/drawingml/2006/main">
            <a:off x="742950" y="5772150"/>
            <a:ext cx="10287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The first pipeline gave us a baseline for a more explicit rubric.</a:t>
            </a:r>
          </a:p>
        </p:txBody>
      </p:sp>
    </p:spTree>
    <p:extLst>
      <p:ext uri="{BB962C8B-B14F-4D97-AF65-F5344CB8AC3E}">
        <p14:creationId xmlns:p14="http://schemas.microsoft.com/office/powerpoint/2010/main" val="1993308737"/>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2A2E06-A01C-4F16-AE80-E78697F2E00B}"/>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Two kinds of comparison</a:t>
            </a:r>
          </a:p>
        </p:txBody>
      </p:sp>
      <p:sp>
        <p:nvSpPr>
          <p:cNvPr id="2" name="">
            <a:extLst xmlns:a="http://schemas.openxmlformats.org/drawingml/2006/main">
              <a:ext uri="{FF2B5EF4-FFF2-40B4-BE49-F238E27FC236}">
                <a16:creationId xmlns:a16="http://schemas.microsoft.com/office/drawing/2014/main" id="{253F892C-ABE0-4B9C-9610-CA3A4ECADC61}"/>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8CC8D51-DD7F-4079-9CCF-554069169881}"/>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AE20B8B3-C084-45C7-B985-42A0CEFBBCDB}"/>
              </a:ext>
            </a:extLst>
          </p:cNvPr>
          <p:cNvSpPr>
            <a:spLocks xmlns:a="http://schemas.openxmlformats.org/drawingml/2006/main" noGrp="1"/>
          </p:cNvSpPr>
          <p:nvPr/>
        </p:nvSpPr>
        <p:spPr>
          <a:xfrm xmlns:a="http://schemas.openxmlformats.org/drawingml/2006/main">
            <a:off x="742950" y="1819275"/>
            <a:ext cx="46863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5550" b="0">
                <a:solidFill>
                  <a:srgbClr val="0D765E"/>
                </a:solidFill>
                <a:latin typeface="Georgia"/>
                <a:ea typeface="Georgia"/>
                <a:cs typeface="Georgia"/>
              </a:defRPr>
            </a:defPPr>
          </a:lstStyle>
          <a:p xmlns:a="http://schemas.openxmlformats.org/drawingml/2006/main">
            <a:pPr algn="l">
              <a:defRPr sz="5550" b="0">
                <a:solidFill>
                  <a:srgbClr val="0D765E"/>
                </a:solidFill>
                <a:latin typeface="Georgia"/>
                <a:ea typeface="Georgia"/>
                <a:cs typeface="Georgia"/>
              </a:defRPr>
            </a:pPr>
            <a:r>
              <a:rPr sz="5550" b="0">
                <a:solidFill>
                  <a:srgbClr val="0D765E"/>
                </a:solidFill>
                <a:latin typeface="Georgia"/>
                <a:ea typeface="Georgia"/>
                <a:cs typeface="Georgia"/>
              </a:rPr>
              <a:t>I1–I5</a:t>
            </a:r>
          </a:p>
        </p:txBody>
      </p:sp>
      <p:sp>
        <p:nvSpPr>
          <p:cNvPr id="5" name="">
            <a:extLst xmlns:a="http://schemas.openxmlformats.org/drawingml/2006/main">
              <a:ext uri="{FF2B5EF4-FFF2-40B4-BE49-F238E27FC236}">
                <a16:creationId xmlns:a16="http://schemas.microsoft.com/office/drawing/2014/main" id="{4298A5C3-8F6D-4113-A9DB-5D5D89F7EF29}"/>
              </a:ext>
            </a:extLst>
          </p:cNvPr>
          <p:cNvSpPr>
            <a:spLocks xmlns:a="http://schemas.openxmlformats.org/drawingml/2006/main" noGrp="1"/>
          </p:cNvSpPr>
          <p:nvPr/>
        </p:nvSpPr>
        <p:spPr>
          <a:xfrm xmlns:a="http://schemas.openxmlformats.org/drawingml/2006/main">
            <a:off x="742950" y="2895600"/>
            <a:ext cx="4629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Information</a:t>
            </a:r>
          </a:p>
        </p:txBody>
      </p:sp>
      <p:sp>
        <p:nvSpPr>
          <p:cNvPr id="6" name="">
            <a:extLst xmlns:a="http://schemas.openxmlformats.org/drawingml/2006/main">
              <a:ext uri="{FF2B5EF4-FFF2-40B4-BE49-F238E27FC236}">
                <a16:creationId xmlns:a16="http://schemas.microsoft.com/office/drawing/2014/main" id="{8460B669-9871-499B-86E3-A296C6146194}"/>
              </a:ext>
            </a:extLst>
          </p:cNvPr>
          <p:cNvSpPr>
            <a:spLocks xmlns:a="http://schemas.openxmlformats.org/drawingml/2006/main" noGrp="1"/>
          </p:cNvSpPr>
          <p:nvPr/>
        </p:nvSpPr>
        <p:spPr>
          <a:xfrm xmlns:a="http://schemas.openxmlformats.org/drawingml/2006/main">
            <a:off x="752475" y="3609975"/>
            <a:ext cx="4676775"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Which claim appears? Where? Who is quoted? What context or outlook is added?</a:t>
            </a:r>
          </a:p>
        </p:txBody>
      </p:sp>
      <p:sp>
        <p:nvSpPr>
          <p:cNvPr id="7" name="">
            <a:extLst xmlns:a="http://schemas.openxmlformats.org/drawingml/2006/main">
              <a:ext uri="{FF2B5EF4-FFF2-40B4-BE49-F238E27FC236}">
                <a16:creationId xmlns:a16="http://schemas.microsoft.com/office/drawing/2014/main" id="{82C655DD-3AF8-4F84-80DD-DD2055E10BB1}"/>
              </a:ext>
            </a:extLst>
          </p:cNvPr>
          <p:cNvSpPr>
            <a:spLocks xmlns:a="http://schemas.openxmlformats.org/drawingml/2006/main" noGrp="1"/>
          </p:cNvSpPr>
          <p:nvPr/>
        </p:nvSpPr>
        <p:spPr>
          <a:xfrm xmlns:a="http://schemas.openxmlformats.org/drawingml/2006/main">
            <a:off x="5943600" y="1809750"/>
            <a:ext cx="19050" cy="3571875"/>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F30DE0-8AFB-4F0F-A021-A01974DE32B0}"/>
              </a:ext>
            </a:extLst>
          </p:cNvPr>
          <p:cNvSpPr>
            <a:spLocks xmlns:a="http://schemas.openxmlformats.org/drawingml/2006/main" noGrp="1"/>
          </p:cNvSpPr>
          <p:nvPr/>
        </p:nvSpPr>
        <p:spPr>
          <a:xfrm xmlns:a="http://schemas.openxmlformats.org/drawingml/2006/main">
            <a:off x="6477000" y="1819275"/>
            <a:ext cx="46005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5550" b="0">
                <a:solidFill>
                  <a:srgbClr val="AD5136"/>
                </a:solidFill>
                <a:latin typeface="Georgia"/>
                <a:ea typeface="Georgia"/>
                <a:cs typeface="Georgia"/>
              </a:defRPr>
            </a:defPPr>
          </a:lstStyle>
          <a:p xmlns:a="http://schemas.openxmlformats.org/drawingml/2006/main">
            <a:pPr algn="l">
              <a:defRPr sz="5550" b="0">
                <a:solidFill>
                  <a:srgbClr val="AD5136"/>
                </a:solidFill>
                <a:latin typeface="Georgia"/>
                <a:ea typeface="Georgia"/>
                <a:cs typeface="Georgia"/>
              </a:defRPr>
            </a:pPr>
            <a:r>
              <a:rPr sz="5550" b="0">
                <a:solidFill>
                  <a:srgbClr val="AD5136"/>
                </a:solidFill>
                <a:latin typeface="Georgia"/>
                <a:ea typeface="Georgia"/>
                <a:cs typeface="Georgia"/>
              </a:rPr>
              <a:t>A–G</a:t>
            </a:r>
          </a:p>
        </p:txBody>
      </p:sp>
      <p:sp>
        <p:nvSpPr>
          <p:cNvPr id="9" name="">
            <a:extLst xmlns:a="http://schemas.openxmlformats.org/drawingml/2006/main">
              <a:ext uri="{FF2B5EF4-FFF2-40B4-BE49-F238E27FC236}">
                <a16:creationId xmlns:a16="http://schemas.microsoft.com/office/drawing/2014/main" id="{FE554D91-A4B9-4DDC-8C28-E94B909594F5}"/>
              </a:ext>
            </a:extLst>
          </p:cNvPr>
          <p:cNvSpPr>
            <a:spLocks xmlns:a="http://schemas.openxmlformats.org/drawingml/2006/main" noGrp="1"/>
          </p:cNvSpPr>
          <p:nvPr/>
        </p:nvSpPr>
        <p:spPr>
          <a:xfrm xmlns:a="http://schemas.openxmlformats.org/drawingml/2006/main">
            <a:off x="6486525" y="2895600"/>
            <a:ext cx="4429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Expression</a:t>
            </a:r>
          </a:p>
        </p:txBody>
      </p:sp>
      <p:sp>
        <p:nvSpPr>
          <p:cNvPr id="10" name="">
            <a:extLst xmlns:a="http://schemas.openxmlformats.org/drawingml/2006/main">
              <a:ext uri="{FF2B5EF4-FFF2-40B4-BE49-F238E27FC236}">
                <a16:creationId xmlns:a16="http://schemas.microsoft.com/office/drawing/2014/main" id="{3C6FB0E0-88C0-4EC0-A130-277D88C70FA1}"/>
              </a:ext>
            </a:extLst>
          </p:cNvPr>
          <p:cNvSpPr>
            <a:spLocks xmlns:a="http://schemas.openxmlformats.org/drawingml/2006/main" noGrp="1"/>
          </p:cNvSpPr>
          <p:nvPr/>
        </p:nvSpPr>
        <p:spPr>
          <a:xfrm xmlns:a="http://schemas.openxmlformats.org/drawingml/2006/main">
            <a:off x="6496050" y="3609975"/>
            <a:ext cx="4695825"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How does reporter wording differ from wording used by another outlet?</a:t>
            </a:r>
          </a:p>
        </p:txBody>
      </p:sp>
      <p:sp>
        <p:nvSpPr>
          <p:cNvPr id="11" name="">
            <a:extLst xmlns:a="http://schemas.openxmlformats.org/drawingml/2006/main">
              <a:ext uri="{FF2B5EF4-FFF2-40B4-BE49-F238E27FC236}">
                <a16:creationId xmlns:a16="http://schemas.microsoft.com/office/drawing/2014/main" id="{71E5EB85-F2C1-4294-BFB3-1F1FA2FE2D77}"/>
              </a:ext>
            </a:extLst>
          </p:cNvPr>
          <p:cNvSpPr>
            <a:spLocks xmlns:a="http://schemas.openxmlformats.org/drawingml/2006/main" noGrp="1"/>
          </p:cNvSpPr>
          <p:nvPr/>
        </p:nvSpPr>
        <p:spPr>
          <a:xfrm xmlns:a="http://schemas.openxmlformats.org/drawingml/2006/main">
            <a:off x="733425" y="5495925"/>
            <a:ext cx="107346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24E1CCE-06D5-4F82-9BBC-615DA33D2611}"/>
              </a:ext>
            </a:extLst>
          </p:cNvPr>
          <p:cNvSpPr>
            <a:spLocks xmlns:a="http://schemas.openxmlformats.org/drawingml/2006/main" noGrp="1"/>
          </p:cNvSpPr>
          <p:nvPr/>
        </p:nvSpPr>
        <p:spPr>
          <a:xfrm xmlns:a="http://schemas.openxmlformats.org/drawingml/2006/main">
            <a:off x="742950" y="5629275"/>
            <a:ext cx="10096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Insufficient evidence stays unrated. No article-wide score.</a:t>
            </a:r>
          </a:p>
        </p:txBody>
      </p:sp>
    </p:spTree>
    <p:extLst>
      <p:ext uri="{BB962C8B-B14F-4D97-AF65-F5344CB8AC3E}">
        <p14:creationId xmlns:p14="http://schemas.microsoft.com/office/powerpoint/2010/main" val="1041859777"/>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B3D23E2-EB8E-41CA-A0FA-260782B08936}"/>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System architecture</a:t>
            </a:r>
          </a:p>
        </p:txBody>
      </p:sp>
      <p:sp>
        <p:nvSpPr>
          <p:cNvPr id="2" name="">
            <a:extLst xmlns:a="http://schemas.openxmlformats.org/drawingml/2006/main">
              <a:ext uri="{FF2B5EF4-FFF2-40B4-BE49-F238E27FC236}">
                <a16:creationId xmlns:a16="http://schemas.microsoft.com/office/drawing/2014/main" id="{8717684F-69E1-4D40-8F84-77C162CC9591}"/>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5B219DE-8D14-47F9-99FD-FB5A4BC77193}"/>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C8C558CF-140F-4702-8583-4C07B7489522}"/>
              </a:ext>
            </a:extLst>
          </p:cNvPr>
          <p:cNvSpPr>
            <a:spLocks xmlns:a="http://schemas.openxmlformats.org/drawingml/2006/main" noGrp="1"/>
          </p:cNvSpPr>
          <p:nvPr/>
        </p:nvSpPr>
        <p:spPr>
          <a:xfrm xmlns:a="http://schemas.openxmlformats.org/drawingml/2006/main">
            <a:off x="7143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01</a:t>
            </a:r>
          </a:p>
        </p:txBody>
      </p:sp>
      <p:sp>
        <p:nvSpPr>
          <p:cNvPr id="5" name="">
            <a:extLst xmlns:a="http://schemas.openxmlformats.org/drawingml/2006/main">
              <a:ext uri="{FF2B5EF4-FFF2-40B4-BE49-F238E27FC236}">
                <a16:creationId xmlns:a16="http://schemas.microsoft.com/office/drawing/2014/main" id="{0A9CCFBC-1DE5-447A-9295-2999AF413315}"/>
              </a:ext>
            </a:extLst>
          </p:cNvPr>
          <p:cNvSpPr>
            <a:spLocks xmlns:a="http://schemas.openxmlformats.org/drawingml/2006/main" noGrp="1"/>
          </p:cNvSpPr>
          <p:nvPr/>
        </p:nvSpPr>
        <p:spPr>
          <a:xfrm xmlns:a="http://schemas.openxmlformats.org/drawingml/2006/main">
            <a:off x="7143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Android</a:t>
            </a:r>
          </a:p>
        </p:txBody>
      </p:sp>
      <p:sp>
        <p:nvSpPr>
          <p:cNvPr id="6" name="">
            <a:extLst xmlns:a="http://schemas.openxmlformats.org/drawingml/2006/main">
              <a:ext uri="{FF2B5EF4-FFF2-40B4-BE49-F238E27FC236}">
                <a16:creationId xmlns:a16="http://schemas.microsoft.com/office/drawing/2014/main" id="{7AC1F77D-F339-46C3-8572-C1CC80C8B1E8}"/>
              </a:ext>
            </a:extLst>
          </p:cNvPr>
          <p:cNvSpPr>
            <a:spLocks xmlns:a="http://schemas.openxmlformats.org/drawingml/2006/main" noGrp="1"/>
          </p:cNvSpPr>
          <p:nvPr/>
        </p:nvSpPr>
        <p:spPr>
          <a:xfrm xmlns:a="http://schemas.openxmlformats.org/drawingml/2006/main">
            <a:off x="7143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URL and result screens</a:t>
            </a:r>
          </a:p>
        </p:txBody>
      </p:sp>
      <p:sp>
        <p:nvSpPr>
          <p:cNvPr id="7" name="">
            <a:extLst xmlns:a="http://schemas.openxmlformats.org/drawingml/2006/main">
              <a:ext uri="{FF2B5EF4-FFF2-40B4-BE49-F238E27FC236}">
                <a16:creationId xmlns:a16="http://schemas.microsoft.com/office/drawing/2014/main" id="{B5F81571-64E8-45E5-89EB-B45AC6E3202C}"/>
              </a:ext>
            </a:extLst>
          </p:cNvPr>
          <p:cNvSpPr>
            <a:spLocks xmlns:a="http://schemas.openxmlformats.org/drawingml/2006/main" noGrp="1"/>
          </p:cNvSpPr>
          <p:nvPr/>
        </p:nvSpPr>
        <p:spPr>
          <a:xfrm xmlns:a="http://schemas.openxmlformats.org/drawingml/2006/main">
            <a:off x="723900" y="2628900"/>
            <a:ext cx="247650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B465A0F-C8A6-4354-80A9-7426C8619A28}"/>
              </a:ext>
            </a:extLst>
          </p:cNvPr>
          <p:cNvSpPr>
            <a:spLocks xmlns:a="http://schemas.openxmlformats.org/drawingml/2006/main" noGrp="1"/>
          </p:cNvSpPr>
          <p:nvPr/>
        </p:nvSpPr>
        <p:spPr>
          <a:xfrm xmlns:a="http://schemas.openxmlformats.org/drawingml/2006/main">
            <a:off x="34194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01F819BF-A3C9-4D5E-A4FB-D58DFC134543}"/>
              </a:ext>
            </a:extLst>
          </p:cNvPr>
          <p:cNvSpPr>
            <a:spLocks xmlns:a="http://schemas.openxmlformats.org/drawingml/2006/main" noGrp="1"/>
          </p:cNvSpPr>
          <p:nvPr/>
        </p:nvSpPr>
        <p:spPr>
          <a:xfrm xmlns:a="http://schemas.openxmlformats.org/drawingml/2006/main">
            <a:off x="34194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Django API</a:t>
            </a:r>
          </a:p>
        </p:txBody>
      </p:sp>
      <p:sp>
        <p:nvSpPr>
          <p:cNvPr id="10" name="">
            <a:extLst xmlns:a="http://schemas.openxmlformats.org/drawingml/2006/main">
              <a:ext uri="{FF2B5EF4-FFF2-40B4-BE49-F238E27FC236}">
                <a16:creationId xmlns:a16="http://schemas.microsoft.com/office/drawing/2014/main" id="{BB03346F-B8D0-4E56-AF5F-3ABADB59D1A0}"/>
              </a:ext>
            </a:extLst>
          </p:cNvPr>
          <p:cNvSpPr>
            <a:spLocks xmlns:a="http://schemas.openxmlformats.org/drawingml/2006/main" noGrp="1"/>
          </p:cNvSpPr>
          <p:nvPr/>
        </p:nvSpPr>
        <p:spPr>
          <a:xfrm xmlns:a="http://schemas.openxmlformats.org/drawingml/2006/main">
            <a:off x="34194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Validation and orchestration</a:t>
            </a:r>
          </a:p>
        </p:txBody>
      </p:sp>
      <p:sp>
        <p:nvSpPr>
          <p:cNvPr id="11" name="">
            <a:extLst xmlns:a="http://schemas.openxmlformats.org/drawingml/2006/main">
              <a:ext uri="{FF2B5EF4-FFF2-40B4-BE49-F238E27FC236}">
                <a16:creationId xmlns:a16="http://schemas.microsoft.com/office/drawing/2014/main" id="{8EBEC26D-FFC7-4F46-A278-BC0C65FCD2E9}"/>
              </a:ext>
            </a:extLst>
          </p:cNvPr>
          <p:cNvSpPr>
            <a:spLocks xmlns:a="http://schemas.openxmlformats.org/drawingml/2006/main" noGrp="1"/>
          </p:cNvSpPr>
          <p:nvPr/>
        </p:nvSpPr>
        <p:spPr>
          <a:xfrm xmlns:a="http://schemas.openxmlformats.org/drawingml/2006/main">
            <a:off x="3429000" y="2628900"/>
            <a:ext cx="247650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DC1555-CA6D-4513-BC48-367EC2633DB4}"/>
              </a:ext>
            </a:extLst>
          </p:cNvPr>
          <p:cNvSpPr>
            <a:spLocks xmlns:a="http://schemas.openxmlformats.org/drawingml/2006/main" noGrp="1"/>
          </p:cNvSpPr>
          <p:nvPr/>
        </p:nvSpPr>
        <p:spPr>
          <a:xfrm xmlns:a="http://schemas.openxmlformats.org/drawingml/2006/main">
            <a:off x="61245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03</a:t>
            </a:r>
          </a:p>
        </p:txBody>
      </p:sp>
      <p:sp>
        <p:nvSpPr>
          <p:cNvPr id="13" name="">
            <a:extLst xmlns:a="http://schemas.openxmlformats.org/drawingml/2006/main">
              <a:ext uri="{FF2B5EF4-FFF2-40B4-BE49-F238E27FC236}">
                <a16:creationId xmlns:a16="http://schemas.microsoft.com/office/drawing/2014/main" id="{AEE3AEDD-19DE-49BA-AE3A-E3AE763375B4}"/>
              </a:ext>
            </a:extLst>
          </p:cNvPr>
          <p:cNvSpPr>
            <a:spLocks xmlns:a="http://schemas.openxmlformats.org/drawingml/2006/main" noGrp="1"/>
          </p:cNvSpPr>
          <p:nvPr/>
        </p:nvSpPr>
        <p:spPr>
          <a:xfrm xmlns:a="http://schemas.openxmlformats.org/drawingml/2006/main">
            <a:off x="61245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NAVER + Gemini</a:t>
            </a:r>
          </a:p>
        </p:txBody>
      </p:sp>
      <p:sp>
        <p:nvSpPr>
          <p:cNvPr id="14" name="">
            <a:extLst xmlns:a="http://schemas.openxmlformats.org/drawingml/2006/main">
              <a:ext uri="{FF2B5EF4-FFF2-40B4-BE49-F238E27FC236}">
                <a16:creationId xmlns:a16="http://schemas.microsoft.com/office/drawing/2014/main" id="{B1B7D3AD-CB75-4B13-8D11-0B2B087DEBBD}"/>
              </a:ext>
            </a:extLst>
          </p:cNvPr>
          <p:cNvSpPr>
            <a:spLocks xmlns:a="http://schemas.openxmlformats.org/drawingml/2006/main" noGrp="1"/>
          </p:cNvSpPr>
          <p:nvPr/>
        </p:nvSpPr>
        <p:spPr>
          <a:xfrm xmlns:a="http://schemas.openxmlformats.org/drawingml/2006/main">
            <a:off x="61245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Related reports and structured analysis</a:t>
            </a:r>
          </a:p>
        </p:txBody>
      </p:sp>
      <p:sp>
        <p:nvSpPr>
          <p:cNvPr id="15" name="">
            <a:extLst xmlns:a="http://schemas.openxmlformats.org/drawingml/2006/main">
              <a:ext uri="{FF2B5EF4-FFF2-40B4-BE49-F238E27FC236}">
                <a16:creationId xmlns:a16="http://schemas.microsoft.com/office/drawing/2014/main" id="{98A5B073-49BF-4EA5-A88D-0CC848E64C6B}"/>
              </a:ext>
            </a:extLst>
          </p:cNvPr>
          <p:cNvSpPr>
            <a:spLocks xmlns:a="http://schemas.openxmlformats.org/drawingml/2006/main" noGrp="1"/>
          </p:cNvSpPr>
          <p:nvPr/>
        </p:nvSpPr>
        <p:spPr>
          <a:xfrm xmlns:a="http://schemas.openxmlformats.org/drawingml/2006/main">
            <a:off x="6134100" y="2628900"/>
            <a:ext cx="247650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021BE89-4E11-485E-8C72-7D6231C51C3E}"/>
              </a:ext>
            </a:extLst>
          </p:cNvPr>
          <p:cNvSpPr>
            <a:spLocks xmlns:a="http://schemas.openxmlformats.org/drawingml/2006/main" noGrp="1"/>
          </p:cNvSpPr>
          <p:nvPr/>
        </p:nvSpPr>
        <p:spPr>
          <a:xfrm xmlns:a="http://schemas.openxmlformats.org/drawingml/2006/main">
            <a:off x="88296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04</a:t>
            </a:r>
          </a:p>
        </p:txBody>
      </p:sp>
      <p:sp>
        <p:nvSpPr>
          <p:cNvPr id="17" name="">
            <a:extLst xmlns:a="http://schemas.openxmlformats.org/drawingml/2006/main">
              <a:ext uri="{FF2B5EF4-FFF2-40B4-BE49-F238E27FC236}">
                <a16:creationId xmlns:a16="http://schemas.microsoft.com/office/drawing/2014/main" id="{9CD725B0-DB19-44F1-96DC-879029FCB6E9}"/>
              </a:ext>
            </a:extLst>
          </p:cNvPr>
          <p:cNvSpPr>
            <a:spLocks xmlns:a="http://schemas.openxmlformats.org/drawingml/2006/main" noGrp="1"/>
          </p:cNvSpPr>
          <p:nvPr/>
        </p:nvSpPr>
        <p:spPr>
          <a:xfrm xmlns:a="http://schemas.openxmlformats.org/drawingml/2006/main">
            <a:off x="88296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Evidence JSON</a:t>
            </a:r>
          </a:p>
        </p:txBody>
      </p:sp>
      <p:sp>
        <p:nvSpPr>
          <p:cNvPr id="18" name="">
            <a:extLst xmlns:a="http://schemas.openxmlformats.org/drawingml/2006/main">
              <a:ext uri="{FF2B5EF4-FFF2-40B4-BE49-F238E27FC236}">
                <a16:creationId xmlns:a16="http://schemas.microsoft.com/office/drawing/2014/main" id="{F5D1482C-49F4-408F-8B48-F7B7DA15E156}"/>
              </a:ext>
            </a:extLst>
          </p:cNvPr>
          <p:cNvSpPr>
            <a:spLocks xmlns:a="http://schemas.openxmlformats.org/drawingml/2006/main" noGrp="1"/>
          </p:cNvSpPr>
          <p:nvPr/>
        </p:nvSpPr>
        <p:spPr>
          <a:xfrm xmlns:a="http://schemas.openxmlformats.org/drawingml/2006/main">
            <a:off x="88296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Quotes, links, relation, status</a:t>
            </a:r>
          </a:p>
        </p:txBody>
      </p:sp>
      <p:sp>
        <p:nvSpPr>
          <p:cNvPr id="19" name="">
            <a:extLst xmlns:a="http://schemas.openxmlformats.org/drawingml/2006/main">
              <a:ext uri="{FF2B5EF4-FFF2-40B4-BE49-F238E27FC236}">
                <a16:creationId xmlns:a16="http://schemas.microsoft.com/office/drawing/2014/main" id="{62C836FB-C7EF-4C61-B040-F864E127F808}"/>
              </a:ext>
            </a:extLst>
          </p:cNvPr>
          <p:cNvSpPr>
            <a:spLocks xmlns:a="http://schemas.openxmlformats.org/drawingml/2006/main" noGrp="1"/>
          </p:cNvSpPr>
          <p:nvPr/>
        </p:nvSpPr>
        <p:spPr>
          <a:xfrm xmlns:a="http://schemas.openxmlformats.org/drawingml/2006/main">
            <a:off x="723900" y="5534025"/>
            <a:ext cx="107346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0CFB30B-7585-4C2C-8091-AAD53B9C81D8}"/>
              </a:ext>
            </a:extLst>
          </p:cNvPr>
          <p:cNvSpPr>
            <a:spLocks xmlns:a="http://schemas.openxmlformats.org/drawingml/2006/main" noGrp="1"/>
          </p:cNvSpPr>
          <p:nvPr/>
        </p:nvSpPr>
        <p:spPr>
          <a:xfrm xmlns:a="http://schemas.openxmlformats.org/drawingml/2006/main">
            <a:off x="742950" y="56769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05B"/>
                </a:solidFill>
                <a:latin typeface="Arial"/>
                <a:ea typeface="Arial"/>
                <a:cs typeface="Arial"/>
              </a:defRPr>
            </a:defPPr>
          </a:lstStyle>
          <a:p xmlns:a="http://schemas.openxmlformats.org/drawingml/2006/main">
            <a:pPr algn="l">
              <a:defRPr sz="1725" b="0">
                <a:solidFill>
                  <a:srgbClr val="52605B"/>
                </a:solidFill>
                <a:latin typeface="Arial"/>
                <a:ea typeface="Arial"/>
                <a:cs typeface="Arial"/>
              </a:defRPr>
            </a:pPr>
            <a:r>
              <a:rPr sz="1725" b="0">
                <a:solidFill>
                  <a:srgbClr val="52605B"/>
                </a:solidFill>
                <a:latin typeface="Arial"/>
                <a:ea typeface="Arial"/>
                <a:cs typeface="Arial"/>
              </a:rPr>
              <a:t>Deployed v2 reached live comparison. Rubric and Android checks remain open.</a:t>
            </a:r>
          </a:p>
        </p:txBody>
      </p:sp>
    </p:spTree>
    <p:extLst>
      <p:ext uri="{BB962C8B-B14F-4D97-AF65-F5344CB8AC3E}">
        <p14:creationId xmlns:p14="http://schemas.microsoft.com/office/powerpoint/2010/main" val="586135764"/>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D71E4BB-D51B-420C-8C88-451EEA5A26D5}"/>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Keeping evidence attached</a:t>
            </a:r>
          </a:p>
        </p:txBody>
      </p:sp>
      <p:sp>
        <p:nvSpPr>
          <p:cNvPr id="2" name="">
            <a:extLst xmlns:a="http://schemas.openxmlformats.org/drawingml/2006/main">
              <a:ext uri="{FF2B5EF4-FFF2-40B4-BE49-F238E27FC236}">
                <a16:creationId xmlns:a16="http://schemas.microsoft.com/office/drawing/2014/main" id="{5E5514F1-9D5F-4E74-BDD8-5A36144DBC01}"/>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8A680A3-AA18-4DCC-B1A0-9EFA8AC4D0FE}"/>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6E4E590A-7EE2-4F05-99D1-4C33D64BCF18}"/>
              </a:ext>
            </a:extLst>
          </p:cNvPr>
          <p:cNvSpPr>
            <a:spLocks xmlns:a="http://schemas.openxmlformats.org/drawingml/2006/main" noGrp="1"/>
          </p:cNvSpPr>
          <p:nvPr/>
        </p:nvSpPr>
        <p:spPr>
          <a:xfrm xmlns:a="http://schemas.openxmlformats.org/drawingml/2006/main">
            <a:off x="733425" y="1762125"/>
            <a:ext cx="10287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75" b="0">
                <a:solidFill>
                  <a:srgbClr val="0D765E"/>
                </a:solidFill>
                <a:latin typeface="Georgia"/>
                <a:ea typeface="Georgia"/>
                <a:cs typeface="Georgia"/>
              </a:defRPr>
            </a:defPPr>
          </a:lstStyle>
          <a:p xmlns:a="http://schemas.openxmlformats.org/drawingml/2006/main">
            <a:pPr algn="l">
              <a:defRPr sz="3675" b="0">
                <a:solidFill>
                  <a:srgbClr val="0D765E"/>
                </a:solidFill>
                <a:latin typeface="Georgia"/>
                <a:ea typeface="Georgia"/>
                <a:cs typeface="Georgia"/>
              </a:defRPr>
            </a:pPr>
            <a:r>
              <a:rPr sz="3675" b="0">
                <a:solidFill>
                  <a:srgbClr val="0D765E"/>
                </a:solidFill>
                <a:latin typeface="Georgia"/>
                <a:ea typeface="Georgia"/>
                <a:cs typeface="Georgia"/>
              </a:rPr>
              <a:t>A quote has to keep its article.</a:t>
            </a:r>
          </a:p>
        </p:txBody>
      </p:sp>
      <p:sp>
        <p:nvSpPr>
          <p:cNvPr id="5" name="">
            <a:extLst xmlns:a="http://schemas.openxmlformats.org/drawingml/2006/main">
              <a:ext uri="{FF2B5EF4-FFF2-40B4-BE49-F238E27FC236}">
                <a16:creationId xmlns:a16="http://schemas.microsoft.com/office/drawing/2014/main" id="{93189806-6FB5-468B-86B6-B99AA718F2BB}"/>
              </a:ext>
            </a:extLst>
          </p:cNvPr>
          <p:cNvSpPr>
            <a:spLocks xmlns:a="http://schemas.openxmlformats.org/drawingml/2006/main" noGrp="1"/>
          </p:cNvSpPr>
          <p:nvPr/>
        </p:nvSpPr>
        <p:spPr>
          <a:xfrm xmlns:a="http://schemas.openxmlformats.org/drawingml/2006/main">
            <a:off x="752475" y="2724150"/>
            <a:ext cx="10429875"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The v2 pipeline and Android UI used different result structures. A loose mapping could show a valid quote under the wrong source.</a:t>
            </a:r>
          </a:p>
        </p:txBody>
      </p:sp>
      <p:sp>
        <p:nvSpPr>
          <p:cNvPr id="6" name="">
            <a:extLst xmlns:a="http://schemas.openxmlformats.org/drawingml/2006/main">
              <a:ext uri="{FF2B5EF4-FFF2-40B4-BE49-F238E27FC236}">
                <a16:creationId xmlns:a16="http://schemas.microsoft.com/office/drawing/2014/main" id="{6083F3FD-EC5A-4D79-8205-72C110608360}"/>
              </a:ext>
            </a:extLst>
          </p:cNvPr>
          <p:cNvSpPr>
            <a:spLocks xmlns:a="http://schemas.openxmlformats.org/drawingml/2006/main" noGrp="1"/>
          </p:cNvSpPr>
          <p:nvPr/>
        </p:nvSpPr>
        <p:spPr>
          <a:xfrm xmlns:a="http://schemas.openxmlformats.org/drawingml/2006/main">
            <a:off x="742950" y="4076700"/>
            <a:ext cx="10715625"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985F332-D68D-40AF-AC06-FA35984CD57B}"/>
              </a:ext>
            </a:extLst>
          </p:cNvPr>
          <p:cNvSpPr>
            <a:spLocks xmlns:a="http://schemas.openxmlformats.org/drawingml/2006/main" noGrp="1"/>
          </p:cNvSpPr>
          <p:nvPr/>
        </p:nvSpPr>
        <p:spPr>
          <a:xfrm xmlns:a="http://schemas.openxmlformats.org/drawingml/2006/main">
            <a:off x="752475" y="4371975"/>
            <a:ext cx="32575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article_index</a:t>
            </a:r>
          </a:p>
        </p:txBody>
      </p:sp>
      <p:sp>
        <p:nvSpPr>
          <p:cNvPr id="8" name="">
            <a:extLst xmlns:a="http://schemas.openxmlformats.org/drawingml/2006/main">
              <a:ext uri="{FF2B5EF4-FFF2-40B4-BE49-F238E27FC236}">
                <a16:creationId xmlns:a16="http://schemas.microsoft.com/office/drawing/2014/main" id="{5369316F-4BF1-4090-87B9-E8C9CFC4C8E1}"/>
              </a:ext>
            </a:extLst>
          </p:cNvPr>
          <p:cNvSpPr>
            <a:spLocks xmlns:a="http://schemas.openxmlformats.org/drawingml/2006/main" noGrp="1"/>
          </p:cNvSpPr>
          <p:nvPr/>
        </p:nvSpPr>
        <p:spPr>
          <a:xfrm xmlns:a="http://schemas.openxmlformats.org/drawingml/2006/main">
            <a:off x="752475" y="5019675"/>
            <a:ext cx="323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Which article?</a:t>
            </a:r>
          </a:p>
        </p:txBody>
      </p:sp>
      <p:sp>
        <p:nvSpPr>
          <p:cNvPr id="9" name="">
            <a:extLst xmlns:a="http://schemas.openxmlformats.org/drawingml/2006/main">
              <a:ext uri="{FF2B5EF4-FFF2-40B4-BE49-F238E27FC236}">
                <a16:creationId xmlns:a16="http://schemas.microsoft.com/office/drawing/2014/main" id="{97BA403C-F89C-4F97-B6DE-3B924F84EBC1}"/>
              </a:ext>
            </a:extLst>
          </p:cNvPr>
          <p:cNvSpPr>
            <a:spLocks xmlns:a="http://schemas.openxmlformats.org/drawingml/2006/main" noGrp="1"/>
          </p:cNvSpPr>
          <p:nvPr/>
        </p:nvSpPr>
        <p:spPr>
          <a:xfrm xmlns:a="http://schemas.openxmlformats.org/drawingml/2006/main">
            <a:off x="4343400" y="4371975"/>
            <a:ext cx="32575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source_url + quote</a:t>
            </a:r>
          </a:p>
        </p:txBody>
      </p:sp>
      <p:sp>
        <p:nvSpPr>
          <p:cNvPr id="10" name="">
            <a:extLst xmlns:a="http://schemas.openxmlformats.org/drawingml/2006/main">
              <a:ext uri="{FF2B5EF4-FFF2-40B4-BE49-F238E27FC236}">
                <a16:creationId xmlns:a16="http://schemas.microsoft.com/office/drawing/2014/main" id="{9BC574C7-1640-4357-B84D-1FC109E31640}"/>
              </a:ext>
            </a:extLst>
          </p:cNvPr>
          <p:cNvSpPr>
            <a:spLocks xmlns:a="http://schemas.openxmlformats.org/drawingml/2006/main" noGrp="1"/>
          </p:cNvSpPr>
          <p:nvPr/>
        </p:nvSpPr>
        <p:spPr>
          <a:xfrm xmlns:a="http://schemas.openxmlformats.org/drawingml/2006/main">
            <a:off x="4343400" y="5019675"/>
            <a:ext cx="323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Where is the passage?</a:t>
            </a:r>
          </a:p>
        </p:txBody>
      </p:sp>
      <p:sp>
        <p:nvSpPr>
          <p:cNvPr id="11" name="">
            <a:extLst xmlns:a="http://schemas.openxmlformats.org/drawingml/2006/main">
              <a:ext uri="{FF2B5EF4-FFF2-40B4-BE49-F238E27FC236}">
                <a16:creationId xmlns:a16="http://schemas.microsoft.com/office/drawing/2014/main" id="{E8975296-93E3-4AB8-A563-324689EBA0FD}"/>
              </a:ext>
            </a:extLst>
          </p:cNvPr>
          <p:cNvSpPr>
            <a:spLocks xmlns:a="http://schemas.openxmlformats.org/drawingml/2006/main" noGrp="1"/>
          </p:cNvSpPr>
          <p:nvPr/>
        </p:nvSpPr>
        <p:spPr>
          <a:xfrm xmlns:a="http://schemas.openxmlformats.org/drawingml/2006/main">
            <a:off x="7934325" y="4371975"/>
            <a:ext cx="32575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relation + speaker</a:t>
            </a:r>
          </a:p>
        </p:txBody>
      </p:sp>
      <p:sp>
        <p:nvSpPr>
          <p:cNvPr id="12" name="">
            <a:extLst xmlns:a="http://schemas.openxmlformats.org/drawingml/2006/main">
              <a:ext uri="{FF2B5EF4-FFF2-40B4-BE49-F238E27FC236}">
                <a16:creationId xmlns:a16="http://schemas.microsoft.com/office/drawing/2014/main" id="{C2C291A0-C6BF-4D01-B177-EBBA9DBAC84A}"/>
              </a:ext>
            </a:extLst>
          </p:cNvPr>
          <p:cNvSpPr>
            <a:spLocks xmlns:a="http://schemas.openxmlformats.org/drawingml/2006/main" noGrp="1"/>
          </p:cNvSpPr>
          <p:nvPr/>
        </p:nvSpPr>
        <p:spPr>
          <a:xfrm xmlns:a="http://schemas.openxmlformats.org/drawingml/2006/main">
            <a:off x="7934325" y="5019675"/>
            <a:ext cx="323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What does it mean, and who said it?</a:t>
            </a:r>
          </a:p>
        </p:txBody>
      </p:sp>
    </p:spTree>
    <p:extLst>
      <p:ext uri="{BB962C8B-B14F-4D97-AF65-F5344CB8AC3E}">
        <p14:creationId xmlns:p14="http://schemas.microsoft.com/office/powerpoint/2010/main" val="1387189404"/>
      </p:ext>
    </p:extLst>
  </p:cSld>
</p:sld>
</file>

<file path=ppt/slides/slide8.xml><?xml version="1.0" encoding="utf-8"?>
<p:sld xmlns:p="http://schemas.openxmlformats.org/presentationml/2006/main">
  <p:cSld>
    <p:bg>
      <p:bgPr>
        <a:solidFill xmlns:a="http://schemas.openxmlformats.org/drawingml/2006/main">
          <a:srgbClr val="14272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F292C6-FBF0-4F73-97D4-89684DE9E14F}"/>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FFFFFF"/>
                </a:solidFill>
                <a:latin typeface="Georgia"/>
                <a:ea typeface="Georgia"/>
                <a:cs typeface="Georgia"/>
              </a:defRPr>
            </a:defPPr>
          </a:lstStyle>
          <a:p xmlns:a="http://schemas.openxmlformats.org/drawingml/2006/main">
            <a:pPr algn="l">
              <a:defRPr sz="3525" b="0">
                <a:solidFill>
                  <a:srgbClr val="FFFFFF"/>
                </a:solidFill>
                <a:latin typeface="Georgia"/>
                <a:ea typeface="Georgia"/>
                <a:cs typeface="Georgia"/>
              </a:defRPr>
            </a:pPr>
            <a:r>
              <a:rPr sz="3525" b="0">
                <a:solidFill>
                  <a:srgbClr val="FFFFFF"/>
                </a:solidFill>
                <a:latin typeface="Georgia"/>
                <a:ea typeface="Georgia"/>
                <a:cs typeface="Georgia"/>
              </a:rPr>
              <a:t>Current UI preview</a:t>
            </a:r>
          </a:p>
        </p:txBody>
      </p:sp>
      <p:sp>
        <p:nvSpPr>
          <p:cNvPr id="2" name="">
            <a:extLst xmlns:a="http://schemas.openxmlformats.org/drawingml/2006/main">
              <a:ext uri="{FF2B5EF4-FFF2-40B4-BE49-F238E27FC236}">
                <a16:creationId xmlns:a16="http://schemas.microsoft.com/office/drawing/2014/main" id="{465D6974-F804-4834-897F-2E2DF3544F78}"/>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466459"/>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AF0A048-2954-4C1E-879E-6C7163F2B754}"/>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DCE9E3"/>
                </a:solidFill>
                <a:latin typeface="Arial"/>
                <a:ea typeface="Arial"/>
                <a:cs typeface="Arial"/>
              </a:defRPr>
            </a:defPPr>
          </a:lstStyle>
          <a:p xmlns:a="http://schemas.openxmlformats.org/drawingml/2006/main">
            <a:pPr algn="r">
              <a:defRPr sz="1350" b="0">
                <a:solidFill>
                  <a:srgbClr val="DCE9E3"/>
                </a:solidFill>
                <a:latin typeface="Arial"/>
                <a:ea typeface="Arial"/>
                <a:cs typeface="Arial"/>
              </a:defRPr>
            </a:pPr>
            <a:r>
              <a:rPr sz="1350" b="0">
                <a:solidFill>
                  <a:srgbClr val="DCE9E3"/>
                </a:solidFill>
                <a:latin typeface="Arial"/>
                <a:ea typeface="Arial"/>
                <a:cs typeface="Arial"/>
              </a:rPr>
              <a:t>08</a:t>
            </a:r>
          </a:p>
        </p:txBody>
      </p:sp>
      <p:pic>
        <p:nvPicPr>
          <p:cNvPr id="4" name="">
            <a:extLst xmlns:a="http://schemas.openxmlformats.org/drawingml/2006/main">
              <a:ext uri="{FF2B5EF4-FFF2-40B4-BE49-F238E27FC236}">
                <a16:creationId xmlns:a16="http://schemas.microsoft.com/office/drawing/2014/main" id="{E4BCF559-1E28-4996-8C89-AB826EF9BBFA}"/>
              </a:ext>
            </a:extLst>
          </p:cNvPr>
          <p:cNvPicPr>
            <a:picLocks xmlns:a="http://schemas.openxmlformats.org/drawingml/2006/main" noChangeAspect="1"/>
          </p:cNvPicPr>
          <p:nvPr/>
        </p:nvPicPr>
        <p:blipFill>
          <a:blip xmlns:r="http://schemas.openxmlformats.org/officeDocument/2006/relationships" xmlns:a="http://schemas.openxmlformats.org/drawingml/2006/main" r:embed="Rf6cad14ef4cb4cd1"/>
          <a:srcRect xmlns:a="http://schemas.openxmlformats.org/drawingml/2006/main" l="3000" t="27000" r="3000" b="32000"/>
          <a:stretch xmlns:a="http://schemas.openxmlformats.org/drawingml/2006/main"/>
        </p:blipFill>
        <p:spPr>
          <a:xfrm xmlns:a="http://schemas.openxmlformats.org/drawingml/2006/main">
            <a:off x="695325" y="1571625"/>
            <a:ext cx="4953000" cy="46101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1D54DE7-0417-444F-87BD-8D56BAD4F781}"/>
              </a:ext>
            </a:extLst>
          </p:cNvPr>
          <p:cNvSpPr>
            <a:spLocks xmlns:a="http://schemas.openxmlformats.org/drawingml/2006/main" noGrp="1"/>
          </p:cNvSpPr>
          <p:nvPr/>
        </p:nvSpPr>
        <p:spPr>
          <a:xfrm xmlns:a="http://schemas.openxmlformats.org/drawingml/2006/main">
            <a:off x="6048375" y="1914525"/>
            <a:ext cx="5124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E9CE7A"/>
                </a:solidFill>
                <a:latin typeface="Arial"/>
                <a:ea typeface="Arial"/>
                <a:cs typeface="Arial"/>
              </a:defRPr>
            </a:defPPr>
          </a:lstStyle>
          <a:p xmlns:a="http://schemas.openxmlformats.org/drawingml/2006/main">
            <a:pPr algn="l">
              <a:defRPr sz="2175" b="1">
                <a:solidFill>
                  <a:srgbClr val="E9CE7A"/>
                </a:solidFill>
                <a:latin typeface="Arial"/>
                <a:ea typeface="Arial"/>
                <a:cs typeface="Arial"/>
              </a:defRPr>
            </a:pPr>
            <a:r>
              <a:rPr sz="2175" b="1">
                <a:solidFill>
                  <a:srgbClr val="E9CE7A"/>
                </a:solidFill>
                <a:latin typeface="Arial"/>
                <a:ea typeface="Arial"/>
                <a:cs typeface="Arial"/>
              </a:rPr>
              <a:t>Synthetic response</a:t>
            </a:r>
          </a:p>
        </p:txBody>
      </p:sp>
      <p:sp>
        <p:nvSpPr>
          <p:cNvPr id="6" name="">
            <a:extLst xmlns:a="http://schemas.openxmlformats.org/drawingml/2006/main">
              <a:ext uri="{FF2B5EF4-FFF2-40B4-BE49-F238E27FC236}">
                <a16:creationId xmlns:a16="http://schemas.microsoft.com/office/drawing/2014/main" id="{9495DEE6-CF4C-4A15-BA80-0AB16FEE2748}"/>
              </a:ext>
            </a:extLst>
          </p:cNvPr>
          <p:cNvSpPr>
            <a:spLocks xmlns:a="http://schemas.openxmlformats.org/drawingml/2006/main" noGrp="1"/>
          </p:cNvSpPr>
          <p:nvPr/>
        </p:nvSpPr>
        <p:spPr>
          <a:xfrm xmlns:a="http://schemas.openxmlformats.org/drawingml/2006/main">
            <a:off x="6038850" y="2667000"/>
            <a:ext cx="5133975"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775" b="0">
                <a:solidFill>
                  <a:srgbClr val="FFFFFF"/>
                </a:solidFill>
                <a:latin typeface="Georgia"/>
                <a:ea typeface="Georgia"/>
                <a:cs typeface="Georgia"/>
              </a:defRPr>
            </a:defPPr>
          </a:lstStyle>
          <a:p xmlns:a="http://schemas.openxmlformats.org/drawingml/2006/main">
            <a:pPr algn="l">
              <a:defRPr sz="2775" b="0">
                <a:solidFill>
                  <a:srgbClr val="FFFFFF"/>
                </a:solidFill>
                <a:latin typeface="Georgia"/>
                <a:ea typeface="Georgia"/>
                <a:cs typeface="Georgia"/>
              </a:defRPr>
            </a:pPr>
            <a:r>
              <a:rPr sz="2775" b="0">
                <a:solidFill>
                  <a:srgbClr val="FFFFFF"/>
                </a:solidFill>
                <a:latin typeface="Georgia"/>
                <a:ea typeface="Georgia"/>
                <a:cs typeface="Georgia"/>
              </a:rPr>
              <a:t>A quote, its source link, and rubric details.</a:t>
            </a:r>
          </a:p>
        </p:txBody>
      </p:sp>
      <p:sp>
        <p:nvSpPr>
          <p:cNvPr id="7" name="">
            <a:extLst xmlns:a="http://schemas.openxmlformats.org/drawingml/2006/main">
              <a:ext uri="{FF2B5EF4-FFF2-40B4-BE49-F238E27FC236}">
                <a16:creationId xmlns:a16="http://schemas.microsoft.com/office/drawing/2014/main" id="{5D4CC9FB-8A8A-456B-BCF6-CFF694CAA000}"/>
              </a:ext>
            </a:extLst>
          </p:cNvPr>
          <p:cNvSpPr>
            <a:spLocks xmlns:a="http://schemas.openxmlformats.org/drawingml/2006/main" noGrp="1"/>
          </p:cNvSpPr>
          <p:nvPr/>
        </p:nvSpPr>
        <p:spPr>
          <a:xfrm xmlns:a="http://schemas.openxmlformats.org/drawingml/2006/main">
            <a:off x="6057900" y="4819650"/>
            <a:ext cx="4772025" cy="19050"/>
          </a:xfrm>
          <a:prstGeom xmlns:a="http://schemas.openxmlformats.org/drawingml/2006/main" prst="rect">
            <a:avLst/>
          </a:prstGeom>
          <a:solidFill xmlns:a="http://schemas.openxmlformats.org/drawingml/2006/main">
            <a:srgbClr val="4B655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BE9319A-1198-45DB-8E56-59745C1654E7}"/>
              </a:ext>
            </a:extLst>
          </p:cNvPr>
          <p:cNvSpPr>
            <a:spLocks xmlns:a="http://schemas.openxmlformats.org/drawingml/2006/main" noGrp="1"/>
          </p:cNvSpPr>
          <p:nvPr/>
        </p:nvSpPr>
        <p:spPr>
          <a:xfrm xmlns:a="http://schemas.openxmlformats.org/drawingml/2006/main">
            <a:off x="6057900" y="5010150"/>
            <a:ext cx="477202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DCE9E3"/>
                </a:solidFill>
                <a:latin typeface="Arial"/>
                <a:ea typeface="Arial"/>
                <a:cs typeface="Arial"/>
              </a:defRPr>
            </a:defPPr>
          </a:lstStyle>
          <a:p xmlns:a="http://schemas.openxmlformats.org/drawingml/2006/main">
            <a:pPr algn="l">
              <a:defRPr sz="1800" b="0">
                <a:solidFill>
                  <a:srgbClr val="DCE9E3"/>
                </a:solidFill>
                <a:latin typeface="Arial"/>
                <a:ea typeface="Arial"/>
                <a:cs typeface="Arial"/>
              </a:defRPr>
            </a:pPr>
            <a:r>
              <a:rPr sz="1800" b="0">
                <a:solidFill>
                  <a:srgbClr val="DCE9E3"/>
                </a:solidFill>
                <a:latin typeface="Arial"/>
                <a:ea typeface="Arial"/>
                <a:cs typeface="Arial"/>
              </a:rPr>
              <a:t>API comparison available. Rubric validation failed. Android test remains open.</a:t>
            </a:r>
          </a:p>
        </p:txBody>
      </p:sp>
    </p:spTree>
    <p:extLst>
      <p:ext uri="{BB962C8B-B14F-4D97-AF65-F5344CB8AC3E}">
        <p14:creationId xmlns:p14="http://schemas.microsoft.com/office/powerpoint/2010/main" val="2069525781"/>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063962E-251F-4EFD-849A-EEC56A7B2ED8}"/>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Team and integration status</a:t>
            </a:r>
          </a:p>
        </p:txBody>
      </p:sp>
      <p:sp>
        <p:nvSpPr>
          <p:cNvPr id="2" name="">
            <a:extLst xmlns:a="http://schemas.openxmlformats.org/drawingml/2006/main">
              <a:ext uri="{FF2B5EF4-FFF2-40B4-BE49-F238E27FC236}">
                <a16:creationId xmlns:a16="http://schemas.microsoft.com/office/drawing/2014/main" id="{7F208063-A8AC-4CFB-AA35-8D5328B6C975}"/>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8F15E9E-A57F-4E18-B296-6E12F929C5CD}"/>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5609ADD2-887B-422F-8B0A-C3967FD68B0C}"/>
              </a:ext>
            </a:extLst>
          </p:cNvPr>
          <p:cNvSpPr>
            <a:spLocks xmlns:a="http://schemas.openxmlformats.org/drawingml/2006/main" noGrp="1"/>
          </p:cNvSpPr>
          <p:nvPr/>
        </p:nvSpPr>
        <p:spPr>
          <a:xfrm xmlns:a="http://schemas.openxmlformats.org/drawingml/2006/main">
            <a:off x="762000" y="174307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Seoyoung Do</a:t>
            </a:r>
          </a:p>
        </p:txBody>
      </p:sp>
      <p:sp>
        <p:nvSpPr>
          <p:cNvPr id="5" name="">
            <a:extLst xmlns:a="http://schemas.openxmlformats.org/drawingml/2006/main">
              <a:ext uri="{FF2B5EF4-FFF2-40B4-BE49-F238E27FC236}">
                <a16:creationId xmlns:a16="http://schemas.microsoft.com/office/drawing/2014/main" id="{85226BC0-ADBA-4D1F-A8A3-0E520F40DD71}"/>
              </a:ext>
            </a:extLst>
          </p:cNvPr>
          <p:cNvSpPr>
            <a:spLocks xmlns:a="http://schemas.openxmlformats.org/drawingml/2006/main" noGrp="1"/>
          </p:cNvSpPr>
          <p:nvPr/>
        </p:nvSpPr>
        <p:spPr>
          <a:xfrm xmlns:a="http://schemas.openxmlformats.org/drawingml/2006/main">
            <a:off x="5429250" y="178117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Comparison rubric</a:t>
            </a:r>
          </a:p>
        </p:txBody>
      </p:sp>
      <p:sp>
        <p:nvSpPr>
          <p:cNvPr id="6" name="">
            <a:extLst xmlns:a="http://schemas.openxmlformats.org/drawingml/2006/main">
              <a:ext uri="{FF2B5EF4-FFF2-40B4-BE49-F238E27FC236}">
                <a16:creationId xmlns:a16="http://schemas.microsoft.com/office/drawing/2014/main" id="{F2494026-B31A-404A-B825-254E16AB2CCF}"/>
              </a:ext>
            </a:extLst>
          </p:cNvPr>
          <p:cNvSpPr>
            <a:spLocks xmlns:a="http://schemas.openxmlformats.org/drawingml/2006/main" noGrp="1"/>
          </p:cNvSpPr>
          <p:nvPr/>
        </p:nvSpPr>
        <p:spPr>
          <a:xfrm xmlns:a="http://schemas.openxmlformats.org/drawingml/2006/main">
            <a:off x="752475" y="2495550"/>
            <a:ext cx="1047750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84E136-F4B4-4380-99BC-740FAB758346}"/>
              </a:ext>
            </a:extLst>
          </p:cNvPr>
          <p:cNvSpPr>
            <a:spLocks xmlns:a="http://schemas.openxmlformats.org/drawingml/2006/main" noGrp="1"/>
          </p:cNvSpPr>
          <p:nvPr/>
        </p:nvSpPr>
        <p:spPr>
          <a:xfrm xmlns:a="http://schemas.openxmlformats.org/drawingml/2006/main">
            <a:off x="762000" y="26765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Junseo Heo</a:t>
            </a:r>
          </a:p>
        </p:txBody>
      </p:sp>
      <p:sp>
        <p:nvSpPr>
          <p:cNvPr id="8" name="">
            <a:extLst xmlns:a="http://schemas.openxmlformats.org/drawingml/2006/main">
              <a:ext uri="{FF2B5EF4-FFF2-40B4-BE49-F238E27FC236}">
                <a16:creationId xmlns:a16="http://schemas.microsoft.com/office/drawing/2014/main" id="{45C60099-404F-467A-90CC-CB1A84F42F09}"/>
              </a:ext>
            </a:extLst>
          </p:cNvPr>
          <p:cNvSpPr>
            <a:spLocks xmlns:a="http://schemas.openxmlformats.org/drawingml/2006/main" noGrp="1"/>
          </p:cNvSpPr>
          <p:nvPr/>
        </p:nvSpPr>
        <p:spPr>
          <a:xfrm xmlns:a="http://schemas.openxmlformats.org/drawingml/2006/main">
            <a:off x="5429250" y="271462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v2 analysis pipeline</a:t>
            </a:r>
          </a:p>
        </p:txBody>
      </p:sp>
      <p:sp>
        <p:nvSpPr>
          <p:cNvPr id="9" name="">
            <a:extLst xmlns:a="http://schemas.openxmlformats.org/drawingml/2006/main">
              <a:ext uri="{FF2B5EF4-FFF2-40B4-BE49-F238E27FC236}">
                <a16:creationId xmlns:a16="http://schemas.microsoft.com/office/drawing/2014/main" id="{D34C9C92-C4E7-44E4-8713-85D8A89E7635}"/>
              </a:ext>
            </a:extLst>
          </p:cNvPr>
          <p:cNvSpPr>
            <a:spLocks xmlns:a="http://schemas.openxmlformats.org/drawingml/2006/main" noGrp="1"/>
          </p:cNvSpPr>
          <p:nvPr/>
        </p:nvSpPr>
        <p:spPr>
          <a:xfrm xmlns:a="http://schemas.openxmlformats.org/drawingml/2006/main">
            <a:off x="752475" y="3429000"/>
            <a:ext cx="1047750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B145E3-703F-4713-B086-F9F5C92763B1}"/>
              </a:ext>
            </a:extLst>
          </p:cNvPr>
          <p:cNvSpPr>
            <a:spLocks xmlns:a="http://schemas.openxmlformats.org/drawingml/2006/main" noGrp="1"/>
          </p:cNvSpPr>
          <p:nvPr/>
        </p:nvSpPr>
        <p:spPr>
          <a:xfrm xmlns:a="http://schemas.openxmlformats.org/drawingml/2006/main">
            <a:off x="762000" y="360997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Jinsol Lee</a:t>
            </a:r>
          </a:p>
        </p:txBody>
      </p:sp>
      <p:sp>
        <p:nvSpPr>
          <p:cNvPr id="11" name="">
            <a:extLst xmlns:a="http://schemas.openxmlformats.org/drawingml/2006/main">
              <a:ext uri="{FF2B5EF4-FFF2-40B4-BE49-F238E27FC236}">
                <a16:creationId xmlns:a16="http://schemas.microsoft.com/office/drawing/2014/main" id="{EEA70C2E-9A6E-4541-B337-36B998F02F6F}"/>
              </a:ext>
            </a:extLst>
          </p:cNvPr>
          <p:cNvSpPr>
            <a:spLocks xmlns:a="http://schemas.openxmlformats.org/drawingml/2006/main" noGrp="1"/>
          </p:cNvSpPr>
          <p:nvPr/>
        </p:nvSpPr>
        <p:spPr>
          <a:xfrm xmlns:a="http://schemas.openxmlformats.org/drawingml/2006/main">
            <a:off x="5429250" y="364807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Android result screens</a:t>
            </a:r>
          </a:p>
        </p:txBody>
      </p:sp>
      <p:sp>
        <p:nvSpPr>
          <p:cNvPr id="12" name="">
            <a:extLst xmlns:a="http://schemas.openxmlformats.org/drawingml/2006/main">
              <a:ext uri="{FF2B5EF4-FFF2-40B4-BE49-F238E27FC236}">
                <a16:creationId xmlns:a16="http://schemas.microsoft.com/office/drawing/2014/main" id="{AD2733A2-913B-4E53-8B7D-70A7E716086A}"/>
              </a:ext>
            </a:extLst>
          </p:cNvPr>
          <p:cNvSpPr>
            <a:spLocks xmlns:a="http://schemas.openxmlformats.org/drawingml/2006/main" noGrp="1"/>
          </p:cNvSpPr>
          <p:nvPr/>
        </p:nvSpPr>
        <p:spPr>
          <a:xfrm xmlns:a="http://schemas.openxmlformats.org/drawingml/2006/main">
            <a:off x="752475" y="4362450"/>
            <a:ext cx="1047750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013EEE3-7A33-4B1F-A94C-ECE2F6C07BD4}"/>
              </a:ext>
            </a:extLst>
          </p:cNvPr>
          <p:cNvSpPr>
            <a:spLocks xmlns:a="http://schemas.openxmlformats.org/drawingml/2006/main" noGrp="1"/>
          </p:cNvSpPr>
          <p:nvPr/>
        </p:nvSpPr>
        <p:spPr>
          <a:xfrm xmlns:a="http://schemas.openxmlformats.org/drawingml/2006/main">
            <a:off x="762000" y="45434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Seungmin Kim</a:t>
            </a:r>
          </a:p>
        </p:txBody>
      </p:sp>
      <p:sp>
        <p:nvSpPr>
          <p:cNvPr id="14" name="">
            <a:extLst xmlns:a="http://schemas.openxmlformats.org/drawingml/2006/main">
              <a:ext uri="{FF2B5EF4-FFF2-40B4-BE49-F238E27FC236}">
                <a16:creationId xmlns:a16="http://schemas.microsoft.com/office/drawing/2014/main" id="{9CA4AE1E-44F5-4471-A66E-848E03AF7C0F}"/>
              </a:ext>
            </a:extLst>
          </p:cNvPr>
          <p:cNvSpPr>
            <a:spLocks xmlns:a="http://schemas.openxmlformats.org/drawingml/2006/main" noGrp="1"/>
          </p:cNvSpPr>
          <p:nvPr/>
        </p:nvSpPr>
        <p:spPr>
          <a:xfrm xmlns:a="http://schemas.openxmlformats.org/drawingml/2006/main">
            <a:off x="5429250" y="458152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API integration, tests, demo</a:t>
            </a:r>
          </a:p>
        </p:txBody>
      </p:sp>
      <p:sp>
        <p:nvSpPr>
          <p:cNvPr id="15" name="">
            <a:extLst xmlns:a="http://schemas.openxmlformats.org/drawingml/2006/main">
              <a:ext uri="{FF2B5EF4-FFF2-40B4-BE49-F238E27FC236}">
                <a16:creationId xmlns:a16="http://schemas.microsoft.com/office/drawing/2014/main" id="{62ABC768-AC3A-4B96-A54C-560E3375776D}"/>
              </a:ext>
            </a:extLst>
          </p:cNvPr>
          <p:cNvSpPr>
            <a:spLocks xmlns:a="http://schemas.openxmlformats.org/drawingml/2006/main" noGrp="1"/>
          </p:cNvSpPr>
          <p:nvPr/>
        </p:nvSpPr>
        <p:spPr>
          <a:xfrm xmlns:a="http://schemas.openxmlformats.org/drawingml/2006/main">
            <a:off x="742950" y="5610225"/>
            <a:ext cx="10715625"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9703304-5C9A-48AE-A5FB-0ED839788DB5}"/>
              </a:ext>
            </a:extLst>
          </p:cNvPr>
          <p:cNvSpPr>
            <a:spLocks xmlns:a="http://schemas.openxmlformats.org/drawingml/2006/main" noGrp="1"/>
          </p:cNvSpPr>
          <p:nvPr/>
        </p:nvSpPr>
        <p:spPr>
          <a:xfrm xmlns:a="http://schemas.openxmlformats.org/drawingml/2006/main">
            <a:off x="752475" y="5753100"/>
            <a:ext cx="1038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05B"/>
                </a:solidFill>
                <a:latin typeface="Arial"/>
                <a:ea typeface="Arial"/>
                <a:cs typeface="Arial"/>
              </a:defRPr>
            </a:defPPr>
          </a:lstStyle>
          <a:p xmlns:a="http://schemas.openxmlformats.org/drawingml/2006/main">
            <a:pPr algn="l">
              <a:defRPr sz="1725" b="0">
                <a:solidFill>
                  <a:srgbClr val="52605B"/>
                </a:solidFill>
                <a:latin typeface="Arial"/>
                <a:ea typeface="Arial"/>
                <a:cs typeface="Arial"/>
              </a:defRPr>
            </a:pPr>
            <a:r>
              <a:rPr sz="1725" b="0">
                <a:solidFill>
                  <a:srgbClr val="52605B"/>
                </a:solidFill>
                <a:latin typeface="Arial"/>
                <a:ea typeface="Arial"/>
                <a:cs typeface="Arial"/>
              </a:rPr>
              <a:t>PR #10 merged. Live comparison returned; rubric and Android remain open.</a:t>
            </a:r>
          </a:p>
        </p:txBody>
      </p:sp>
    </p:spTree>
    <p:extLst>
      <p:ext uri="{BB962C8B-B14F-4D97-AF65-F5344CB8AC3E}">
        <p14:creationId xmlns:p14="http://schemas.microsoft.com/office/powerpoint/2010/main" val="1189152733"/>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4806279-19E4-45A5-B28A-21E876C76B23}"/>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Before we call it a demo</a:t>
            </a:r>
          </a:p>
        </p:txBody>
      </p:sp>
      <p:sp>
        <p:nvSpPr>
          <p:cNvPr id="2" name="">
            <a:extLst xmlns:a="http://schemas.openxmlformats.org/drawingml/2006/main">
              <a:ext uri="{FF2B5EF4-FFF2-40B4-BE49-F238E27FC236}">
                <a16:creationId xmlns:a16="http://schemas.microsoft.com/office/drawing/2014/main" id="{06C63CAB-EF2C-4BD1-8DDE-4E6B6DDA0153}"/>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A708AFF-5D6F-441A-BCDA-CAA552059280}"/>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2AB42D60-A08C-496F-A3D9-DB373C0B929E}"/>
              </a:ext>
            </a:extLst>
          </p:cNvPr>
          <p:cNvSpPr>
            <a:spLocks xmlns:a="http://schemas.openxmlformats.org/drawingml/2006/main" noGrp="1"/>
          </p:cNvSpPr>
          <p:nvPr/>
        </p:nvSpPr>
        <p:spPr>
          <a:xfrm xmlns:a="http://schemas.openxmlformats.org/drawingml/2006/main">
            <a:off x="752475" y="1743075"/>
            <a:ext cx="1104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75" b="0">
                <a:solidFill>
                  <a:srgbClr val="0D765E"/>
                </a:solidFill>
                <a:latin typeface="Georgia"/>
                <a:ea typeface="Georgia"/>
                <a:cs typeface="Georgia"/>
              </a:defRPr>
            </a:defPPr>
          </a:lstStyle>
          <a:p xmlns:a="http://schemas.openxmlformats.org/drawingml/2006/main">
            <a:pPr algn="l">
              <a:defRPr sz="3975" b="0">
                <a:solidFill>
                  <a:srgbClr val="0D765E"/>
                </a:solidFill>
                <a:latin typeface="Georgia"/>
                <a:ea typeface="Georgia"/>
                <a:cs typeface="Georgia"/>
              </a:defRPr>
            </a:pPr>
            <a:r>
              <a:rPr sz="3975" b="0">
                <a:solidFill>
                  <a:srgbClr val="0D765E"/>
                </a:solidFill>
                <a:latin typeface="Georgia"/>
                <a:ea typeface="Georgia"/>
                <a:cs typeface="Georgia"/>
              </a:rPr>
              <a:t>01</a:t>
            </a:r>
          </a:p>
        </p:txBody>
      </p:sp>
      <p:sp>
        <p:nvSpPr>
          <p:cNvPr id="5" name="">
            <a:extLst xmlns:a="http://schemas.openxmlformats.org/drawingml/2006/main">
              <a:ext uri="{FF2B5EF4-FFF2-40B4-BE49-F238E27FC236}">
                <a16:creationId xmlns:a16="http://schemas.microsoft.com/office/drawing/2014/main" id="{C5829215-146F-4410-BB1F-D0BEE3F64030}"/>
              </a:ext>
            </a:extLst>
          </p:cNvPr>
          <p:cNvSpPr>
            <a:spLocks xmlns:a="http://schemas.openxmlformats.org/drawingml/2006/main" noGrp="1"/>
          </p:cNvSpPr>
          <p:nvPr/>
        </p:nvSpPr>
        <p:spPr>
          <a:xfrm xmlns:a="http://schemas.openxmlformats.org/drawingml/2006/main">
            <a:off x="2000250" y="1743075"/>
            <a:ext cx="619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Finish the live rubric</a:t>
            </a:r>
          </a:p>
        </p:txBody>
      </p:sp>
      <p:sp>
        <p:nvSpPr>
          <p:cNvPr id="6" name="">
            <a:extLst xmlns:a="http://schemas.openxmlformats.org/drawingml/2006/main">
              <a:ext uri="{FF2B5EF4-FFF2-40B4-BE49-F238E27FC236}">
                <a16:creationId xmlns:a16="http://schemas.microsoft.com/office/drawing/2014/main" id="{2298A181-BC76-4608-B82C-B3328D5C028E}"/>
              </a:ext>
            </a:extLst>
          </p:cNvPr>
          <p:cNvSpPr>
            <a:spLocks xmlns:a="http://schemas.openxmlformats.org/drawingml/2006/main" noGrp="1"/>
          </p:cNvSpPr>
          <p:nvPr/>
        </p:nvSpPr>
        <p:spPr>
          <a:xfrm xmlns:a="http://schemas.openxmlformats.org/drawingml/2006/main">
            <a:off x="2009775" y="2333625"/>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Fix validation; rerun on a public article.</a:t>
            </a:r>
          </a:p>
        </p:txBody>
      </p:sp>
      <p:sp>
        <p:nvSpPr>
          <p:cNvPr id="7" name="">
            <a:extLst xmlns:a="http://schemas.openxmlformats.org/drawingml/2006/main">
              <a:ext uri="{FF2B5EF4-FFF2-40B4-BE49-F238E27FC236}">
                <a16:creationId xmlns:a16="http://schemas.microsoft.com/office/drawing/2014/main" id="{459FC6CC-4AD5-47AA-A902-62F6B05D89D0}"/>
              </a:ext>
            </a:extLst>
          </p:cNvPr>
          <p:cNvSpPr>
            <a:spLocks xmlns:a="http://schemas.openxmlformats.org/drawingml/2006/main" noGrp="1"/>
          </p:cNvSpPr>
          <p:nvPr/>
        </p:nvSpPr>
        <p:spPr>
          <a:xfrm xmlns:a="http://schemas.openxmlformats.org/drawingml/2006/main">
            <a:off x="2000250" y="2847975"/>
            <a:ext cx="942975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F3E9AFC-394D-4E91-BD31-2F79C5889B5B}"/>
              </a:ext>
            </a:extLst>
          </p:cNvPr>
          <p:cNvSpPr>
            <a:spLocks xmlns:a="http://schemas.openxmlformats.org/drawingml/2006/main" noGrp="1"/>
          </p:cNvSpPr>
          <p:nvPr/>
        </p:nvSpPr>
        <p:spPr>
          <a:xfrm xmlns:a="http://schemas.openxmlformats.org/drawingml/2006/main">
            <a:off x="752475" y="3009900"/>
            <a:ext cx="1104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75" b="0">
                <a:solidFill>
                  <a:srgbClr val="0D765E"/>
                </a:solidFill>
                <a:latin typeface="Georgia"/>
                <a:ea typeface="Georgia"/>
                <a:cs typeface="Georgia"/>
              </a:defRPr>
            </a:defPPr>
          </a:lstStyle>
          <a:p xmlns:a="http://schemas.openxmlformats.org/drawingml/2006/main">
            <a:pPr algn="l">
              <a:defRPr sz="3975" b="0">
                <a:solidFill>
                  <a:srgbClr val="0D765E"/>
                </a:solidFill>
                <a:latin typeface="Georgia"/>
                <a:ea typeface="Georgia"/>
                <a:cs typeface="Georgia"/>
              </a:defRPr>
            </a:pPr>
            <a:r>
              <a:rPr sz="3975" b="0">
                <a:solidFill>
                  <a:srgbClr val="0D765E"/>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33A7E74B-DDDA-42C2-B1C5-377A3107760A}"/>
              </a:ext>
            </a:extLst>
          </p:cNvPr>
          <p:cNvSpPr>
            <a:spLocks xmlns:a="http://schemas.openxmlformats.org/drawingml/2006/main" noGrp="1"/>
          </p:cNvSpPr>
          <p:nvPr/>
        </p:nvSpPr>
        <p:spPr>
          <a:xfrm xmlns:a="http://schemas.openxmlformats.org/drawingml/2006/main">
            <a:off x="2000250" y="3009900"/>
            <a:ext cx="619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Read the cited passages</a:t>
            </a:r>
          </a:p>
        </p:txBody>
      </p:sp>
      <p:sp>
        <p:nvSpPr>
          <p:cNvPr id="10" name="">
            <a:extLst xmlns:a="http://schemas.openxmlformats.org/drawingml/2006/main">
              <a:ext uri="{FF2B5EF4-FFF2-40B4-BE49-F238E27FC236}">
                <a16:creationId xmlns:a16="http://schemas.microsoft.com/office/drawing/2014/main" id="{8D0205B5-45C5-41A8-BDB1-78BAAA466D05}"/>
              </a:ext>
            </a:extLst>
          </p:cNvPr>
          <p:cNvSpPr>
            <a:spLocks xmlns:a="http://schemas.openxmlformats.org/drawingml/2006/main" noGrp="1"/>
          </p:cNvSpPr>
          <p:nvPr/>
        </p:nvSpPr>
        <p:spPr>
          <a:xfrm xmlns:a="http://schemas.openxmlformats.org/drawingml/2006/main">
            <a:off x="2009775" y="3600450"/>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Check event, claim relation, quote, and speaker.</a:t>
            </a:r>
          </a:p>
        </p:txBody>
      </p:sp>
      <p:sp>
        <p:nvSpPr>
          <p:cNvPr id="11" name="">
            <a:extLst xmlns:a="http://schemas.openxmlformats.org/drawingml/2006/main">
              <a:ext uri="{FF2B5EF4-FFF2-40B4-BE49-F238E27FC236}">
                <a16:creationId xmlns:a16="http://schemas.microsoft.com/office/drawing/2014/main" id="{7CDEAB85-DBA5-4C35-BC7E-DA5FD4199C40}"/>
              </a:ext>
            </a:extLst>
          </p:cNvPr>
          <p:cNvSpPr>
            <a:spLocks xmlns:a="http://schemas.openxmlformats.org/drawingml/2006/main" noGrp="1"/>
          </p:cNvSpPr>
          <p:nvPr/>
        </p:nvSpPr>
        <p:spPr>
          <a:xfrm xmlns:a="http://schemas.openxmlformats.org/drawingml/2006/main">
            <a:off x="2000250" y="4114800"/>
            <a:ext cx="942975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5559962-5535-4673-84E4-FC9C5B8FE64C}"/>
              </a:ext>
            </a:extLst>
          </p:cNvPr>
          <p:cNvSpPr>
            <a:spLocks xmlns:a="http://schemas.openxmlformats.org/drawingml/2006/main" noGrp="1"/>
          </p:cNvSpPr>
          <p:nvPr/>
        </p:nvSpPr>
        <p:spPr>
          <a:xfrm xmlns:a="http://schemas.openxmlformats.org/drawingml/2006/main">
            <a:off x="752475" y="4276725"/>
            <a:ext cx="1104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75" b="0">
                <a:solidFill>
                  <a:srgbClr val="0D765E"/>
                </a:solidFill>
                <a:latin typeface="Georgia"/>
                <a:ea typeface="Georgia"/>
                <a:cs typeface="Georgia"/>
              </a:defRPr>
            </a:defPPr>
          </a:lstStyle>
          <a:p xmlns:a="http://schemas.openxmlformats.org/drawingml/2006/main">
            <a:pPr algn="l">
              <a:defRPr sz="3975" b="0">
                <a:solidFill>
                  <a:srgbClr val="0D765E"/>
                </a:solidFill>
                <a:latin typeface="Georgia"/>
                <a:ea typeface="Georgia"/>
                <a:cs typeface="Georgia"/>
              </a:defRPr>
            </a:pPr>
            <a:r>
              <a:rPr sz="3975" b="0">
                <a:solidFill>
                  <a:srgbClr val="0D765E"/>
                </a:solidFill>
                <a:latin typeface="Georgia"/>
                <a:ea typeface="Georgia"/>
                <a:cs typeface="Georgia"/>
              </a:rPr>
              <a:t>03</a:t>
            </a:r>
          </a:p>
        </p:txBody>
      </p:sp>
      <p:sp>
        <p:nvSpPr>
          <p:cNvPr id="13" name="">
            <a:extLst xmlns:a="http://schemas.openxmlformats.org/drawingml/2006/main">
              <a:ext uri="{FF2B5EF4-FFF2-40B4-BE49-F238E27FC236}">
                <a16:creationId xmlns:a16="http://schemas.microsoft.com/office/drawing/2014/main" id="{58FDEF94-8331-408E-9E0C-115AE12BF0FD}"/>
              </a:ext>
            </a:extLst>
          </p:cNvPr>
          <p:cNvSpPr>
            <a:spLocks xmlns:a="http://schemas.openxmlformats.org/drawingml/2006/main" noGrp="1"/>
          </p:cNvSpPr>
          <p:nvPr/>
        </p:nvSpPr>
        <p:spPr>
          <a:xfrm xmlns:a="http://schemas.openxmlformats.org/drawingml/2006/main">
            <a:off x="2000250" y="4276725"/>
            <a:ext cx="619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Record the Android flow</a:t>
            </a:r>
          </a:p>
        </p:txBody>
      </p:sp>
      <p:sp>
        <p:nvSpPr>
          <p:cNvPr id="14" name="">
            <a:extLst xmlns:a="http://schemas.openxmlformats.org/drawingml/2006/main">
              <a:ext uri="{FF2B5EF4-FFF2-40B4-BE49-F238E27FC236}">
                <a16:creationId xmlns:a16="http://schemas.microsoft.com/office/drawing/2014/main" id="{E6577B50-2E06-4440-9455-93B7E109885C}"/>
              </a:ext>
            </a:extLst>
          </p:cNvPr>
          <p:cNvSpPr>
            <a:spLocks xmlns:a="http://schemas.openxmlformats.org/drawingml/2006/main" noGrp="1"/>
          </p:cNvSpPr>
          <p:nvPr/>
        </p:nvSpPr>
        <p:spPr>
          <a:xfrm xmlns:a="http://schemas.openxmlformats.org/drawingml/2006/main">
            <a:off x="2009775" y="4867275"/>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Retest on a device; show the source page.</a:t>
            </a:r>
          </a:p>
        </p:txBody>
      </p:sp>
    </p:spTree>
    <p:extLst>
      <p:ext uri="{BB962C8B-B14F-4D97-AF65-F5344CB8AC3E}">
        <p14:creationId xmlns:p14="http://schemas.microsoft.com/office/powerpoint/2010/main" val="760675873"/>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91C18E-95E1-4442-B792-4B506816661E}"/>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AI in the workflow</a:t>
            </a:r>
          </a:p>
        </p:txBody>
      </p:sp>
      <p:sp>
        <p:nvSpPr>
          <p:cNvPr id="2" name="">
            <a:extLst xmlns:a="http://schemas.openxmlformats.org/drawingml/2006/main">
              <a:ext uri="{FF2B5EF4-FFF2-40B4-BE49-F238E27FC236}">
                <a16:creationId xmlns:a16="http://schemas.microsoft.com/office/drawing/2014/main" id="{129A6E83-973B-4F94-B47A-E4304B84EA0C}"/>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68C5B1C-7458-4EF6-B56A-492F37054078}"/>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ACD907D4-BC9B-4A6A-A6F2-20007F56BA51}"/>
              </a:ext>
            </a:extLst>
          </p:cNvPr>
          <p:cNvSpPr>
            <a:spLocks xmlns:a="http://schemas.openxmlformats.org/drawingml/2006/main" noGrp="1"/>
          </p:cNvSpPr>
          <p:nvPr/>
        </p:nvSpPr>
        <p:spPr>
          <a:xfrm xmlns:a="http://schemas.openxmlformats.org/drawingml/2006/main">
            <a:off x="742950" y="1781175"/>
            <a:ext cx="101917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17221F"/>
                </a:solidFill>
                <a:latin typeface="Georgia"/>
                <a:ea typeface="Georgia"/>
                <a:cs typeface="Georgia"/>
              </a:defRPr>
            </a:defPPr>
          </a:lstStyle>
          <a:p xmlns:a="http://schemas.openxmlformats.org/drawingml/2006/main">
            <a:pPr algn="l">
              <a:defRPr sz="3600" b="0">
                <a:solidFill>
                  <a:srgbClr val="17221F"/>
                </a:solidFill>
                <a:latin typeface="Georgia"/>
                <a:ea typeface="Georgia"/>
                <a:cs typeface="Georgia"/>
              </a:defRPr>
            </a:pPr>
            <a:r>
              <a:rPr sz="3600" b="0">
                <a:solidFill>
                  <a:srgbClr val="17221F"/>
                </a:solidFill>
                <a:latin typeface="Georgia"/>
                <a:ea typeface="Georgia"/>
                <a:cs typeface="Georgia"/>
              </a:rPr>
              <a:t>AI drafted a first pass.</a:t>
            </a:r>
          </a:p>
          <a:p xmlns:a="http://schemas.openxmlformats.org/drawingml/2006/main">
            <a:pPr algn="l">
              <a:defRPr sz="3600" b="0">
                <a:solidFill>
                  <a:srgbClr val="17221F"/>
                </a:solidFill>
                <a:latin typeface="Georgia"/>
                <a:ea typeface="Georgia"/>
                <a:cs typeface="Georgia"/>
              </a:defRPr>
            </a:pPr>
            <a:r>
              <a:rPr sz="3600" b="0">
                <a:solidFill>
                  <a:srgbClr val="17221F"/>
                </a:solidFill>
                <a:latin typeface="Georgia"/>
                <a:ea typeface="Georgia"/>
                <a:cs typeface="Georgia"/>
              </a:rPr>
              <a:t>Review caught a relation mismatch.</a:t>
            </a:r>
          </a:p>
        </p:txBody>
      </p:sp>
      <p:sp>
        <p:nvSpPr>
          <p:cNvPr id="5" name="">
            <a:extLst xmlns:a="http://schemas.openxmlformats.org/drawingml/2006/main">
              <a:ext uri="{FF2B5EF4-FFF2-40B4-BE49-F238E27FC236}">
                <a16:creationId xmlns:a16="http://schemas.microsoft.com/office/drawing/2014/main" id="{8E0FF2B6-0FCB-4027-AF12-471226D5C6DF}"/>
              </a:ext>
            </a:extLst>
          </p:cNvPr>
          <p:cNvSpPr>
            <a:spLocks xmlns:a="http://schemas.openxmlformats.org/drawingml/2006/main" noGrp="1"/>
          </p:cNvSpPr>
          <p:nvPr/>
        </p:nvSpPr>
        <p:spPr>
          <a:xfrm xmlns:a="http://schemas.openxmlformats.org/drawingml/2006/main">
            <a:off x="742950" y="3733800"/>
            <a:ext cx="10706100"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95BC7D6-1570-4FD1-9442-E07B09DF1D72}"/>
              </a:ext>
            </a:extLst>
          </p:cNvPr>
          <p:cNvSpPr>
            <a:spLocks xmlns:a="http://schemas.openxmlformats.org/drawingml/2006/main" noGrp="1"/>
          </p:cNvSpPr>
          <p:nvPr/>
        </p:nvSpPr>
        <p:spPr>
          <a:xfrm xmlns:a="http://schemas.openxmlformats.org/drawingml/2006/main">
            <a:off x="742950" y="4019550"/>
            <a:ext cx="490537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0D765E"/>
                </a:solidFill>
                <a:latin typeface="Arial"/>
                <a:ea typeface="Arial"/>
                <a:cs typeface="Arial"/>
              </a:defRPr>
            </a:defPPr>
          </a:lstStyle>
          <a:p xmlns:a="http://schemas.openxmlformats.org/drawingml/2006/main">
            <a:pPr algn="l">
              <a:defRPr sz="2175" b="1">
                <a:solidFill>
                  <a:srgbClr val="0D765E"/>
                </a:solidFill>
                <a:latin typeface="Arial"/>
                <a:ea typeface="Arial"/>
                <a:cs typeface="Arial"/>
              </a:defRPr>
            </a:pPr>
            <a:r>
              <a:rPr sz="2175" b="1">
                <a:solidFill>
                  <a:srgbClr val="0D765E"/>
                </a:solidFill>
                <a:latin typeface="Arial"/>
                <a:ea typeface="Arial"/>
                <a:cs typeface="Arial"/>
              </a:rPr>
              <a:t>Code checks</a:t>
            </a:r>
          </a:p>
        </p:txBody>
      </p:sp>
      <p:sp>
        <p:nvSpPr>
          <p:cNvPr id="7" name="">
            <a:extLst xmlns:a="http://schemas.openxmlformats.org/drawingml/2006/main">
              <a:ext uri="{FF2B5EF4-FFF2-40B4-BE49-F238E27FC236}">
                <a16:creationId xmlns:a16="http://schemas.microsoft.com/office/drawing/2014/main" id="{8FE2CAB0-A4B8-4382-8A6E-353C0F2CCB86}"/>
              </a:ext>
            </a:extLst>
          </p:cNvPr>
          <p:cNvSpPr>
            <a:spLocks xmlns:a="http://schemas.openxmlformats.org/drawingml/2006/main" noGrp="1"/>
          </p:cNvSpPr>
          <p:nvPr/>
        </p:nvSpPr>
        <p:spPr>
          <a:xfrm xmlns:a="http://schemas.openxmlformats.org/drawingml/2006/main">
            <a:off x="752475" y="4610100"/>
            <a:ext cx="46863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17221F"/>
                </a:solidFill>
                <a:latin typeface="Arial"/>
                <a:ea typeface="Arial"/>
                <a:cs typeface="Arial"/>
              </a:defRPr>
            </a:defPPr>
          </a:lstStyle>
          <a:p xmlns:a="http://schemas.openxmlformats.org/drawingml/2006/main">
            <a:pPr algn="l">
              <a:defRPr sz="1950" b="0">
                <a:solidFill>
                  <a:srgbClr val="17221F"/>
                </a:solidFill>
                <a:latin typeface="Arial"/>
                <a:ea typeface="Arial"/>
                <a:cs typeface="Arial"/>
              </a:defRPr>
            </a:pPr>
            <a:r>
              <a:rPr sz="1950" b="0">
                <a:solidFill>
                  <a:srgbClr val="17221F"/>
                </a:solidFill>
                <a:latin typeface="Arial"/>
                <a:ea typeface="Arial"/>
                <a:cs typeface="Arial"/>
              </a:rPr>
              <a:t>IDs, quotes, links, failure states</a:t>
            </a:r>
          </a:p>
        </p:txBody>
      </p:sp>
      <p:sp>
        <p:nvSpPr>
          <p:cNvPr id="8" name="">
            <a:extLst xmlns:a="http://schemas.openxmlformats.org/drawingml/2006/main">
              <a:ext uri="{FF2B5EF4-FFF2-40B4-BE49-F238E27FC236}">
                <a16:creationId xmlns:a16="http://schemas.microsoft.com/office/drawing/2014/main" id="{061BB852-6585-4698-9FD9-41A3739F87A4}"/>
              </a:ext>
            </a:extLst>
          </p:cNvPr>
          <p:cNvSpPr>
            <a:spLocks xmlns:a="http://schemas.openxmlformats.org/drawingml/2006/main" noGrp="1"/>
          </p:cNvSpPr>
          <p:nvPr/>
        </p:nvSpPr>
        <p:spPr>
          <a:xfrm xmlns:a="http://schemas.openxmlformats.org/drawingml/2006/main">
            <a:off x="6410325" y="401955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AD5136"/>
                </a:solidFill>
                <a:latin typeface="Arial"/>
                <a:ea typeface="Arial"/>
                <a:cs typeface="Arial"/>
              </a:defRPr>
            </a:defPPr>
          </a:lstStyle>
          <a:p xmlns:a="http://schemas.openxmlformats.org/drawingml/2006/main">
            <a:pPr algn="l">
              <a:defRPr sz="2175" b="1">
                <a:solidFill>
                  <a:srgbClr val="AD5136"/>
                </a:solidFill>
                <a:latin typeface="Arial"/>
                <a:ea typeface="Arial"/>
                <a:cs typeface="Arial"/>
              </a:defRPr>
            </a:pPr>
            <a:r>
              <a:rPr sz="2175" b="1">
                <a:solidFill>
                  <a:srgbClr val="AD5136"/>
                </a:solidFill>
                <a:latin typeface="Arial"/>
                <a:ea typeface="Arial"/>
                <a:cs typeface="Arial"/>
              </a:rPr>
              <a:t>People still need to check</a:t>
            </a:r>
          </a:p>
        </p:txBody>
      </p:sp>
      <p:sp>
        <p:nvSpPr>
          <p:cNvPr id="9" name="">
            <a:extLst xmlns:a="http://schemas.openxmlformats.org/drawingml/2006/main">
              <a:ext uri="{FF2B5EF4-FFF2-40B4-BE49-F238E27FC236}">
                <a16:creationId xmlns:a16="http://schemas.microsoft.com/office/drawing/2014/main" id="{9DF521AA-A8B8-4586-B800-52FB8D4391BE}"/>
              </a:ext>
            </a:extLst>
          </p:cNvPr>
          <p:cNvSpPr>
            <a:spLocks xmlns:a="http://schemas.openxmlformats.org/drawingml/2006/main" noGrp="1"/>
          </p:cNvSpPr>
          <p:nvPr/>
        </p:nvSpPr>
        <p:spPr>
          <a:xfrm xmlns:a="http://schemas.openxmlformats.org/drawingml/2006/main">
            <a:off x="6419850" y="4610100"/>
            <a:ext cx="4781550" cy="1019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17221F"/>
                </a:solidFill>
                <a:latin typeface="Arial"/>
                <a:ea typeface="Arial"/>
                <a:cs typeface="Arial"/>
              </a:defRPr>
            </a:defPPr>
          </a:lstStyle>
          <a:p xmlns:a="http://schemas.openxmlformats.org/drawingml/2006/main">
            <a:pPr algn="l">
              <a:defRPr sz="1950" b="0">
                <a:solidFill>
                  <a:srgbClr val="17221F"/>
                </a:solidFill>
                <a:latin typeface="Arial"/>
                <a:ea typeface="Arial"/>
                <a:cs typeface="Arial"/>
              </a:defRPr>
            </a:pPr>
            <a:r>
              <a:rPr sz="1950" b="0">
                <a:solidFill>
                  <a:srgbClr val="17221F"/>
                </a:solidFill>
                <a:latin typeface="Arial"/>
                <a:ea typeface="Arial"/>
                <a:cs typeface="Arial"/>
              </a:rPr>
              <a:t>Event selection and what each comparison means</a:t>
            </a:r>
          </a:p>
        </p:txBody>
      </p:sp>
    </p:spTree>
    <p:extLst>
      <p:ext uri="{BB962C8B-B14F-4D97-AF65-F5344CB8AC3E}">
        <p14:creationId xmlns:p14="http://schemas.microsoft.com/office/powerpoint/2010/main" val="10152163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2026-10-18T11:07:07.5180000Z</dcterms:created>
  <dcterms:modified xsi:type="dcterms:W3CDTF">2026-10-18T11:07:07.5180000Z</dcterms:modified>
</coreProperties>
</file>