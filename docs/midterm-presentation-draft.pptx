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23370ba88314d16" /><Relationship Type="http://schemas.openxmlformats.org/officeDocument/2006/relationships/extended-properties" Target="/docProps/app.xml" Id="R258956970701477b" /><Relationship Type="http://schemas.openxmlformats.org/officeDocument/2006/relationships/officeDocument" Target="/ppt/presentation.xml" Id="R40ae40a23c8249b8" /></Relationships>
</file>

<file path=ppt/presentation.xml><?xml version="1.0" encoding="utf-8"?>
<p:presentation xmlns:p="http://schemas.openxmlformats.org/presentationml/2006/main">
  <p:sldMasterIdLst>
    <p:sldMasterId xmlns:r="http://schemas.openxmlformats.org/officeDocument/2006/relationships" id="2147483648" r:id="R8a934f6ed5f84177"/>
  </p:sldMasterIdLst>
  <p:notesMasterIdLst>
    <p:notesMasterId xmlns:r="http://schemas.openxmlformats.org/officeDocument/2006/relationships" r:id="Re135f53208d94208"/>
  </p:notesMasterIdLst>
  <p:sldIdLst>
    <p:sldId xmlns:r="http://schemas.openxmlformats.org/officeDocument/2006/relationships" id="256" r:id="Rad10b76e5a9d4dcb"/>
    <p:sldId xmlns:r="http://schemas.openxmlformats.org/officeDocument/2006/relationships" id="257" r:id="R0b271239563e4c9f"/>
    <p:sldId xmlns:r="http://schemas.openxmlformats.org/officeDocument/2006/relationships" id="258" r:id="Re7efbf3d0ed54f20"/>
    <p:sldId xmlns:r="http://schemas.openxmlformats.org/officeDocument/2006/relationships" id="259" r:id="R2d29cbb3cc6b49ba"/>
    <p:sldId xmlns:r="http://schemas.openxmlformats.org/officeDocument/2006/relationships" id="260" r:id="R0b1f64865c764fc5"/>
    <p:sldId xmlns:r="http://schemas.openxmlformats.org/officeDocument/2006/relationships" id="261" r:id="R59d0b1e0ffca42e5"/>
    <p:sldId xmlns:r="http://schemas.openxmlformats.org/officeDocument/2006/relationships" id="262" r:id="R90de90cfda1642dc"/>
    <p:sldId xmlns:r="http://schemas.openxmlformats.org/officeDocument/2006/relationships" id="263" r:id="Raa3ded7f4e4e4a97"/>
    <p:sldId xmlns:r="http://schemas.openxmlformats.org/officeDocument/2006/relationships" id="264" r:id="R2dc29296c35941f7"/>
    <p:sldId xmlns:r="http://schemas.openxmlformats.org/officeDocument/2006/relationships" id="265" r:id="Rc479098b1b9249c2"/>
    <p:sldId xmlns:r="http://schemas.openxmlformats.org/officeDocument/2006/relationships" id="266" r:id="Rbd9a949cbed9403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0a8cd3a731f4672" /><Relationship Type="http://schemas.openxmlformats.org/officeDocument/2006/relationships/slideMaster" Target="/ppt/slideMasters/slideMaster1.xml" Id="R8a934f6ed5f84177" /><Relationship Type="http://schemas.openxmlformats.org/officeDocument/2006/relationships/notesMaster" Target="/ppt/notesMasters/notesMaster1.xml" Id="Re135f53208d94208" /><Relationship Type="http://schemas.openxmlformats.org/officeDocument/2006/relationships/presProps" Target="/ppt/presProps.xml" Id="R389969f7a1014f58" /><Relationship Type="http://schemas.openxmlformats.org/officeDocument/2006/relationships/tableStyles" Target="/ppt/tableStyles.xml" Id="Red9cff337ea445d8" /><Relationship Type="http://schemas.openxmlformats.org/officeDocument/2006/relationships/slide" Target="/ppt/slides/slide1.xml" Id="Rad10b76e5a9d4dcb" /><Relationship Type="http://schemas.openxmlformats.org/officeDocument/2006/relationships/slide" Target="/ppt/slides/slide2.xml" Id="R0b271239563e4c9f" /><Relationship Type="http://schemas.openxmlformats.org/officeDocument/2006/relationships/slide" Target="/ppt/slides/slide3.xml" Id="Re7efbf3d0ed54f20" /><Relationship Type="http://schemas.openxmlformats.org/officeDocument/2006/relationships/slide" Target="/ppt/slides/slide4.xml" Id="R2d29cbb3cc6b49ba" /><Relationship Type="http://schemas.openxmlformats.org/officeDocument/2006/relationships/slide" Target="/ppt/slides/slide5.xml" Id="R0b1f64865c764fc5" /><Relationship Type="http://schemas.openxmlformats.org/officeDocument/2006/relationships/slide" Target="/ppt/slides/slide6.xml" Id="R59d0b1e0ffca42e5" /><Relationship Type="http://schemas.openxmlformats.org/officeDocument/2006/relationships/slide" Target="/ppt/slides/slide7.xml" Id="R90de90cfda1642dc" /><Relationship Type="http://schemas.openxmlformats.org/officeDocument/2006/relationships/slide" Target="/ppt/slides/slide8.xml" Id="Raa3ded7f4e4e4a97" /><Relationship Type="http://schemas.openxmlformats.org/officeDocument/2006/relationships/slide" Target="/ppt/slides/slide9.xml" Id="R2dc29296c35941f7" /><Relationship Type="http://schemas.openxmlformats.org/officeDocument/2006/relationships/slide" Target="/ppt/slides/slide10.xml" Id="Rc479098b1b9249c2" /><Relationship Type="http://schemas.openxmlformats.org/officeDocument/2006/relationships/slide" Target="/ppt/slides/slide11.xml" Id="Rbd9a949cbed9403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0e84fd556754fa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fbdf8727f074179" /><Relationship Type="http://schemas.openxmlformats.org/officeDocument/2006/relationships/notesMaster" Target="/ppt/notesMasters/notesMaster1.xml" Id="Rcd7ae7d617eb495a" /></Relationships>
</file>

<file path=ppt/notesSlides/_rels/notesSlide2.xml.rels>&#65279;<?xml version="1.0" encoding="utf-8"?><Relationships xmlns="http://schemas.openxmlformats.org/package/2006/relationships"><Relationship Type="http://schemas.openxmlformats.org/officeDocument/2006/relationships/slide" Target="/ppt/slides/slide2.xml" Id="R3b35fd73df774a3a" /><Relationship Type="http://schemas.openxmlformats.org/officeDocument/2006/relationships/notesMaster" Target="/ppt/notesMasters/notesMaster1.xml" Id="R6bc666e079644350" /></Relationships>
</file>

<file path=ppt/notesSlides/_rels/notesSlide3.xml.rels>&#65279;<?xml version="1.0" encoding="utf-8"?><Relationships xmlns="http://schemas.openxmlformats.org/package/2006/relationships"><Relationship Type="http://schemas.openxmlformats.org/officeDocument/2006/relationships/slide" Target="/ppt/slides/slide3.xml" Id="Rd7090d6e2f9d43f9" /><Relationship Type="http://schemas.openxmlformats.org/officeDocument/2006/relationships/notesMaster" Target="/ppt/notesMasters/notesMaster1.xml" Id="R7156da6a15e3453e"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314197cff941fa" /><Relationship Type="http://schemas.openxmlformats.org/officeDocument/2006/relationships/notesMaster" Target="/ppt/notesMasters/notesMaster1.xml" Id="R1653d83ea5d24987" /></Relationships>
</file>

<file path=ppt/notesSlides/_rels/notesSlide5.xml.rels>&#65279;<?xml version="1.0" encoding="utf-8"?><Relationships xmlns="http://schemas.openxmlformats.org/package/2006/relationships"><Relationship Type="http://schemas.openxmlformats.org/officeDocument/2006/relationships/slide" Target="/ppt/slides/slide5.xml" Id="Rb5f5082bcc4540e4" /><Relationship Type="http://schemas.openxmlformats.org/officeDocument/2006/relationships/notesMaster" Target="/ppt/notesMasters/notesMaster1.xml" Id="R204df63a13a64e22" /></Relationships>
</file>

<file path=ppt/notesSlides/_rels/notesSlide6.xml.rels>&#65279;<?xml version="1.0" encoding="utf-8"?><Relationships xmlns="http://schemas.openxmlformats.org/package/2006/relationships"><Relationship Type="http://schemas.openxmlformats.org/officeDocument/2006/relationships/slide" Target="/ppt/slides/slide6.xml" Id="R8c68097434eb4f41" /><Relationship Type="http://schemas.openxmlformats.org/officeDocument/2006/relationships/notesMaster" Target="/ppt/notesMasters/notesMaster1.xml" Id="Re647218690164477" /></Relationships>
</file>

<file path=ppt/notesSlides/_rels/notesSlide7.xml.rels>&#65279;<?xml version="1.0" encoding="utf-8"?><Relationships xmlns="http://schemas.openxmlformats.org/package/2006/relationships"><Relationship Type="http://schemas.openxmlformats.org/officeDocument/2006/relationships/slide" Target="/ppt/slides/slide7.xml" Id="R714bde0ba1054060" /><Relationship Type="http://schemas.openxmlformats.org/officeDocument/2006/relationships/notesMaster" Target="/ppt/notesMasters/notesMaster1.xml" Id="R4ffeadd447974e9c" /></Relationships>
</file>

<file path=ppt/notesSlides/_rels/notesSlide8.xml.rels>&#65279;<?xml version="1.0" encoding="utf-8"?><Relationships xmlns="http://schemas.openxmlformats.org/package/2006/relationships"><Relationship Type="http://schemas.openxmlformats.org/officeDocument/2006/relationships/slide" Target="/ppt/slides/slide8.xml" Id="R4f4e00261279453d" /><Relationship Type="http://schemas.openxmlformats.org/officeDocument/2006/relationships/notesMaster" Target="/ppt/notesMasters/notesMaster1.xml" Id="R644d2f01948b4fd0" /></Relationships>
</file>

<file path=ppt/notesSlides/_rels/notesSlide9.xml.rels>&#65279;<?xml version="1.0" encoding="utf-8"?><Relationships xmlns="http://schemas.openxmlformats.org/package/2006/relationships"><Relationship Type="http://schemas.openxmlformats.org/officeDocument/2006/relationships/slide" Target="/ppt/slides/slide9.xml" Id="R58232283676a4585" /><Relationship Type="http://schemas.openxmlformats.org/officeDocument/2006/relationships/notesMaster" Target="/ppt/notesMasters/notesMaster1.xml" Id="R66a3ab52b21e46a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5a06a6e2a724902" /><Relationship Type="http://schemas.openxmlformats.org/officeDocument/2006/relationships/notesMaster" Target="/ppt/notesMasters/notesMaster1.xml" Id="Rd3e24c240b9d425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d75312dfd594bfa" /><Relationship Type="http://schemas.openxmlformats.org/officeDocument/2006/relationships/notesMaster" Target="/ppt/notesMasters/notesMaster1.xml" Id="R0749e1fe6c28453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Open with the reader journey: a person selects one news article and wants to see how other reporting describes the same event. FrameLESS puts original, linked passages beside its claims. The app does not issue an article-wide truth or political-bias verdict.</a:t>
            </a:r>
          </a:p>
          <a:p xmlns:a="http://schemas.openxmlformats.org/drawingml/2006/main">
            <a:r>
              <a:t/>
            </a:r>
          </a:p>
          <a:p xmlns:a="http://schemas.openxmlformats.org/drawingml/2006/main">
            <a:r>
              <a:t>SOURCES / STATUS</a:t>
            </a:r>
          </a:p>
          <a:p xmlns:a="http://schemas.openxmlformats.org/drawingml/2006/main">
            <a:r>
              <a:t>Project requirements: https://github.com/snuhcs-course/swpp-2026-project-team-05/wiki/Requirements-and-Specifications</a:t>
            </a:r>
          </a:p>
          <a:p xmlns:a="http://schemas.openxmlformats.org/drawingml/2006/main">
            <a:r>
              <a:t>Draft 18 October 2026. Refresh status before the 19 October slide deadline.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This is product positioning, not a claim that competitors lack all related features. Our Iteration 1 review used NAVER News as a discovery reference. Ground News describes story-level source coverage and outlet context in its own help material. FrameLESS focuses the interaction on the chosen article’s particular claims and the passages that address them.</a:t>
            </a:r>
          </a:p>
          <a:p xmlns:a="http://schemas.openxmlformats.org/drawingml/2006/main">
            <a:r>
              <a:t/>
            </a:r>
          </a:p>
          <a:p xmlns:a="http://schemas.openxmlformats.org/drawingml/2006/main">
            <a:r>
              <a:t>SOURCES / STATUS</a:t>
            </a:r>
          </a:p>
          <a:p xmlns:a="http://schemas.openxmlformats.org/drawingml/2006/main">
            <a:r>
              <a:t>FrameLESS requirements and competitive review: https://github.com/snuhcs-course/swpp-2026-project-team-05/wiki/Requirements-and-Specifications</a:t>
            </a:r>
          </a:p>
          <a:p xmlns:a="http://schemas.openxmlformats.org/drawingml/2006/main">
            <a:r>
              <a:t>Ground News product description: https://help.ground.news/en/articles/485057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Walk the audience through one concrete action per stage. URL validation and a useful error state matter because public pages may block extraction. The final screen invites the reader to inspect the source rather than treating a generated label as a final verdict.</a:t>
            </a:r>
          </a:p>
          <a:p xmlns:a="http://schemas.openxmlformats.org/drawingml/2006/main">
            <a:r>
              <a:t/>
            </a:r>
          </a:p>
          <a:p xmlns:a="http://schemas.openxmlformats.org/drawingml/2006/main">
            <a:r>
              <a:t>SOURCES / STATUS</a:t>
            </a:r>
          </a:p>
          <a:p xmlns:a="http://schemas.openxmlformats.org/drawingml/2006/main">
            <a:r>
              <a:t>FrameLESS requirements: https://github.com/snuhcs-course/swpp-2026-project-team-05/wiki/Requirements-and-Specifications</a:t>
            </a:r>
          </a:p>
          <a:p xmlns:a="http://schemas.openxmlformats.org/drawingml/2006/main">
            <a:r>
              <a:t>Current Android and Django contract lives in the integration branch; live v2 has not yet been 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Iteration 1 provided an end-to-end baseline and a deployed Django endpoint. We saw that a source’s silence about a particular claim, uncertainty about extraction, and no matching article must have different meanings. Do not describe this first pipeline as a validated neutrality classifier. If showing the old video, label it Iteration 1.</a:t>
            </a:r>
          </a:p>
          <a:p xmlns:a="http://schemas.openxmlformats.org/drawingml/2006/main">
            <a:r>
              <a:t/>
            </a:r>
          </a:p>
          <a:p xmlns:a="http://schemas.openxmlformats.org/drawingml/2006/main">
            <a:r>
              <a:t>SOURCES / STATUS</a:t>
            </a:r>
          </a:p>
          <a:p xmlns:a="http://schemas.openxmlformats.org/drawingml/2006/main">
            <a:r>
              <a:t>Iteration 1 design and limitations: https://github.com/snuhcs-course/swpp-2026-project-team-05/wiki/Design-Documentation</a:t>
            </a:r>
          </a:p>
          <a:p xmlns:a="http://schemas.openxmlformats.org/drawingml/2006/main">
            <a:r>
              <a:t>Historical demo video: https://github.com/snuhcs-course/swpp-2026-project-team-05/blob/iteration-1-demo/docs/demo/iteration-1-demo.mp4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The adopted rubric has I1–I5 for information and A–G for expression. I5 tracks direct/indirect quotation and who speaks; it should not be rolled into A–G wording scores. Expression markedness is contextual to observed wording across sources; a low value is not a certificate of neutrality. A proposed question-level grouping is not shown as a delivered feature.</a:t>
            </a:r>
          </a:p>
          <a:p xmlns:a="http://schemas.openxmlformats.org/drawingml/2006/main">
            <a:r>
              <a:t/>
            </a:r>
          </a:p>
          <a:p xmlns:a="http://schemas.openxmlformats.org/drawingml/2006/main">
            <a:r>
              <a:t>SOURCES / STATUS</a:t>
            </a:r>
          </a:p>
          <a:p xmlns:a="http://schemas.openxmlformats.org/drawingml/2006/main">
            <a:r>
              <a:t>Rubric implementation: server/analysis/v2/rubric_analysis.py</a:t>
            </a:r>
          </a:p>
          <a:p xmlns:a="http://schemas.openxmlformats.org/drawingml/2006/main">
            <a:r>
              <a:t>Team rubric discussion: https://swpp2026fall.slack.com/archives/C0C56TCMKU6/p1792113199423159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The Android client sends a URL to the Django route. The server fetches article text, searches through NAVER API HUB, calls Gemini for structured analysis, and returns source-linked JSON. Keep credentials server-side. The deployed Iteration 1 endpoint does not prove v2 is deployed or working with real services.</a:t>
            </a:r>
          </a:p>
          <a:p xmlns:a="http://schemas.openxmlformats.org/drawingml/2006/main">
            <a:r>
              <a:t/>
            </a:r>
          </a:p>
          <a:p xmlns:a="http://schemas.openxmlformats.org/drawingml/2006/main">
            <a:r>
              <a:t>SOURCES / STATUS</a:t>
            </a:r>
          </a:p>
          <a:p xmlns:a="http://schemas.openxmlformats.org/drawingml/2006/main">
            <a:r>
              <a:t>Architecture history: https://github.com/snuhcs-course/swpp-2026-project-team-05/wiki/Design-Documentation</a:t>
            </a:r>
          </a:p>
          <a:p xmlns:a="http://schemas.openxmlformats.org/drawingml/2006/main">
            <a:r>
              <a:t>Local implementation: server/views.py, server/analysis/v2_adapter.py, android/app/src/main/java/com/swpp/team5/frameless/data/AnalysisModels.kt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At tested revision 91d7c29, 58 Python tests and 25 Android JVM tests passed; v2 package line coverage was 65.9%. An APK built, and a synthetic-response emulator walkthrough rendered the v2 cards. A real article input-fetch stage passed. These observations do not establish NAVER/Gemini connectivity or model judgment quality. UPDATE BEFORE DECK LOCK: rerun the live checklist and refresh the revision and test results if the code changes.</a:t>
            </a:r>
          </a:p>
          <a:p xmlns:a="http://schemas.openxmlformats.org/drawingml/2006/main">
            <a:r>
              <a:t/>
            </a:r>
          </a:p>
          <a:p xmlns:a="http://schemas.openxmlformats.org/drawingml/2006/main">
            <a:r>
              <a:t>SOURCES / STATUS</a:t>
            </a:r>
          </a:p>
          <a:p xmlns:a="http://schemas.openxmlformats.org/drawingml/2006/main">
            <a:r>
              <a:t>Implementation: server/analysis/v2_adapter.py, server/views.py, android/app/src/main/java/com/swpp/team5/frameless/data/AnalysisModels.kt</a:t>
            </a:r>
          </a:p>
          <a:p xmlns:a="http://schemas.openxmlformats.org/drawingml/2006/main">
            <a:r>
              <a:t>Preliminary testing: docs/testing-documentation-iter2.md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This slide is an honest placeholder. The screenshot at left came from a mocked HTTP response on an emulator; it did not use live NAVER or Gemini analysis. Before presenting, replace or supplement it with a recorded run of the exact configured v2 backend and APK, showing one URL through the original source page. If live v2 fails, use the historical Iteration 1 end-to-end clip with its date and scope clearly labeled, plus this separate synthetic v2 UI preview.</a:t>
            </a:r>
          </a:p>
          <a:p xmlns:a="http://schemas.openxmlformats.org/drawingml/2006/main">
            <a:r>
              <a:t/>
            </a:r>
          </a:p>
          <a:p xmlns:a="http://schemas.openxmlformats.org/drawingml/2006/main">
            <a:r>
              <a:t>SOURCES / STATUS</a:t>
            </a:r>
          </a:p>
          <a:p xmlns:a="http://schemas.openxmlformats.org/drawingml/2006/main">
            <a:r>
              <a:t>Synthetic screenshot: docs/testing-assets/android-synthetic-rubric.png</a:t>
            </a:r>
          </a:p>
          <a:p xmlns:a="http://schemas.openxmlformats.org/drawingml/2006/main">
            <a:r>
              <a:t>Historical Iteration 1 clip: https://github.com/snuhcs-course/swpp-2026-project-team-05/blob/iteration-1-demo/docs/demo/iteration-1-demo.mp4</a:t>
            </a:r>
          </a:p>
          <a:p xmlns:a="http://schemas.openxmlformats.org/drawingml/2006/main">
            <a:r>
              <a:t>Live sign-off checklist: docs/midterm-presentation-outline.md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These assignments were shared in the team channel. Jinsol’s UI branch and Junseo’s v2 package are connected locally via the Django API. Draft PR #10 is open for review and has not been merged into main. UPDATE BEFORE DECK LOCK: confirm final commit, PR state, teammate names/roles, and live service status.</a:t>
            </a:r>
          </a:p>
          <a:p xmlns:a="http://schemas.openxmlformats.org/drawingml/2006/main">
            <a:r>
              <a:t/>
            </a:r>
          </a:p>
          <a:p xmlns:a="http://schemas.openxmlformats.org/drawingml/2006/main">
            <a:r>
              <a:t>SOURCES / STATUS</a:t>
            </a:r>
          </a:p>
          <a:p xmlns:a="http://schemas.openxmlformats.org/drawingml/2006/main">
            <a:r>
              <a:t>Team assignment: https://swpp2026fall.slack.com/archives/C0C56TCMKU6/p1791896799209629</a:t>
            </a:r>
          </a:p>
          <a:p xmlns:a="http://schemas.openxmlformats.org/drawingml/2006/main">
            <a:r>
              <a:t>Draft integration PR: https://github.com/snuhcs-course/swpp-2026-project-team-05/pull/10</a:t>
            </a:r>
          </a:p>
          <a:p xmlns:a="http://schemas.openxmlformats.org/drawingml/2006/main">
            <a:r>
              <a:t>Teammate branches: https://github.com/snuhcs-course/swpp-2026-project-team-05/tree/feature/ui-v02-jinsol ; https://github.com/snuhcs-course/swpp-2026-project-team-05/tree/feature/llm-article-comparison-v2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The next work is sequential: first prove a configured v2 run on the intended backend and APK. Then review the actual retrieved articles and generated comparisons against their linked source passages. Finally add deterministic regression cases, update Wiki and test documentation, and create the demo branch with a real video. No gate is marked complete in this draft.</a:t>
            </a:r>
          </a:p>
          <a:p xmlns:a="http://schemas.openxmlformats.org/drawingml/2006/main">
            <a:r>
              <a:t/>
            </a:r>
          </a:p>
          <a:p xmlns:a="http://schemas.openxmlformats.org/drawingml/2006/main">
            <a:r>
              <a:t>SOURCES / STATUS</a:t>
            </a:r>
          </a:p>
          <a:p xmlns:a="http://schemas.openxmlformats.org/drawingml/2006/main">
            <a:r>
              <a:t>Iteration 2 course requirements: https://swpp2026fall.slack.com/archives/C0BUL8N1864/p1791763218720289</a:t>
            </a:r>
          </a:p>
          <a:p xmlns:a="http://schemas.openxmlformats.org/drawingml/2006/main">
            <a:r>
              <a:t>Test gaps and checklist: docs/testing-documentation-iter2.md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The concrete lesson from this integration is that preserving source ownership and uncertain states required human review even when tests passed. Keep the AI reflection grounded in the team’s actual process. Before presenting as a team-wide account, ask every member to confirm the tools or prompts they used and one accepted or rejected AI suggestion. Do not invent an Iteration 1 AI-use history.</a:t>
            </a:r>
          </a:p>
          <a:p xmlns:a="http://schemas.openxmlformats.org/drawingml/2006/main">
            <a:r>
              <a:t/>
            </a:r>
          </a:p>
          <a:p xmlns:a="http://schemas.openxmlformats.org/drawingml/2006/main">
            <a:r>
              <a:t>SOURCES / STATUS</a:t>
            </a:r>
          </a:p>
          <a:p xmlns:a="http://schemas.openxmlformats.org/drawingml/2006/main">
            <a:r>
              <a:t>Current AI collaboration Wiki: https://github.com/snuhcs-course/swpp-2026-project-team-05/wiki/AI-Collaboration-Report</a:t>
            </a:r>
          </a:p>
          <a:p xmlns:a="http://schemas.openxmlformats.org/drawingml/2006/main">
            <a:r>
              <a:t>Current contract and validation: server/analysis/v2_adapter.py; docs/testing-documentation-iter2.md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53215f29a124f7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e056147ed784b6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68a7f037f334db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2dd45ab2723476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18a5fcf2add4e8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20c7437bfc84a4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703A6E2-07F4-4CFA-AAD7-A035BFDF5AE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044D0E5-71E1-4EF9-9723-86D16088AD1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CC93D55-C7C8-4CB8-AE3D-1AE446040C3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39C493A-94A4-45D7-A8A9-CF0FE380B39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B046C6A-C2C7-41E4-B31B-5D996A7B681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3FC463B-944E-41BC-9FD3-E22D4559113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42DF8B0-0217-4BE0-9F03-E99B7939F5F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E1B4E86-23C1-4E82-97FE-056DCE036EF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EAF6B9F-0162-49D0-BA7B-7B89922AF21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C4443E8-C389-45B7-AB47-BF845614497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cb7b0b43af745d8" /><Relationship Type="http://schemas.openxmlformats.org/officeDocument/2006/relationships/slideLayout" Target="/ppt/slideLayouts/slideLayout1.xml" Id="Rcb812d6387a744d0" /><Relationship Type="http://schemas.openxmlformats.org/officeDocument/2006/relationships/slideLayout" Target="/ppt/slideLayouts/slideLayout2.xml" Id="Ra75018722ebb4240" /><Relationship Type="http://schemas.openxmlformats.org/officeDocument/2006/relationships/slideLayout" Target="/ppt/slideLayouts/slideLayout3.xml" Id="R2e124980e5f646b3" /><Relationship Type="http://schemas.openxmlformats.org/officeDocument/2006/relationships/slideLayout" Target="/ppt/slideLayouts/slideLayout4.xml" Id="Raaf6fa03049647e3" /><Relationship Type="http://schemas.openxmlformats.org/officeDocument/2006/relationships/slideLayout" Target="/ppt/slideLayouts/slideLayout5.xml" Id="R67198608637e42c4" /><Relationship Type="http://schemas.openxmlformats.org/officeDocument/2006/relationships/slideLayout" Target="/ppt/slideLayouts/slideLayout6.xml" Id="Rf40df135b3be439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b812d6387a744d0"/>
    <p:sldLayoutId xmlns:r="http://schemas.openxmlformats.org/officeDocument/2006/relationships" id="2147483650" r:id="Ra75018722ebb4240"/>
    <p:sldLayoutId xmlns:r="http://schemas.openxmlformats.org/officeDocument/2006/relationships" id="2147483651" r:id="R2e124980e5f646b3"/>
    <p:sldLayoutId xmlns:r="http://schemas.openxmlformats.org/officeDocument/2006/relationships" id="2147483652" r:id="Raaf6fa03049647e3"/>
    <p:sldLayoutId xmlns:r="http://schemas.openxmlformats.org/officeDocument/2006/relationships" id="2147483653" r:id="R67198608637e42c4"/>
    <p:sldLayoutId xmlns:r="http://schemas.openxmlformats.org/officeDocument/2006/relationships" id="2147483654" r:id="Rf40df135b3be439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b97b9df90d14305" /><Relationship Type="http://schemas.openxmlformats.org/officeDocument/2006/relationships/notesSlide" Target="/ppt/notesSlides/notesSlide1.xml" Id="Rc11c9b6cb434445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414c739adce4bac" /><Relationship Type="http://schemas.openxmlformats.org/officeDocument/2006/relationships/notesSlide" Target="/ppt/notesSlides/notesSlide2.xml" Id="Re10dc6b982364bc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412b493c9a8484c" /><Relationship Type="http://schemas.openxmlformats.org/officeDocument/2006/relationships/notesSlide" Target="/ppt/notesSlides/notesSlide3.xml" Id="R439ddfd83bf14ea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29af32cc9eb4156" /><Relationship Type="http://schemas.openxmlformats.org/officeDocument/2006/relationships/notesSlide" Target="/ppt/notesSlides/notesSlide4.xml" Id="R1980aaf8032045f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17a4e2b801644e4" /><Relationship Type="http://schemas.openxmlformats.org/officeDocument/2006/relationships/notesSlide" Target="/ppt/notesSlides/notesSlide5.xml" Id="R1582d8ecca61494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889cf9c30cc4d4f" /><Relationship Type="http://schemas.openxmlformats.org/officeDocument/2006/relationships/notesSlide" Target="/ppt/notesSlides/notesSlide6.xml" Id="R77b74bd9dd81465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073d8bfd1624a99" /><Relationship Type="http://schemas.openxmlformats.org/officeDocument/2006/relationships/notesSlide" Target="/ppt/notesSlides/notesSlide7.xml" Id="Rb90b6789ebf7492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63f01ffc28241bb" /><Relationship Type="http://schemas.openxmlformats.org/officeDocument/2006/relationships/image" Target="/ppt/media/image.png" Id="R4c1c637c3f6b4ce1" /><Relationship Type="http://schemas.openxmlformats.org/officeDocument/2006/relationships/notesSlide" Target="/ppt/notesSlides/notesSlide8.xml" Id="R017f61a184a34b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579bd1e993b42d8" /><Relationship Type="http://schemas.openxmlformats.org/officeDocument/2006/relationships/notesSlide" Target="/ppt/notesSlides/notesSlide9.xml" Id="R2a011abc774140b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dc6adcf14a24f45" /><Relationship Type="http://schemas.openxmlformats.org/officeDocument/2006/relationships/notesSlide" Target="/ppt/notesSlides/notesSlide10.xml" Id="R93e6b02f7c7945d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0d9e08f3b9d4d87" /><Relationship Type="http://schemas.openxmlformats.org/officeDocument/2006/relationships/notesSlide" Target="/ppt/notesSlides/notesSlide11.xml" Id="Rd7f59ec2995e454e" /></Relationships>
</file>

<file path=ppt/slides/slide1.xml><?xml version="1.0" encoding="utf-8"?>
<p:sld xmlns:p="http://schemas.openxmlformats.org/presentationml/2006/main">
  <p:cSld>
    <p:bg>
      <p:bgPr>
        <a:solidFill xmlns:a="http://schemas.openxmlformats.org/drawingml/2006/main">
          <a:srgbClr val="152323"/>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C1E5B09-016C-4ABB-B9D2-F555C4F06F01}"/>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07E72"/>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16E5996-F719-4DE3-A705-F6E8B1FA45AE}"/>
              </a:ext>
            </a:extLst>
          </p:cNvPr>
          <p:cNvSpPr>
            <a:spLocks xmlns:a="http://schemas.openxmlformats.org/drawingml/2006/main" noGrp="1"/>
          </p:cNvSpPr>
          <p:nvPr/>
        </p:nvSpPr>
        <p:spPr>
          <a:xfrm xmlns:a="http://schemas.openxmlformats.org/drawingml/2006/main">
            <a:off x="781050" y="561975"/>
            <a:ext cx="533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425" b="1">
                <a:solidFill>
                  <a:srgbClr val="F6D66F"/>
                </a:solidFill>
                <a:latin typeface="Arial"/>
                <a:ea typeface="Arial"/>
                <a:cs typeface="Arial"/>
              </a:defRPr>
            </a:defPPr>
          </a:lstStyle>
          <a:p xmlns:a="http://schemas.openxmlformats.org/drawingml/2006/main">
            <a:pPr algn="l">
              <a:defRPr sz="1425" b="1">
                <a:solidFill>
                  <a:srgbClr val="F6D66F"/>
                </a:solidFill>
                <a:latin typeface="Arial"/>
                <a:ea typeface="Arial"/>
                <a:cs typeface="Arial"/>
              </a:defRPr>
            </a:pPr>
            <a:r>
              <a:rPr sz="1425" b="1">
                <a:solidFill>
                  <a:srgbClr val="F6D66F"/>
                </a:solidFill>
                <a:latin typeface="Arial"/>
                <a:ea typeface="Arial"/>
                <a:cs typeface="Arial"/>
              </a:rPr>
              <a:t>TEAM 05   /   SWPP 2026 FALL</a:t>
            </a:r>
          </a:p>
        </p:txBody>
      </p:sp>
      <p:sp>
        <p:nvSpPr>
          <p:cNvPr id="3" name="">
            <a:extLst xmlns:a="http://schemas.openxmlformats.org/drawingml/2006/main">
              <a:ext uri="{FF2B5EF4-FFF2-40B4-BE49-F238E27FC236}">
                <a16:creationId xmlns:a16="http://schemas.microsoft.com/office/drawing/2014/main" id="{6D6B7CF4-5B20-4A3F-B05D-617849162B74}"/>
              </a:ext>
            </a:extLst>
          </p:cNvPr>
          <p:cNvSpPr>
            <a:spLocks xmlns:a="http://schemas.openxmlformats.org/drawingml/2006/main" noGrp="1"/>
          </p:cNvSpPr>
          <p:nvPr/>
        </p:nvSpPr>
        <p:spPr>
          <a:xfrm xmlns:a="http://schemas.openxmlformats.org/drawingml/2006/main">
            <a:off x="742950" y="1600200"/>
            <a:ext cx="9144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6750" b="1">
                <a:solidFill>
                  <a:srgbClr val="FFFFFF"/>
                </a:solidFill>
                <a:latin typeface="Arial"/>
                <a:ea typeface="Arial"/>
                <a:cs typeface="Arial"/>
              </a:defRPr>
            </a:defPPr>
          </a:lstStyle>
          <a:p xmlns:a="http://schemas.openxmlformats.org/drawingml/2006/main">
            <a:pPr algn="l">
              <a:defRPr sz="6750" b="1">
                <a:solidFill>
                  <a:srgbClr val="FFFFFF"/>
                </a:solidFill>
                <a:latin typeface="Arial"/>
                <a:ea typeface="Arial"/>
                <a:cs typeface="Arial"/>
              </a:defRPr>
            </a:pPr>
            <a:r>
              <a:rPr sz="6750" b="1">
                <a:solidFill>
                  <a:srgbClr val="FFFFFF"/>
                </a:solidFill>
                <a:latin typeface="Arial"/>
                <a:ea typeface="Arial"/>
                <a:cs typeface="Arial"/>
              </a:rPr>
              <a:t>FrameLESS</a:t>
            </a:r>
          </a:p>
        </p:txBody>
      </p:sp>
      <p:sp>
        <p:nvSpPr>
          <p:cNvPr id="4" name="">
            <a:extLst xmlns:a="http://schemas.openxmlformats.org/drawingml/2006/main">
              <a:ext uri="{FF2B5EF4-FFF2-40B4-BE49-F238E27FC236}">
                <a16:creationId xmlns:a16="http://schemas.microsoft.com/office/drawing/2014/main" id="{25CD910D-F293-4040-8D2C-28A88BD03D36}"/>
              </a:ext>
            </a:extLst>
          </p:cNvPr>
          <p:cNvSpPr>
            <a:spLocks xmlns:a="http://schemas.openxmlformats.org/drawingml/2006/main" noGrp="1"/>
          </p:cNvSpPr>
          <p:nvPr/>
        </p:nvSpPr>
        <p:spPr>
          <a:xfrm xmlns:a="http://schemas.openxmlformats.org/drawingml/2006/main">
            <a:off x="781050" y="2886075"/>
            <a:ext cx="1809750" cy="47625"/>
          </a:xfrm>
          <a:prstGeom xmlns:a="http://schemas.openxmlformats.org/drawingml/2006/main" prst="rect">
            <a:avLst/>
          </a:prstGeom>
          <a:solidFill xmlns:a="http://schemas.openxmlformats.org/drawingml/2006/main">
            <a:srgbClr val="F6D66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82B69FF-EB7F-475C-A883-64EB5A9C8D33}"/>
              </a:ext>
            </a:extLst>
          </p:cNvPr>
          <p:cNvSpPr>
            <a:spLocks xmlns:a="http://schemas.openxmlformats.org/drawingml/2006/main" noGrp="1"/>
          </p:cNvSpPr>
          <p:nvPr/>
        </p:nvSpPr>
        <p:spPr>
          <a:xfrm xmlns:a="http://schemas.openxmlformats.org/drawingml/2006/main">
            <a:off x="762000" y="3209925"/>
            <a:ext cx="101917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675" b="1">
                <a:solidFill>
                  <a:srgbClr val="FFFFFF"/>
                </a:solidFill>
                <a:latin typeface="Arial"/>
                <a:ea typeface="Arial"/>
                <a:cs typeface="Arial"/>
              </a:defRPr>
            </a:defPPr>
          </a:lstStyle>
          <a:p xmlns:a="http://schemas.openxmlformats.org/drawingml/2006/main">
            <a:pPr algn="l">
              <a:defRPr sz="3675" b="1">
                <a:solidFill>
                  <a:srgbClr val="FFFFFF"/>
                </a:solidFill>
                <a:latin typeface="Arial"/>
                <a:ea typeface="Arial"/>
                <a:cs typeface="Arial"/>
              </a:defRPr>
            </a:pPr>
            <a:r>
              <a:rPr sz="3675" b="1">
                <a:solidFill>
                  <a:srgbClr val="FFFFFF"/>
                </a:solidFill>
                <a:latin typeface="Arial"/>
                <a:ea typeface="Arial"/>
                <a:cs typeface="Arial"/>
              </a:rPr>
              <a:t>Compare the reporting.</a:t>
            </a:r>
          </a:p>
          <a:p xmlns:a="http://schemas.openxmlformats.org/drawingml/2006/main">
            <a:pPr algn="l">
              <a:defRPr sz="3675" b="1">
                <a:solidFill>
                  <a:srgbClr val="FFFFFF"/>
                </a:solidFill>
                <a:latin typeface="Arial"/>
                <a:ea typeface="Arial"/>
                <a:cs typeface="Arial"/>
              </a:defRPr>
            </a:pPr>
            <a:r>
              <a:rPr sz="3675" b="1">
                <a:solidFill>
                  <a:srgbClr val="FFFFFF"/>
                </a:solidFill>
                <a:latin typeface="Arial"/>
                <a:ea typeface="Arial"/>
                <a:cs typeface="Arial"/>
              </a:rPr>
              <a:t>Inspect the sources.</a:t>
            </a:r>
          </a:p>
        </p:txBody>
      </p:sp>
      <p:sp>
        <p:nvSpPr>
          <p:cNvPr id="6" name="">
            <a:extLst xmlns:a="http://schemas.openxmlformats.org/drawingml/2006/main">
              <a:ext uri="{FF2B5EF4-FFF2-40B4-BE49-F238E27FC236}">
                <a16:creationId xmlns:a16="http://schemas.microsoft.com/office/drawing/2014/main" id="{C729474D-4F35-4429-AF9B-A48FAF9A2B90}"/>
              </a:ext>
            </a:extLst>
          </p:cNvPr>
          <p:cNvSpPr>
            <a:spLocks xmlns:a="http://schemas.openxmlformats.org/drawingml/2006/main" noGrp="1"/>
          </p:cNvSpPr>
          <p:nvPr/>
        </p:nvSpPr>
        <p:spPr>
          <a:xfrm xmlns:a="http://schemas.openxmlformats.org/drawingml/2006/main">
            <a:off x="790575" y="4972050"/>
            <a:ext cx="857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DAE5E0"/>
                </a:solidFill>
                <a:latin typeface="Arial"/>
                <a:ea typeface="Arial"/>
                <a:cs typeface="Arial"/>
              </a:defRPr>
            </a:defPPr>
          </a:lstStyle>
          <a:p xmlns:a="http://schemas.openxmlformats.org/drawingml/2006/main">
            <a:pPr algn="l">
              <a:defRPr sz="1800" b="0">
                <a:solidFill>
                  <a:srgbClr val="DAE5E0"/>
                </a:solidFill>
                <a:latin typeface="Arial"/>
                <a:ea typeface="Arial"/>
                <a:cs typeface="Arial"/>
              </a:defRPr>
            </a:pPr>
            <a:r>
              <a:rPr sz="1800" b="0">
                <a:solidFill>
                  <a:srgbClr val="DAE5E0"/>
                </a:solidFill>
                <a:latin typeface="Arial"/>
                <a:ea typeface="Arial"/>
                <a:cs typeface="Arial"/>
              </a:rPr>
              <a:t>Korean news comparison at the claim and passage level</a:t>
            </a:r>
          </a:p>
        </p:txBody>
      </p:sp>
      <p:sp>
        <p:nvSpPr>
          <p:cNvPr id="7" name="">
            <a:extLst xmlns:a="http://schemas.openxmlformats.org/drawingml/2006/main">
              <a:ext uri="{FF2B5EF4-FFF2-40B4-BE49-F238E27FC236}">
                <a16:creationId xmlns:a16="http://schemas.microsoft.com/office/drawing/2014/main" id="{DEDB25CF-923D-44C9-975B-5E52E630EB51}"/>
              </a:ext>
            </a:extLst>
          </p:cNvPr>
          <p:cNvSpPr>
            <a:spLocks xmlns:a="http://schemas.openxmlformats.org/drawingml/2006/main" noGrp="1"/>
          </p:cNvSpPr>
          <p:nvPr/>
        </p:nvSpPr>
        <p:spPr>
          <a:xfrm xmlns:a="http://schemas.openxmlformats.org/drawingml/2006/main">
            <a:off x="790575" y="6124575"/>
            <a:ext cx="981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00" b="0">
                <a:solidFill>
                  <a:srgbClr val="DAE5E0"/>
                </a:solidFill>
                <a:latin typeface="Arial"/>
                <a:ea typeface="Arial"/>
                <a:cs typeface="Arial"/>
              </a:defRPr>
            </a:defPPr>
          </a:lstStyle>
          <a:p xmlns:a="http://schemas.openxmlformats.org/drawingml/2006/main">
            <a:pPr algn="l">
              <a:defRPr sz="1500" b="0">
                <a:solidFill>
                  <a:srgbClr val="DAE5E0"/>
                </a:solidFill>
                <a:latin typeface="Arial"/>
                <a:ea typeface="Arial"/>
                <a:cs typeface="Arial"/>
              </a:defRPr>
            </a:pPr>
            <a:r>
              <a:rPr sz="1500" b="0">
                <a:solidFill>
                  <a:srgbClr val="DAE5E0"/>
                </a:solidFill>
                <a:latin typeface="Arial"/>
                <a:ea typeface="Arial"/>
                <a:cs typeface="Arial"/>
              </a:rPr>
              <a:t>Seoyoung Do   ·   Junseo Heo   ·   Jinsol Lee   ·   Seungmin Kim</a:t>
            </a:r>
          </a:p>
        </p:txBody>
      </p:sp>
    </p:spTree>
    <p:extLst>
      <p:ext uri="{BB962C8B-B14F-4D97-AF65-F5344CB8AC3E}">
        <p14:creationId xmlns:p14="http://schemas.microsoft.com/office/powerpoint/2010/main" val="28597138"/>
      </p:ext>
    </p:extLst>
  </p:cSld>
</p:sld>
</file>

<file path=ppt/slides/slide2.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DF11207-2BB0-4292-8FB4-000C717A23E1}"/>
              </a:ext>
            </a:extLst>
          </p:cNvPr>
          <p:cNvSpPr>
            <a:spLocks xmlns:a="http://schemas.openxmlformats.org/drawingml/2006/main" noGrp="1"/>
          </p:cNvSpPr>
          <p:nvPr/>
        </p:nvSpPr>
        <p:spPr>
          <a:xfrm xmlns:a="http://schemas.openxmlformats.org/drawingml/2006/main">
            <a:off x="704850" y="457200"/>
            <a:ext cx="10668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225" b="1">
                <a:solidFill>
                  <a:srgbClr val="152323"/>
                </a:solidFill>
                <a:latin typeface="Arial"/>
                <a:ea typeface="Arial"/>
                <a:cs typeface="Arial"/>
              </a:defRPr>
            </a:defPPr>
          </a:lstStyle>
          <a:p xmlns:a="http://schemas.openxmlformats.org/drawingml/2006/main">
            <a:pPr algn="l">
              <a:defRPr sz="3225" b="1">
                <a:solidFill>
                  <a:srgbClr val="152323"/>
                </a:solidFill>
                <a:latin typeface="Arial"/>
                <a:ea typeface="Arial"/>
                <a:cs typeface="Arial"/>
              </a:defRPr>
            </a:pPr>
            <a:r>
              <a:rPr sz="3225" b="1">
                <a:solidFill>
                  <a:srgbClr val="152323"/>
                </a:solidFill>
                <a:latin typeface="Arial"/>
                <a:ea typeface="Arial"/>
                <a:cs typeface="Arial"/>
              </a:rPr>
              <a:t>Why another news comparison tool?</a:t>
            </a:r>
          </a:p>
        </p:txBody>
      </p:sp>
      <p:sp>
        <p:nvSpPr>
          <p:cNvPr id="2" name="">
            <a:extLst xmlns:a="http://schemas.openxmlformats.org/drawingml/2006/main">
              <a:ext uri="{FF2B5EF4-FFF2-40B4-BE49-F238E27FC236}">
                <a16:creationId xmlns:a16="http://schemas.microsoft.com/office/drawing/2014/main" id="{338FAAEB-D7D4-41AE-8FD2-F55E53A2CAF7}"/>
              </a:ext>
            </a:extLst>
          </p:cNvPr>
          <p:cNvSpPr>
            <a:spLocks xmlns:a="http://schemas.openxmlformats.org/drawingml/2006/main" noGrp="1"/>
          </p:cNvSpPr>
          <p:nvPr/>
        </p:nvSpPr>
        <p:spPr>
          <a:xfrm xmlns:a="http://schemas.openxmlformats.org/drawingml/2006/main">
            <a:off x="723900" y="1247775"/>
            <a:ext cx="10744200" cy="9525"/>
          </a:xfrm>
          <a:prstGeom xmlns:a="http://schemas.openxmlformats.org/drawingml/2006/main" prst="rect">
            <a:avLst/>
          </a:prstGeom>
          <a:solidFill xmlns:a="http://schemas.openxmlformats.org/drawingml/2006/main">
            <a:srgbClr val="B7C4BF"/>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697F9DE-616D-4B14-AB39-2F2BCB30E586}"/>
              </a:ext>
            </a:extLst>
          </p:cNvPr>
          <p:cNvSpPr>
            <a:spLocks xmlns:a="http://schemas.openxmlformats.org/drawingml/2006/main" noGrp="1"/>
          </p:cNvSpPr>
          <p:nvPr/>
        </p:nvSpPr>
        <p:spPr>
          <a:xfrm xmlns:a="http://schemas.openxmlformats.org/drawingml/2006/main">
            <a:off x="723900" y="6400800"/>
            <a:ext cx="419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975" b="1">
                <a:solidFill>
                  <a:srgbClr val="556363"/>
                </a:solidFill>
                <a:latin typeface="Arial"/>
                <a:ea typeface="Arial"/>
                <a:cs typeface="Arial"/>
              </a:defRPr>
            </a:defPPr>
          </a:lstStyle>
          <a:p xmlns:a="http://schemas.openxmlformats.org/drawingml/2006/main">
            <a:pPr algn="l">
              <a:defRPr sz="975" b="1">
                <a:solidFill>
                  <a:srgbClr val="556363"/>
                </a:solidFill>
                <a:latin typeface="Arial"/>
                <a:ea typeface="Arial"/>
                <a:cs typeface="Arial"/>
              </a:defRPr>
            </a:pPr>
            <a:r>
              <a:rPr sz="975" b="1">
                <a:solidFill>
                  <a:srgbClr val="556363"/>
                </a:solidFill>
                <a:latin typeface="Arial"/>
                <a:ea typeface="Arial"/>
                <a:cs typeface="Arial"/>
              </a:rPr>
              <a:t>FRAMELESS  /  SWPP MIDTERM 2026</a:t>
            </a:r>
          </a:p>
        </p:txBody>
      </p:sp>
      <p:sp>
        <p:nvSpPr>
          <p:cNvPr id="4" name="">
            <a:extLst xmlns:a="http://schemas.openxmlformats.org/drawingml/2006/main">
              <a:ext uri="{FF2B5EF4-FFF2-40B4-BE49-F238E27FC236}">
                <a16:creationId xmlns:a16="http://schemas.microsoft.com/office/drawing/2014/main" id="{891997D9-1F45-4460-B4F9-03F4781975B5}"/>
              </a:ext>
            </a:extLst>
          </p:cNvPr>
          <p:cNvSpPr>
            <a:spLocks xmlns:a="http://schemas.openxmlformats.org/drawingml/2006/main" noGrp="1"/>
          </p:cNvSpPr>
          <p:nvPr/>
        </p:nvSpPr>
        <p:spPr>
          <a:xfrm xmlns:a="http://schemas.openxmlformats.org/drawingml/2006/main">
            <a:off x="10582275"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975" b="1">
                <a:solidFill>
                  <a:srgbClr val="556363"/>
                </a:solidFill>
                <a:latin typeface="Arial"/>
                <a:ea typeface="Arial"/>
                <a:cs typeface="Arial"/>
              </a:defRPr>
            </a:defPPr>
          </a:lstStyle>
          <a:p xmlns:a="http://schemas.openxmlformats.org/drawingml/2006/main">
            <a:pPr algn="r">
              <a:defRPr sz="975" b="1">
                <a:solidFill>
                  <a:srgbClr val="556363"/>
                </a:solidFill>
                <a:latin typeface="Arial"/>
                <a:ea typeface="Arial"/>
                <a:cs typeface="Arial"/>
              </a:defRPr>
            </a:pPr>
            <a:r>
              <a:rPr sz="975" b="1">
                <a:solidFill>
                  <a:srgbClr val="556363"/>
                </a:solidFill>
                <a:latin typeface="Arial"/>
                <a:ea typeface="Arial"/>
                <a:cs typeface="Arial"/>
              </a:rPr>
              <a:t>02 / 11</a:t>
            </a:r>
          </a:p>
        </p:txBody>
      </p:sp>
      <p:sp>
        <p:nvSpPr>
          <p:cNvPr id="5" name="">
            <a:extLst xmlns:a="http://schemas.openxmlformats.org/drawingml/2006/main">
              <a:ext uri="{FF2B5EF4-FFF2-40B4-BE49-F238E27FC236}">
                <a16:creationId xmlns:a16="http://schemas.microsoft.com/office/drawing/2014/main" id="{C188AA7F-479D-4EB2-B296-21AC9571C48C}"/>
              </a:ext>
            </a:extLst>
          </p:cNvPr>
          <p:cNvSpPr>
            <a:spLocks xmlns:a="http://schemas.openxmlformats.org/drawingml/2006/main" noGrp="1"/>
          </p:cNvSpPr>
          <p:nvPr/>
        </p:nvSpPr>
        <p:spPr>
          <a:xfrm xmlns:a="http://schemas.openxmlformats.org/drawingml/2006/main">
            <a:off x="733425" y="1524000"/>
            <a:ext cx="10572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1">
                <a:solidFill>
                  <a:srgbClr val="152323"/>
                </a:solidFill>
                <a:latin typeface="Arial"/>
                <a:ea typeface="Arial"/>
                <a:cs typeface="Arial"/>
              </a:defRPr>
            </a:defPPr>
          </a:lstStyle>
          <a:p xmlns:a="http://schemas.openxmlformats.org/drawingml/2006/main">
            <a:pPr algn="l">
              <a:defRPr sz="2250" b="1">
                <a:solidFill>
                  <a:srgbClr val="152323"/>
                </a:solidFill>
                <a:latin typeface="Arial"/>
                <a:ea typeface="Arial"/>
                <a:cs typeface="Arial"/>
              </a:defRPr>
            </a:pPr>
            <a:r>
              <a:rPr sz="2250" b="1">
                <a:solidFill>
                  <a:srgbClr val="152323"/>
                </a:solidFill>
                <a:latin typeface="Arial"/>
                <a:ea typeface="Arial"/>
                <a:cs typeface="Arial"/>
              </a:rPr>
              <a:t>Readers can find more articles. Aligning the claims and original wording still takes effort.</a:t>
            </a:r>
          </a:p>
        </p:txBody>
      </p:sp>
      <p:sp>
        <p:nvSpPr>
          <p:cNvPr id="6" name="">
            <a:extLst xmlns:a="http://schemas.openxmlformats.org/drawingml/2006/main">
              <a:ext uri="{FF2B5EF4-FFF2-40B4-BE49-F238E27FC236}">
                <a16:creationId xmlns:a16="http://schemas.microsoft.com/office/drawing/2014/main" id="{75B6202E-1CE1-41E7-81C2-2D8E13017A7A}"/>
              </a:ext>
            </a:extLst>
          </p:cNvPr>
          <p:cNvSpPr>
            <a:spLocks xmlns:a="http://schemas.openxmlformats.org/drawingml/2006/main" noGrp="1"/>
          </p:cNvSpPr>
          <p:nvPr/>
        </p:nvSpPr>
        <p:spPr>
          <a:xfrm xmlns:a="http://schemas.openxmlformats.org/drawingml/2006/main">
            <a:off x="733425" y="2714625"/>
            <a:ext cx="3143250" cy="38100"/>
          </a:xfrm>
          <a:prstGeom xmlns:a="http://schemas.openxmlformats.org/drawingml/2006/main" prst="rect">
            <a:avLst/>
          </a:prstGeom>
          <a:solidFill xmlns:a="http://schemas.openxmlformats.org/drawingml/2006/main">
            <a:srgbClr val="B7C4B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1FAC281-140F-4C90-A01D-0D3D67D3BB95}"/>
              </a:ext>
            </a:extLst>
          </p:cNvPr>
          <p:cNvSpPr>
            <a:spLocks xmlns:a="http://schemas.openxmlformats.org/drawingml/2006/main" noGrp="1"/>
          </p:cNvSpPr>
          <p:nvPr/>
        </p:nvSpPr>
        <p:spPr>
          <a:xfrm xmlns:a="http://schemas.openxmlformats.org/drawingml/2006/main">
            <a:off x="733425" y="2943225"/>
            <a:ext cx="3143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050" b="1">
                <a:solidFill>
                  <a:srgbClr val="007E72"/>
                </a:solidFill>
                <a:latin typeface="Arial"/>
                <a:ea typeface="Arial"/>
                <a:cs typeface="Arial"/>
              </a:defRPr>
            </a:defPPr>
          </a:lstStyle>
          <a:p xmlns:a="http://schemas.openxmlformats.org/drawingml/2006/main">
            <a:pPr algn="l">
              <a:defRPr sz="1050" b="1">
                <a:solidFill>
                  <a:srgbClr val="007E72"/>
                </a:solidFill>
                <a:latin typeface="Arial"/>
                <a:ea typeface="Arial"/>
                <a:cs typeface="Arial"/>
              </a:defRPr>
            </a:pPr>
            <a:r>
              <a:rPr sz="1050" b="1">
                <a:solidFill>
                  <a:srgbClr val="007E72"/>
                </a:solidFill>
                <a:latin typeface="Arial"/>
                <a:ea typeface="Arial"/>
                <a:cs typeface="Arial"/>
              </a:rPr>
              <a:t>DISCOVER</a:t>
            </a:r>
          </a:p>
        </p:txBody>
      </p:sp>
      <p:sp>
        <p:nvSpPr>
          <p:cNvPr id="8" name="">
            <a:extLst xmlns:a="http://schemas.openxmlformats.org/drawingml/2006/main">
              <a:ext uri="{FF2B5EF4-FFF2-40B4-BE49-F238E27FC236}">
                <a16:creationId xmlns:a16="http://schemas.microsoft.com/office/drawing/2014/main" id="{E3EE4A57-6B2A-4036-8CE6-5C54C12E31B4}"/>
              </a:ext>
            </a:extLst>
          </p:cNvPr>
          <p:cNvSpPr>
            <a:spLocks xmlns:a="http://schemas.openxmlformats.org/drawingml/2006/main" noGrp="1"/>
          </p:cNvSpPr>
          <p:nvPr/>
        </p:nvSpPr>
        <p:spPr>
          <a:xfrm xmlns:a="http://schemas.openxmlformats.org/drawingml/2006/main">
            <a:off x="733425" y="338137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325" b="1">
                <a:solidFill>
                  <a:srgbClr val="152323"/>
                </a:solidFill>
                <a:latin typeface="Arial"/>
                <a:ea typeface="Arial"/>
                <a:cs typeface="Arial"/>
              </a:defRPr>
            </a:defPPr>
          </a:lstStyle>
          <a:p xmlns:a="http://schemas.openxmlformats.org/drawingml/2006/main">
            <a:pPr algn="l">
              <a:defRPr sz="2325" b="1">
                <a:solidFill>
                  <a:srgbClr val="152323"/>
                </a:solidFill>
                <a:latin typeface="Arial"/>
                <a:ea typeface="Arial"/>
                <a:cs typeface="Arial"/>
              </a:defRPr>
            </a:pPr>
            <a:r>
              <a:rPr sz="2325" b="1">
                <a:solidFill>
                  <a:srgbClr val="152323"/>
                </a:solidFill>
                <a:latin typeface="Arial"/>
                <a:ea typeface="Arial"/>
                <a:cs typeface="Arial"/>
              </a:rPr>
              <a:t>NAVER News</a:t>
            </a:r>
          </a:p>
        </p:txBody>
      </p:sp>
      <p:sp>
        <p:nvSpPr>
          <p:cNvPr id="9" name="">
            <a:extLst xmlns:a="http://schemas.openxmlformats.org/drawingml/2006/main">
              <a:ext uri="{FF2B5EF4-FFF2-40B4-BE49-F238E27FC236}">
                <a16:creationId xmlns:a16="http://schemas.microsoft.com/office/drawing/2014/main" id="{1FCEE717-8DEE-4640-A7AE-D672A9E78485}"/>
              </a:ext>
            </a:extLst>
          </p:cNvPr>
          <p:cNvSpPr>
            <a:spLocks xmlns:a="http://schemas.openxmlformats.org/drawingml/2006/main" noGrp="1"/>
          </p:cNvSpPr>
          <p:nvPr/>
        </p:nvSpPr>
        <p:spPr>
          <a:xfrm xmlns:a="http://schemas.openxmlformats.org/drawingml/2006/main">
            <a:off x="733425" y="4048125"/>
            <a:ext cx="3143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556363"/>
                </a:solidFill>
                <a:latin typeface="Arial"/>
                <a:ea typeface="Arial"/>
                <a:cs typeface="Arial"/>
              </a:defRPr>
            </a:defPPr>
          </a:lstStyle>
          <a:p xmlns:a="http://schemas.openxmlformats.org/drawingml/2006/main">
            <a:pPr algn="l">
              <a:defRPr sz="1725" b="0">
                <a:solidFill>
                  <a:srgbClr val="556363"/>
                </a:solidFill>
                <a:latin typeface="Arial"/>
                <a:ea typeface="Arial"/>
                <a:cs typeface="Arial"/>
              </a:defRPr>
            </a:pPr>
            <a:r>
              <a:rPr sz="1725" b="0">
                <a:solidFill>
                  <a:srgbClr val="556363"/>
                </a:solidFill>
                <a:latin typeface="Arial"/>
                <a:ea typeface="Arial"/>
                <a:cs typeface="Arial"/>
              </a:rPr>
              <a:t>Find coverage of an event and open individual articles.</a:t>
            </a:r>
          </a:p>
        </p:txBody>
      </p:sp>
      <p:sp>
        <p:nvSpPr>
          <p:cNvPr id="10" name="">
            <a:extLst xmlns:a="http://schemas.openxmlformats.org/drawingml/2006/main">
              <a:ext uri="{FF2B5EF4-FFF2-40B4-BE49-F238E27FC236}">
                <a16:creationId xmlns:a16="http://schemas.microsoft.com/office/drawing/2014/main" id="{27A69D45-FD8D-4DAA-871D-685595F630AA}"/>
              </a:ext>
            </a:extLst>
          </p:cNvPr>
          <p:cNvSpPr>
            <a:spLocks xmlns:a="http://schemas.openxmlformats.org/drawingml/2006/main" noGrp="1"/>
          </p:cNvSpPr>
          <p:nvPr/>
        </p:nvSpPr>
        <p:spPr>
          <a:xfrm xmlns:a="http://schemas.openxmlformats.org/drawingml/2006/main">
            <a:off x="4391025" y="2714625"/>
            <a:ext cx="3143250" cy="38100"/>
          </a:xfrm>
          <a:prstGeom xmlns:a="http://schemas.openxmlformats.org/drawingml/2006/main" prst="rect">
            <a:avLst/>
          </a:prstGeom>
          <a:solidFill xmlns:a="http://schemas.openxmlformats.org/drawingml/2006/main">
            <a:srgbClr val="B7C4B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6B49D81-AFAB-451E-AB38-681B10F8023B}"/>
              </a:ext>
            </a:extLst>
          </p:cNvPr>
          <p:cNvSpPr>
            <a:spLocks xmlns:a="http://schemas.openxmlformats.org/drawingml/2006/main" noGrp="1"/>
          </p:cNvSpPr>
          <p:nvPr/>
        </p:nvSpPr>
        <p:spPr>
          <a:xfrm xmlns:a="http://schemas.openxmlformats.org/drawingml/2006/main">
            <a:off x="4391025" y="2943225"/>
            <a:ext cx="3143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050" b="1">
                <a:solidFill>
                  <a:srgbClr val="007E72"/>
                </a:solidFill>
                <a:latin typeface="Arial"/>
                <a:ea typeface="Arial"/>
                <a:cs typeface="Arial"/>
              </a:defRPr>
            </a:defPPr>
          </a:lstStyle>
          <a:p xmlns:a="http://schemas.openxmlformats.org/drawingml/2006/main">
            <a:pPr algn="l">
              <a:defRPr sz="1050" b="1">
                <a:solidFill>
                  <a:srgbClr val="007E72"/>
                </a:solidFill>
                <a:latin typeface="Arial"/>
                <a:ea typeface="Arial"/>
                <a:cs typeface="Arial"/>
              </a:defRPr>
            </a:pPr>
            <a:r>
              <a:rPr sz="1050" b="1">
                <a:solidFill>
                  <a:srgbClr val="007E72"/>
                </a:solidFill>
                <a:latin typeface="Arial"/>
                <a:ea typeface="Arial"/>
                <a:cs typeface="Arial"/>
              </a:rPr>
              <a:t>COMPARE SOURCES</a:t>
            </a:r>
          </a:p>
        </p:txBody>
      </p:sp>
      <p:sp>
        <p:nvSpPr>
          <p:cNvPr id="12" name="">
            <a:extLst xmlns:a="http://schemas.openxmlformats.org/drawingml/2006/main">
              <a:ext uri="{FF2B5EF4-FFF2-40B4-BE49-F238E27FC236}">
                <a16:creationId xmlns:a16="http://schemas.microsoft.com/office/drawing/2014/main" id="{6E44182A-2098-4EF2-9A15-532652A1E405}"/>
              </a:ext>
            </a:extLst>
          </p:cNvPr>
          <p:cNvSpPr>
            <a:spLocks xmlns:a="http://schemas.openxmlformats.org/drawingml/2006/main" noGrp="1"/>
          </p:cNvSpPr>
          <p:nvPr/>
        </p:nvSpPr>
        <p:spPr>
          <a:xfrm xmlns:a="http://schemas.openxmlformats.org/drawingml/2006/main">
            <a:off x="4391025" y="338137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325" b="1">
                <a:solidFill>
                  <a:srgbClr val="152323"/>
                </a:solidFill>
                <a:latin typeface="Arial"/>
                <a:ea typeface="Arial"/>
                <a:cs typeface="Arial"/>
              </a:defRPr>
            </a:defPPr>
          </a:lstStyle>
          <a:p xmlns:a="http://schemas.openxmlformats.org/drawingml/2006/main">
            <a:pPr algn="l">
              <a:defRPr sz="2325" b="1">
                <a:solidFill>
                  <a:srgbClr val="152323"/>
                </a:solidFill>
                <a:latin typeface="Arial"/>
                <a:ea typeface="Arial"/>
                <a:cs typeface="Arial"/>
              </a:defRPr>
            </a:pPr>
            <a:r>
              <a:rPr sz="2325" b="1">
                <a:solidFill>
                  <a:srgbClr val="152323"/>
                </a:solidFill>
                <a:latin typeface="Arial"/>
                <a:ea typeface="Arial"/>
                <a:cs typeface="Arial"/>
              </a:rPr>
              <a:t>Ground News</a:t>
            </a:r>
          </a:p>
        </p:txBody>
      </p:sp>
      <p:sp>
        <p:nvSpPr>
          <p:cNvPr id="13" name="">
            <a:extLst xmlns:a="http://schemas.openxmlformats.org/drawingml/2006/main">
              <a:ext uri="{FF2B5EF4-FFF2-40B4-BE49-F238E27FC236}">
                <a16:creationId xmlns:a16="http://schemas.microsoft.com/office/drawing/2014/main" id="{30707904-C376-46CB-A979-D2AE7C39307C}"/>
              </a:ext>
            </a:extLst>
          </p:cNvPr>
          <p:cNvSpPr>
            <a:spLocks xmlns:a="http://schemas.openxmlformats.org/drawingml/2006/main" noGrp="1"/>
          </p:cNvSpPr>
          <p:nvPr/>
        </p:nvSpPr>
        <p:spPr>
          <a:xfrm xmlns:a="http://schemas.openxmlformats.org/drawingml/2006/main">
            <a:off x="4391025" y="4048125"/>
            <a:ext cx="3143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556363"/>
                </a:solidFill>
                <a:latin typeface="Arial"/>
                <a:ea typeface="Arial"/>
                <a:cs typeface="Arial"/>
              </a:defRPr>
            </a:defPPr>
          </a:lstStyle>
          <a:p xmlns:a="http://schemas.openxmlformats.org/drawingml/2006/main">
            <a:pPr algn="l">
              <a:defRPr sz="1725" b="0">
                <a:solidFill>
                  <a:srgbClr val="556363"/>
                </a:solidFill>
                <a:latin typeface="Arial"/>
                <a:ea typeface="Arial"/>
                <a:cs typeface="Arial"/>
              </a:defRPr>
            </a:pPr>
            <a:r>
              <a:rPr sz="1725" b="0">
                <a:solidFill>
                  <a:srgbClr val="556363"/>
                </a:solidFill>
                <a:latin typeface="Arial"/>
                <a:ea typeface="Arial"/>
                <a:cs typeface="Arial"/>
              </a:rPr>
              <a:t>See story coverage and outlet-level context across sources.</a:t>
            </a:r>
          </a:p>
        </p:txBody>
      </p:sp>
      <p:sp>
        <p:nvSpPr>
          <p:cNvPr id="14" name="">
            <a:extLst xmlns:a="http://schemas.openxmlformats.org/drawingml/2006/main">
              <a:ext uri="{FF2B5EF4-FFF2-40B4-BE49-F238E27FC236}">
                <a16:creationId xmlns:a16="http://schemas.microsoft.com/office/drawing/2014/main" id="{12E128F0-C653-43CA-A610-3ECFD9410641}"/>
              </a:ext>
            </a:extLst>
          </p:cNvPr>
          <p:cNvSpPr>
            <a:spLocks xmlns:a="http://schemas.openxmlformats.org/drawingml/2006/main" noGrp="1"/>
          </p:cNvSpPr>
          <p:nvPr/>
        </p:nvSpPr>
        <p:spPr>
          <a:xfrm xmlns:a="http://schemas.openxmlformats.org/drawingml/2006/main">
            <a:off x="8048625" y="2714625"/>
            <a:ext cx="3143250" cy="38100"/>
          </a:xfrm>
          <a:prstGeom xmlns:a="http://schemas.openxmlformats.org/drawingml/2006/main" prst="rect">
            <a:avLst/>
          </a:prstGeom>
          <a:solidFill xmlns:a="http://schemas.openxmlformats.org/drawingml/2006/main">
            <a:srgbClr val="007E72"/>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3EB5B08-B79A-403A-9567-123D6AD54795}"/>
              </a:ext>
            </a:extLst>
          </p:cNvPr>
          <p:cNvSpPr>
            <a:spLocks xmlns:a="http://schemas.openxmlformats.org/drawingml/2006/main" noGrp="1"/>
          </p:cNvSpPr>
          <p:nvPr/>
        </p:nvSpPr>
        <p:spPr>
          <a:xfrm xmlns:a="http://schemas.openxmlformats.org/drawingml/2006/main">
            <a:off x="8048625" y="2943225"/>
            <a:ext cx="3143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050" b="1">
                <a:solidFill>
                  <a:srgbClr val="007E72"/>
                </a:solidFill>
                <a:latin typeface="Arial"/>
                <a:ea typeface="Arial"/>
                <a:cs typeface="Arial"/>
              </a:defRPr>
            </a:defPPr>
          </a:lstStyle>
          <a:p xmlns:a="http://schemas.openxmlformats.org/drawingml/2006/main">
            <a:pPr algn="l">
              <a:defRPr sz="1050" b="1">
                <a:solidFill>
                  <a:srgbClr val="007E72"/>
                </a:solidFill>
                <a:latin typeface="Arial"/>
                <a:ea typeface="Arial"/>
                <a:cs typeface="Arial"/>
              </a:defRPr>
            </a:pPr>
            <a:r>
              <a:rPr sz="1050" b="1">
                <a:solidFill>
                  <a:srgbClr val="007E72"/>
                </a:solidFill>
                <a:latin typeface="Arial"/>
                <a:ea typeface="Arial"/>
                <a:cs typeface="Arial"/>
              </a:rPr>
              <a:t>INSPECT PASSAGES</a:t>
            </a:r>
          </a:p>
        </p:txBody>
      </p:sp>
      <p:sp>
        <p:nvSpPr>
          <p:cNvPr id="16" name="">
            <a:extLst xmlns:a="http://schemas.openxmlformats.org/drawingml/2006/main">
              <a:ext uri="{FF2B5EF4-FFF2-40B4-BE49-F238E27FC236}">
                <a16:creationId xmlns:a16="http://schemas.microsoft.com/office/drawing/2014/main" id="{1B04849D-4402-477D-B1F9-097E465285FA}"/>
              </a:ext>
            </a:extLst>
          </p:cNvPr>
          <p:cNvSpPr>
            <a:spLocks xmlns:a="http://schemas.openxmlformats.org/drawingml/2006/main" noGrp="1"/>
          </p:cNvSpPr>
          <p:nvPr/>
        </p:nvSpPr>
        <p:spPr>
          <a:xfrm xmlns:a="http://schemas.openxmlformats.org/drawingml/2006/main">
            <a:off x="8048625" y="338137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325" b="1">
                <a:solidFill>
                  <a:srgbClr val="152323"/>
                </a:solidFill>
                <a:latin typeface="Arial"/>
                <a:ea typeface="Arial"/>
                <a:cs typeface="Arial"/>
              </a:defRPr>
            </a:defPPr>
          </a:lstStyle>
          <a:p xmlns:a="http://schemas.openxmlformats.org/drawingml/2006/main">
            <a:pPr algn="l">
              <a:defRPr sz="2325" b="1">
                <a:solidFill>
                  <a:srgbClr val="152323"/>
                </a:solidFill>
                <a:latin typeface="Arial"/>
                <a:ea typeface="Arial"/>
                <a:cs typeface="Arial"/>
              </a:defRPr>
            </a:pPr>
            <a:r>
              <a:rPr sz="2325" b="1">
                <a:solidFill>
                  <a:srgbClr val="152323"/>
                </a:solidFill>
                <a:latin typeface="Arial"/>
                <a:ea typeface="Arial"/>
                <a:cs typeface="Arial"/>
              </a:rPr>
              <a:t>FrameLESS</a:t>
            </a:r>
          </a:p>
        </p:txBody>
      </p:sp>
      <p:sp>
        <p:nvSpPr>
          <p:cNvPr id="17" name="">
            <a:extLst xmlns:a="http://schemas.openxmlformats.org/drawingml/2006/main">
              <a:ext uri="{FF2B5EF4-FFF2-40B4-BE49-F238E27FC236}">
                <a16:creationId xmlns:a16="http://schemas.microsoft.com/office/drawing/2014/main" id="{5D080CC4-0C87-4881-98DE-84F7FA8F0AEB}"/>
              </a:ext>
            </a:extLst>
          </p:cNvPr>
          <p:cNvSpPr>
            <a:spLocks xmlns:a="http://schemas.openxmlformats.org/drawingml/2006/main" noGrp="1"/>
          </p:cNvSpPr>
          <p:nvPr/>
        </p:nvSpPr>
        <p:spPr>
          <a:xfrm xmlns:a="http://schemas.openxmlformats.org/drawingml/2006/main">
            <a:off x="8048625" y="4048125"/>
            <a:ext cx="3143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556363"/>
                </a:solidFill>
                <a:latin typeface="Arial"/>
                <a:ea typeface="Arial"/>
                <a:cs typeface="Arial"/>
              </a:defRPr>
            </a:defPPr>
          </a:lstStyle>
          <a:p xmlns:a="http://schemas.openxmlformats.org/drawingml/2006/main">
            <a:pPr algn="l">
              <a:defRPr sz="1725" b="0">
                <a:solidFill>
                  <a:srgbClr val="556363"/>
                </a:solidFill>
                <a:latin typeface="Arial"/>
                <a:ea typeface="Arial"/>
                <a:cs typeface="Arial"/>
              </a:defRPr>
            </a:pPr>
            <a:r>
              <a:rPr sz="1725" b="0">
                <a:solidFill>
                  <a:srgbClr val="556363"/>
                </a:solidFill>
                <a:latin typeface="Arial"/>
                <a:ea typeface="Arial"/>
                <a:cs typeface="Arial"/>
              </a:rPr>
              <a:t>Start with the reader’s article and inspect claim-linked source passages.</a:t>
            </a:r>
          </a:p>
        </p:txBody>
      </p:sp>
    </p:spTree>
    <p:extLst>
      <p:ext uri="{BB962C8B-B14F-4D97-AF65-F5344CB8AC3E}">
        <p14:creationId xmlns:p14="http://schemas.microsoft.com/office/powerpoint/2010/main" val="1756485792"/>
      </p:ext>
    </p:extLst>
  </p:cSld>
</p:sld>
</file>

<file path=ppt/slides/slide3.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8BF4B1B1-D107-4193-BD7F-0046F2A0CF2D}"/>
              </a:ext>
            </a:extLst>
          </p:cNvPr>
          <p:cNvSpPr>
            <a:spLocks xmlns:a="http://schemas.openxmlformats.org/drawingml/2006/main" noGrp="1"/>
          </p:cNvSpPr>
          <p:nvPr/>
        </p:nvSpPr>
        <p:spPr>
          <a:xfrm xmlns:a="http://schemas.openxmlformats.org/drawingml/2006/main">
            <a:off x="704850" y="457200"/>
            <a:ext cx="10668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225" b="1">
                <a:solidFill>
                  <a:srgbClr val="152323"/>
                </a:solidFill>
                <a:latin typeface="Arial"/>
                <a:ea typeface="Arial"/>
                <a:cs typeface="Arial"/>
              </a:defRPr>
            </a:defPPr>
          </a:lstStyle>
          <a:p xmlns:a="http://schemas.openxmlformats.org/drawingml/2006/main">
            <a:pPr algn="l">
              <a:defRPr sz="3225" b="1">
                <a:solidFill>
                  <a:srgbClr val="152323"/>
                </a:solidFill>
                <a:latin typeface="Arial"/>
                <a:ea typeface="Arial"/>
                <a:cs typeface="Arial"/>
              </a:defRPr>
            </a:pPr>
            <a:r>
              <a:rPr sz="3225" b="1">
                <a:solidFill>
                  <a:srgbClr val="152323"/>
                </a:solidFill>
                <a:latin typeface="Arial"/>
                <a:ea typeface="Arial"/>
                <a:cs typeface="Arial"/>
              </a:rPr>
              <a:t>The reader journey</a:t>
            </a:r>
          </a:p>
        </p:txBody>
      </p:sp>
      <p:sp>
        <p:nvSpPr>
          <p:cNvPr id="2" name="">
            <a:extLst xmlns:a="http://schemas.openxmlformats.org/drawingml/2006/main">
              <a:ext uri="{FF2B5EF4-FFF2-40B4-BE49-F238E27FC236}">
                <a16:creationId xmlns:a16="http://schemas.microsoft.com/office/drawing/2014/main" id="{C5F91E1A-B2B3-48BE-83AF-1DBED7183308}"/>
              </a:ext>
            </a:extLst>
          </p:cNvPr>
          <p:cNvSpPr>
            <a:spLocks xmlns:a="http://schemas.openxmlformats.org/drawingml/2006/main" noGrp="1"/>
          </p:cNvSpPr>
          <p:nvPr/>
        </p:nvSpPr>
        <p:spPr>
          <a:xfrm xmlns:a="http://schemas.openxmlformats.org/drawingml/2006/main">
            <a:off x="723900" y="1247775"/>
            <a:ext cx="10744200" cy="9525"/>
          </a:xfrm>
          <a:prstGeom xmlns:a="http://schemas.openxmlformats.org/drawingml/2006/main" prst="rect">
            <a:avLst/>
          </a:prstGeom>
          <a:solidFill xmlns:a="http://schemas.openxmlformats.org/drawingml/2006/main">
            <a:srgbClr val="B7C4BF"/>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37A663E-3E3A-4F62-BB19-84DAA2AFC77D}"/>
              </a:ext>
            </a:extLst>
          </p:cNvPr>
          <p:cNvSpPr>
            <a:spLocks xmlns:a="http://schemas.openxmlformats.org/drawingml/2006/main" noGrp="1"/>
          </p:cNvSpPr>
          <p:nvPr/>
        </p:nvSpPr>
        <p:spPr>
          <a:xfrm xmlns:a="http://schemas.openxmlformats.org/drawingml/2006/main">
            <a:off x="723900" y="6400800"/>
            <a:ext cx="419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975" b="1">
                <a:solidFill>
                  <a:srgbClr val="556363"/>
                </a:solidFill>
                <a:latin typeface="Arial"/>
                <a:ea typeface="Arial"/>
                <a:cs typeface="Arial"/>
              </a:defRPr>
            </a:defPPr>
          </a:lstStyle>
          <a:p xmlns:a="http://schemas.openxmlformats.org/drawingml/2006/main">
            <a:pPr algn="l">
              <a:defRPr sz="975" b="1">
                <a:solidFill>
                  <a:srgbClr val="556363"/>
                </a:solidFill>
                <a:latin typeface="Arial"/>
                <a:ea typeface="Arial"/>
                <a:cs typeface="Arial"/>
              </a:defRPr>
            </a:pPr>
            <a:r>
              <a:rPr sz="975" b="1">
                <a:solidFill>
                  <a:srgbClr val="556363"/>
                </a:solidFill>
                <a:latin typeface="Arial"/>
                <a:ea typeface="Arial"/>
                <a:cs typeface="Arial"/>
              </a:rPr>
              <a:t>FRAMELESS  /  SWPP MIDTERM 2026</a:t>
            </a:r>
          </a:p>
        </p:txBody>
      </p:sp>
      <p:sp>
        <p:nvSpPr>
          <p:cNvPr id="4" name="">
            <a:extLst xmlns:a="http://schemas.openxmlformats.org/drawingml/2006/main">
              <a:ext uri="{FF2B5EF4-FFF2-40B4-BE49-F238E27FC236}">
                <a16:creationId xmlns:a16="http://schemas.microsoft.com/office/drawing/2014/main" id="{B61B5CFF-AF45-4A9A-B8F2-5ED444F5E0BB}"/>
              </a:ext>
            </a:extLst>
          </p:cNvPr>
          <p:cNvSpPr>
            <a:spLocks xmlns:a="http://schemas.openxmlformats.org/drawingml/2006/main" noGrp="1"/>
          </p:cNvSpPr>
          <p:nvPr/>
        </p:nvSpPr>
        <p:spPr>
          <a:xfrm xmlns:a="http://schemas.openxmlformats.org/drawingml/2006/main">
            <a:off x="10582275"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975" b="1">
                <a:solidFill>
                  <a:srgbClr val="556363"/>
                </a:solidFill>
                <a:latin typeface="Arial"/>
                <a:ea typeface="Arial"/>
                <a:cs typeface="Arial"/>
              </a:defRPr>
            </a:defPPr>
          </a:lstStyle>
          <a:p xmlns:a="http://schemas.openxmlformats.org/drawingml/2006/main">
            <a:pPr algn="r">
              <a:defRPr sz="975" b="1">
                <a:solidFill>
                  <a:srgbClr val="556363"/>
                </a:solidFill>
                <a:latin typeface="Arial"/>
                <a:ea typeface="Arial"/>
                <a:cs typeface="Arial"/>
              </a:defRPr>
            </a:pPr>
            <a:r>
              <a:rPr sz="975" b="1">
                <a:solidFill>
                  <a:srgbClr val="556363"/>
                </a:solidFill>
                <a:latin typeface="Arial"/>
                <a:ea typeface="Arial"/>
                <a:cs typeface="Arial"/>
              </a:rPr>
              <a:t>03 / 11</a:t>
            </a:r>
          </a:p>
        </p:txBody>
      </p:sp>
      <p:sp>
        <p:nvSpPr>
          <p:cNvPr id="5" name="">
            <a:extLst xmlns:a="http://schemas.openxmlformats.org/drawingml/2006/main">
              <a:ext uri="{FF2B5EF4-FFF2-40B4-BE49-F238E27FC236}">
                <a16:creationId xmlns:a16="http://schemas.microsoft.com/office/drawing/2014/main" id="{32688BF8-48AC-47D1-9207-DA1255055995}"/>
              </a:ext>
            </a:extLst>
          </p:cNvPr>
          <p:cNvSpPr>
            <a:spLocks xmlns:a="http://schemas.openxmlformats.org/drawingml/2006/main" noGrp="1"/>
          </p:cNvSpPr>
          <p:nvPr/>
        </p:nvSpPr>
        <p:spPr>
          <a:xfrm xmlns:a="http://schemas.openxmlformats.org/drawingml/2006/main">
            <a:off x="742950" y="1619250"/>
            <a:ext cx="990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4050" b="1">
                <a:solidFill>
                  <a:srgbClr val="B7C4BF"/>
                </a:solidFill>
                <a:latin typeface="Arial"/>
                <a:ea typeface="Arial"/>
                <a:cs typeface="Arial"/>
              </a:defRPr>
            </a:defPPr>
          </a:lstStyle>
          <a:p xmlns:a="http://schemas.openxmlformats.org/drawingml/2006/main">
            <a:pPr algn="l">
              <a:defRPr sz="4050" b="1">
                <a:solidFill>
                  <a:srgbClr val="B7C4BF"/>
                </a:solidFill>
                <a:latin typeface="Arial"/>
                <a:ea typeface="Arial"/>
                <a:cs typeface="Arial"/>
              </a:defRPr>
            </a:pPr>
            <a:r>
              <a:rPr sz="4050" b="1">
                <a:solidFill>
                  <a:srgbClr val="B7C4BF"/>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D285E25F-AD24-4410-AB2D-C9306731ACE5}"/>
              </a:ext>
            </a:extLst>
          </p:cNvPr>
          <p:cNvSpPr>
            <a:spLocks xmlns:a="http://schemas.openxmlformats.org/drawingml/2006/main" noGrp="1"/>
          </p:cNvSpPr>
          <p:nvPr/>
        </p:nvSpPr>
        <p:spPr>
          <a:xfrm xmlns:a="http://schemas.openxmlformats.org/drawingml/2006/main">
            <a:off x="2000250" y="1647825"/>
            <a:ext cx="419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152323"/>
                </a:solidFill>
                <a:latin typeface="Arial"/>
                <a:ea typeface="Arial"/>
                <a:cs typeface="Arial"/>
              </a:defRPr>
            </a:defPPr>
          </a:lstStyle>
          <a:p xmlns:a="http://schemas.openxmlformats.org/drawingml/2006/main">
            <a:pPr algn="l">
              <a:defRPr sz="2175" b="1">
                <a:solidFill>
                  <a:srgbClr val="152323"/>
                </a:solidFill>
                <a:latin typeface="Arial"/>
                <a:ea typeface="Arial"/>
                <a:cs typeface="Arial"/>
              </a:defRPr>
            </a:pPr>
            <a:r>
              <a:rPr sz="2175" b="1">
                <a:solidFill>
                  <a:srgbClr val="152323"/>
                </a:solidFill>
                <a:latin typeface="Arial"/>
                <a:ea typeface="Arial"/>
                <a:cs typeface="Arial"/>
              </a:rPr>
              <a:t>Select an article</a:t>
            </a:r>
          </a:p>
        </p:txBody>
      </p:sp>
      <p:sp>
        <p:nvSpPr>
          <p:cNvPr id="7" name="">
            <a:extLst xmlns:a="http://schemas.openxmlformats.org/drawingml/2006/main">
              <a:ext uri="{FF2B5EF4-FFF2-40B4-BE49-F238E27FC236}">
                <a16:creationId xmlns:a16="http://schemas.microsoft.com/office/drawing/2014/main" id="{1291096C-C39E-4412-BE4C-FD016B8F4432}"/>
              </a:ext>
            </a:extLst>
          </p:cNvPr>
          <p:cNvSpPr>
            <a:spLocks xmlns:a="http://schemas.openxmlformats.org/drawingml/2006/main" noGrp="1"/>
          </p:cNvSpPr>
          <p:nvPr/>
        </p:nvSpPr>
        <p:spPr>
          <a:xfrm xmlns:a="http://schemas.openxmlformats.org/drawingml/2006/main">
            <a:off x="6238875" y="1647825"/>
            <a:ext cx="5191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556363"/>
                </a:solidFill>
                <a:latin typeface="Arial"/>
                <a:ea typeface="Arial"/>
                <a:cs typeface="Arial"/>
              </a:defRPr>
            </a:defPPr>
          </a:lstStyle>
          <a:p xmlns:a="http://schemas.openxmlformats.org/drawingml/2006/main">
            <a:pPr algn="l">
              <a:defRPr sz="1650" b="0">
                <a:solidFill>
                  <a:srgbClr val="556363"/>
                </a:solidFill>
                <a:latin typeface="Arial"/>
                <a:ea typeface="Arial"/>
                <a:cs typeface="Arial"/>
              </a:defRPr>
            </a:pPr>
            <a:r>
              <a:rPr sz="1650" b="0">
                <a:solidFill>
                  <a:srgbClr val="556363"/>
                </a:solidFill>
                <a:latin typeface="Arial"/>
                <a:ea typeface="Arial"/>
                <a:cs typeface="Arial"/>
              </a:rPr>
              <a:t>Paste a public Korean news URL.</a:t>
            </a:r>
          </a:p>
        </p:txBody>
      </p:sp>
      <p:sp>
        <p:nvSpPr>
          <p:cNvPr id="8" name="">
            <a:extLst xmlns:a="http://schemas.openxmlformats.org/drawingml/2006/main">
              <a:ext uri="{FF2B5EF4-FFF2-40B4-BE49-F238E27FC236}">
                <a16:creationId xmlns:a16="http://schemas.microsoft.com/office/drawing/2014/main" id="{AD746407-6812-4834-B443-72EDFADE1559}"/>
              </a:ext>
            </a:extLst>
          </p:cNvPr>
          <p:cNvSpPr>
            <a:spLocks xmlns:a="http://schemas.openxmlformats.org/drawingml/2006/main" noGrp="1"/>
          </p:cNvSpPr>
          <p:nvPr/>
        </p:nvSpPr>
        <p:spPr>
          <a:xfrm xmlns:a="http://schemas.openxmlformats.org/drawingml/2006/main">
            <a:off x="1981200" y="2476500"/>
            <a:ext cx="9477375" cy="19050"/>
          </a:xfrm>
          <a:prstGeom xmlns:a="http://schemas.openxmlformats.org/drawingml/2006/main" prst="rect">
            <a:avLst/>
          </a:prstGeom>
          <a:solidFill xmlns:a="http://schemas.openxmlformats.org/drawingml/2006/main">
            <a:srgbClr val="E9ECE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4F83810-548C-4279-8972-65A1ADE2724B}"/>
              </a:ext>
            </a:extLst>
          </p:cNvPr>
          <p:cNvSpPr>
            <a:spLocks xmlns:a="http://schemas.openxmlformats.org/drawingml/2006/main" noGrp="1"/>
          </p:cNvSpPr>
          <p:nvPr/>
        </p:nvSpPr>
        <p:spPr>
          <a:xfrm xmlns:a="http://schemas.openxmlformats.org/drawingml/2006/main">
            <a:off x="742950" y="2676525"/>
            <a:ext cx="990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4050" b="1">
                <a:solidFill>
                  <a:srgbClr val="B7C4BF"/>
                </a:solidFill>
                <a:latin typeface="Arial"/>
                <a:ea typeface="Arial"/>
                <a:cs typeface="Arial"/>
              </a:defRPr>
            </a:defPPr>
          </a:lstStyle>
          <a:p xmlns:a="http://schemas.openxmlformats.org/drawingml/2006/main">
            <a:pPr algn="l">
              <a:defRPr sz="4050" b="1">
                <a:solidFill>
                  <a:srgbClr val="B7C4BF"/>
                </a:solidFill>
                <a:latin typeface="Arial"/>
                <a:ea typeface="Arial"/>
                <a:cs typeface="Arial"/>
              </a:defRPr>
            </a:pPr>
            <a:r>
              <a:rPr sz="4050" b="1">
                <a:solidFill>
                  <a:srgbClr val="B7C4BF"/>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54A46FA4-D040-49E3-BA54-976DB2ED71BD}"/>
              </a:ext>
            </a:extLst>
          </p:cNvPr>
          <p:cNvSpPr>
            <a:spLocks xmlns:a="http://schemas.openxmlformats.org/drawingml/2006/main" noGrp="1"/>
          </p:cNvSpPr>
          <p:nvPr/>
        </p:nvSpPr>
        <p:spPr>
          <a:xfrm xmlns:a="http://schemas.openxmlformats.org/drawingml/2006/main">
            <a:off x="2000250" y="2705100"/>
            <a:ext cx="419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152323"/>
                </a:solidFill>
                <a:latin typeface="Arial"/>
                <a:ea typeface="Arial"/>
                <a:cs typeface="Arial"/>
              </a:defRPr>
            </a:defPPr>
          </a:lstStyle>
          <a:p xmlns:a="http://schemas.openxmlformats.org/drawingml/2006/main">
            <a:pPr algn="l">
              <a:defRPr sz="2175" b="1">
                <a:solidFill>
                  <a:srgbClr val="152323"/>
                </a:solidFill>
                <a:latin typeface="Arial"/>
                <a:ea typeface="Arial"/>
                <a:cs typeface="Arial"/>
              </a:defRPr>
            </a:pPr>
            <a:r>
              <a:rPr sz="2175" b="1">
                <a:solidFill>
                  <a:srgbClr val="152323"/>
                </a:solidFill>
                <a:latin typeface="Arial"/>
                <a:ea typeface="Arial"/>
                <a:cs typeface="Arial"/>
              </a:rPr>
              <a:t>Find the same event</a:t>
            </a:r>
          </a:p>
        </p:txBody>
      </p:sp>
      <p:sp>
        <p:nvSpPr>
          <p:cNvPr id="11" name="">
            <a:extLst xmlns:a="http://schemas.openxmlformats.org/drawingml/2006/main">
              <a:ext uri="{FF2B5EF4-FFF2-40B4-BE49-F238E27FC236}">
                <a16:creationId xmlns:a16="http://schemas.microsoft.com/office/drawing/2014/main" id="{6B794811-2B2B-460B-A5A5-313AAAF09C7F}"/>
              </a:ext>
            </a:extLst>
          </p:cNvPr>
          <p:cNvSpPr>
            <a:spLocks xmlns:a="http://schemas.openxmlformats.org/drawingml/2006/main" noGrp="1"/>
          </p:cNvSpPr>
          <p:nvPr/>
        </p:nvSpPr>
        <p:spPr>
          <a:xfrm xmlns:a="http://schemas.openxmlformats.org/drawingml/2006/main">
            <a:off x="6238875" y="2705100"/>
            <a:ext cx="5191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556363"/>
                </a:solidFill>
                <a:latin typeface="Arial"/>
                <a:ea typeface="Arial"/>
                <a:cs typeface="Arial"/>
              </a:defRPr>
            </a:defPPr>
          </a:lstStyle>
          <a:p xmlns:a="http://schemas.openxmlformats.org/drawingml/2006/main">
            <a:pPr algn="l">
              <a:defRPr sz="1650" b="0">
                <a:solidFill>
                  <a:srgbClr val="556363"/>
                </a:solidFill>
                <a:latin typeface="Arial"/>
                <a:ea typeface="Arial"/>
                <a:cs typeface="Arial"/>
              </a:defRPr>
            </a:pPr>
            <a:r>
              <a:rPr sz="1650" b="0">
                <a:solidFill>
                  <a:srgbClr val="556363"/>
                </a:solidFill>
                <a:latin typeface="Arial"/>
                <a:ea typeface="Arial"/>
                <a:cs typeface="Arial"/>
              </a:rPr>
              <a:t>Retrieve and screen related reporting.</a:t>
            </a:r>
          </a:p>
        </p:txBody>
      </p:sp>
      <p:sp>
        <p:nvSpPr>
          <p:cNvPr id="12" name="">
            <a:extLst xmlns:a="http://schemas.openxmlformats.org/drawingml/2006/main">
              <a:ext uri="{FF2B5EF4-FFF2-40B4-BE49-F238E27FC236}">
                <a16:creationId xmlns:a16="http://schemas.microsoft.com/office/drawing/2014/main" id="{50B3AD3E-DD4E-40CF-A93F-97C1F5DDE479}"/>
              </a:ext>
            </a:extLst>
          </p:cNvPr>
          <p:cNvSpPr>
            <a:spLocks xmlns:a="http://schemas.openxmlformats.org/drawingml/2006/main" noGrp="1"/>
          </p:cNvSpPr>
          <p:nvPr/>
        </p:nvSpPr>
        <p:spPr>
          <a:xfrm xmlns:a="http://schemas.openxmlformats.org/drawingml/2006/main">
            <a:off x="1981200" y="3533775"/>
            <a:ext cx="9477375" cy="19050"/>
          </a:xfrm>
          <a:prstGeom xmlns:a="http://schemas.openxmlformats.org/drawingml/2006/main" prst="rect">
            <a:avLst/>
          </a:prstGeom>
          <a:solidFill xmlns:a="http://schemas.openxmlformats.org/drawingml/2006/main">
            <a:srgbClr val="E9ECE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32D0475-DFFC-4DB9-B6F1-A8C38E5B70FA}"/>
              </a:ext>
            </a:extLst>
          </p:cNvPr>
          <p:cNvSpPr>
            <a:spLocks xmlns:a="http://schemas.openxmlformats.org/drawingml/2006/main" noGrp="1"/>
          </p:cNvSpPr>
          <p:nvPr/>
        </p:nvSpPr>
        <p:spPr>
          <a:xfrm xmlns:a="http://schemas.openxmlformats.org/drawingml/2006/main">
            <a:off x="742950" y="3733800"/>
            <a:ext cx="990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4050" b="1">
                <a:solidFill>
                  <a:srgbClr val="B7C4BF"/>
                </a:solidFill>
                <a:latin typeface="Arial"/>
                <a:ea typeface="Arial"/>
                <a:cs typeface="Arial"/>
              </a:defRPr>
            </a:defPPr>
          </a:lstStyle>
          <a:p xmlns:a="http://schemas.openxmlformats.org/drawingml/2006/main">
            <a:pPr algn="l">
              <a:defRPr sz="4050" b="1">
                <a:solidFill>
                  <a:srgbClr val="B7C4BF"/>
                </a:solidFill>
                <a:latin typeface="Arial"/>
                <a:ea typeface="Arial"/>
                <a:cs typeface="Arial"/>
              </a:defRPr>
            </a:pPr>
            <a:r>
              <a:rPr sz="4050" b="1">
                <a:solidFill>
                  <a:srgbClr val="B7C4BF"/>
                </a:solidFill>
                <a:latin typeface="Arial"/>
                <a:ea typeface="Arial"/>
                <a:cs typeface="Arial"/>
              </a:rPr>
              <a:t>03</a:t>
            </a:r>
          </a:p>
        </p:txBody>
      </p:sp>
      <p:sp>
        <p:nvSpPr>
          <p:cNvPr id="14" name="">
            <a:extLst xmlns:a="http://schemas.openxmlformats.org/drawingml/2006/main">
              <a:ext uri="{FF2B5EF4-FFF2-40B4-BE49-F238E27FC236}">
                <a16:creationId xmlns:a16="http://schemas.microsoft.com/office/drawing/2014/main" id="{76239F19-F759-4C3E-A19F-EC266F72D3CF}"/>
              </a:ext>
            </a:extLst>
          </p:cNvPr>
          <p:cNvSpPr>
            <a:spLocks xmlns:a="http://schemas.openxmlformats.org/drawingml/2006/main" noGrp="1"/>
          </p:cNvSpPr>
          <p:nvPr/>
        </p:nvSpPr>
        <p:spPr>
          <a:xfrm xmlns:a="http://schemas.openxmlformats.org/drawingml/2006/main">
            <a:off x="2000250" y="3762375"/>
            <a:ext cx="419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152323"/>
                </a:solidFill>
                <a:latin typeface="Arial"/>
                <a:ea typeface="Arial"/>
                <a:cs typeface="Arial"/>
              </a:defRPr>
            </a:defPPr>
          </a:lstStyle>
          <a:p xmlns:a="http://schemas.openxmlformats.org/drawingml/2006/main">
            <a:pPr algn="l">
              <a:defRPr sz="2175" b="1">
                <a:solidFill>
                  <a:srgbClr val="152323"/>
                </a:solidFill>
                <a:latin typeface="Arial"/>
                <a:ea typeface="Arial"/>
                <a:cs typeface="Arial"/>
              </a:defRPr>
            </a:pPr>
            <a:r>
              <a:rPr sz="2175" b="1">
                <a:solidFill>
                  <a:srgbClr val="152323"/>
                </a:solidFill>
                <a:latin typeface="Arial"/>
                <a:ea typeface="Arial"/>
                <a:cs typeface="Arial"/>
              </a:rPr>
              <a:t>Compare claims</a:t>
            </a:r>
          </a:p>
        </p:txBody>
      </p:sp>
      <p:sp>
        <p:nvSpPr>
          <p:cNvPr id="15" name="">
            <a:extLst xmlns:a="http://schemas.openxmlformats.org/drawingml/2006/main">
              <a:ext uri="{FF2B5EF4-FFF2-40B4-BE49-F238E27FC236}">
                <a16:creationId xmlns:a16="http://schemas.microsoft.com/office/drawing/2014/main" id="{64AA3EEF-FACE-4577-AA31-1783A039C4FA}"/>
              </a:ext>
            </a:extLst>
          </p:cNvPr>
          <p:cNvSpPr>
            <a:spLocks xmlns:a="http://schemas.openxmlformats.org/drawingml/2006/main" noGrp="1"/>
          </p:cNvSpPr>
          <p:nvPr/>
        </p:nvSpPr>
        <p:spPr>
          <a:xfrm xmlns:a="http://schemas.openxmlformats.org/drawingml/2006/main">
            <a:off x="6238875" y="3762375"/>
            <a:ext cx="5191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556363"/>
                </a:solidFill>
                <a:latin typeface="Arial"/>
                <a:ea typeface="Arial"/>
                <a:cs typeface="Arial"/>
              </a:defRPr>
            </a:defPPr>
          </a:lstStyle>
          <a:p xmlns:a="http://schemas.openxmlformats.org/drawingml/2006/main">
            <a:pPr algn="l">
              <a:defRPr sz="1650" b="0">
                <a:solidFill>
                  <a:srgbClr val="556363"/>
                </a:solidFill>
                <a:latin typeface="Arial"/>
                <a:ea typeface="Arial"/>
                <a:cs typeface="Arial"/>
              </a:defRPr>
            </a:pPr>
            <a:r>
              <a:rPr sz="1650" b="0">
                <a:solidFill>
                  <a:srgbClr val="556363"/>
                </a:solidFill>
                <a:latin typeface="Arial"/>
                <a:ea typeface="Arial"/>
                <a:cs typeface="Arial"/>
              </a:rPr>
              <a:t>Group responses around claims in the chosen article.</a:t>
            </a:r>
          </a:p>
        </p:txBody>
      </p:sp>
      <p:sp>
        <p:nvSpPr>
          <p:cNvPr id="16" name="">
            <a:extLst xmlns:a="http://schemas.openxmlformats.org/drawingml/2006/main">
              <a:ext uri="{FF2B5EF4-FFF2-40B4-BE49-F238E27FC236}">
                <a16:creationId xmlns:a16="http://schemas.microsoft.com/office/drawing/2014/main" id="{2FD0F445-FFF8-4E73-B344-BDAB2635CCD7}"/>
              </a:ext>
            </a:extLst>
          </p:cNvPr>
          <p:cNvSpPr>
            <a:spLocks xmlns:a="http://schemas.openxmlformats.org/drawingml/2006/main" noGrp="1"/>
          </p:cNvSpPr>
          <p:nvPr/>
        </p:nvSpPr>
        <p:spPr>
          <a:xfrm xmlns:a="http://schemas.openxmlformats.org/drawingml/2006/main">
            <a:off x="1981200" y="4591050"/>
            <a:ext cx="9477375" cy="19050"/>
          </a:xfrm>
          <a:prstGeom xmlns:a="http://schemas.openxmlformats.org/drawingml/2006/main" prst="rect">
            <a:avLst/>
          </a:prstGeom>
          <a:solidFill xmlns:a="http://schemas.openxmlformats.org/drawingml/2006/main">
            <a:srgbClr val="E9ECE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981E05D-529B-4455-A512-48C609D9735D}"/>
              </a:ext>
            </a:extLst>
          </p:cNvPr>
          <p:cNvSpPr>
            <a:spLocks xmlns:a="http://schemas.openxmlformats.org/drawingml/2006/main" noGrp="1"/>
          </p:cNvSpPr>
          <p:nvPr/>
        </p:nvSpPr>
        <p:spPr>
          <a:xfrm xmlns:a="http://schemas.openxmlformats.org/drawingml/2006/main">
            <a:off x="742950" y="4791075"/>
            <a:ext cx="990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4050" b="1">
                <a:solidFill>
                  <a:srgbClr val="007E72"/>
                </a:solidFill>
                <a:latin typeface="Arial"/>
                <a:ea typeface="Arial"/>
                <a:cs typeface="Arial"/>
              </a:defRPr>
            </a:defPPr>
          </a:lstStyle>
          <a:p xmlns:a="http://schemas.openxmlformats.org/drawingml/2006/main">
            <a:pPr algn="l">
              <a:defRPr sz="4050" b="1">
                <a:solidFill>
                  <a:srgbClr val="007E72"/>
                </a:solidFill>
                <a:latin typeface="Arial"/>
                <a:ea typeface="Arial"/>
                <a:cs typeface="Arial"/>
              </a:defRPr>
            </a:pPr>
            <a:r>
              <a:rPr sz="4050" b="1">
                <a:solidFill>
                  <a:srgbClr val="007E72"/>
                </a:solidFill>
                <a:latin typeface="Arial"/>
                <a:ea typeface="Arial"/>
                <a:cs typeface="Arial"/>
              </a:rPr>
              <a:t>04</a:t>
            </a:r>
          </a:p>
        </p:txBody>
      </p:sp>
      <p:sp>
        <p:nvSpPr>
          <p:cNvPr id="18" name="">
            <a:extLst xmlns:a="http://schemas.openxmlformats.org/drawingml/2006/main">
              <a:ext uri="{FF2B5EF4-FFF2-40B4-BE49-F238E27FC236}">
                <a16:creationId xmlns:a16="http://schemas.microsoft.com/office/drawing/2014/main" id="{4BCDF1D5-63E2-4F20-B6D8-527A6DDE6058}"/>
              </a:ext>
            </a:extLst>
          </p:cNvPr>
          <p:cNvSpPr>
            <a:spLocks xmlns:a="http://schemas.openxmlformats.org/drawingml/2006/main" noGrp="1"/>
          </p:cNvSpPr>
          <p:nvPr/>
        </p:nvSpPr>
        <p:spPr>
          <a:xfrm xmlns:a="http://schemas.openxmlformats.org/drawingml/2006/main">
            <a:off x="2000250" y="4819650"/>
            <a:ext cx="419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152323"/>
                </a:solidFill>
                <a:latin typeface="Arial"/>
                <a:ea typeface="Arial"/>
                <a:cs typeface="Arial"/>
              </a:defRPr>
            </a:defPPr>
          </a:lstStyle>
          <a:p xmlns:a="http://schemas.openxmlformats.org/drawingml/2006/main">
            <a:pPr algn="l">
              <a:defRPr sz="2175" b="1">
                <a:solidFill>
                  <a:srgbClr val="152323"/>
                </a:solidFill>
                <a:latin typeface="Arial"/>
                <a:ea typeface="Arial"/>
                <a:cs typeface="Arial"/>
              </a:defRPr>
            </a:pPr>
            <a:r>
              <a:rPr sz="2175" b="1">
                <a:solidFill>
                  <a:srgbClr val="152323"/>
                </a:solidFill>
                <a:latin typeface="Arial"/>
                <a:ea typeface="Arial"/>
                <a:cs typeface="Arial"/>
              </a:rPr>
              <a:t>Inspect evidence</a:t>
            </a:r>
          </a:p>
        </p:txBody>
      </p:sp>
      <p:sp>
        <p:nvSpPr>
          <p:cNvPr id="19" name="">
            <a:extLst xmlns:a="http://schemas.openxmlformats.org/drawingml/2006/main">
              <a:ext uri="{FF2B5EF4-FFF2-40B4-BE49-F238E27FC236}">
                <a16:creationId xmlns:a16="http://schemas.microsoft.com/office/drawing/2014/main" id="{FD761575-F800-4DB4-8F51-FFBC75917828}"/>
              </a:ext>
            </a:extLst>
          </p:cNvPr>
          <p:cNvSpPr>
            <a:spLocks xmlns:a="http://schemas.openxmlformats.org/drawingml/2006/main" noGrp="1"/>
          </p:cNvSpPr>
          <p:nvPr/>
        </p:nvSpPr>
        <p:spPr>
          <a:xfrm xmlns:a="http://schemas.openxmlformats.org/drawingml/2006/main">
            <a:off x="6238875" y="4819650"/>
            <a:ext cx="5191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556363"/>
                </a:solidFill>
                <a:latin typeface="Arial"/>
                <a:ea typeface="Arial"/>
                <a:cs typeface="Arial"/>
              </a:defRPr>
            </a:defPPr>
          </a:lstStyle>
          <a:p xmlns:a="http://schemas.openxmlformats.org/drawingml/2006/main">
            <a:pPr algn="l">
              <a:defRPr sz="1650" b="0">
                <a:solidFill>
                  <a:srgbClr val="556363"/>
                </a:solidFill>
                <a:latin typeface="Arial"/>
                <a:ea typeface="Arial"/>
                <a:cs typeface="Arial"/>
              </a:defRPr>
            </a:pPr>
            <a:r>
              <a:rPr sz="1650" b="0">
                <a:solidFill>
                  <a:srgbClr val="556363"/>
                </a:solidFill>
                <a:latin typeface="Arial"/>
                <a:ea typeface="Arial"/>
                <a:cs typeface="Arial"/>
              </a:rPr>
              <a:t>Open the cited passage and its original source page.</a:t>
            </a:r>
          </a:p>
        </p:txBody>
      </p:sp>
    </p:spTree>
    <p:extLst>
      <p:ext uri="{BB962C8B-B14F-4D97-AF65-F5344CB8AC3E}">
        <p14:creationId xmlns:p14="http://schemas.microsoft.com/office/powerpoint/2010/main" val="259348684"/>
      </p:ext>
    </p:extLst>
  </p:cSld>
</p:sld>
</file>

<file path=ppt/slides/slide4.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BD86200-5C34-4191-80BE-215ECA3EFFE8}"/>
              </a:ext>
            </a:extLst>
          </p:cNvPr>
          <p:cNvSpPr>
            <a:spLocks xmlns:a="http://schemas.openxmlformats.org/drawingml/2006/main" noGrp="1"/>
          </p:cNvSpPr>
          <p:nvPr/>
        </p:nvSpPr>
        <p:spPr>
          <a:xfrm xmlns:a="http://schemas.openxmlformats.org/drawingml/2006/main">
            <a:off x="704850" y="457200"/>
            <a:ext cx="10668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225" b="1">
                <a:solidFill>
                  <a:srgbClr val="152323"/>
                </a:solidFill>
                <a:latin typeface="Arial"/>
                <a:ea typeface="Arial"/>
                <a:cs typeface="Arial"/>
              </a:defRPr>
            </a:defPPr>
          </a:lstStyle>
          <a:p xmlns:a="http://schemas.openxmlformats.org/drawingml/2006/main">
            <a:pPr algn="l">
              <a:defRPr sz="3225" b="1">
                <a:solidFill>
                  <a:srgbClr val="152323"/>
                </a:solidFill>
                <a:latin typeface="Arial"/>
                <a:ea typeface="Arial"/>
                <a:cs typeface="Arial"/>
              </a:defRPr>
            </a:pPr>
            <a:r>
              <a:rPr sz="3225" b="1">
                <a:solidFill>
                  <a:srgbClr val="152323"/>
                </a:solidFill>
                <a:latin typeface="Arial"/>
                <a:ea typeface="Arial"/>
                <a:cs typeface="Arial"/>
              </a:rPr>
              <a:t>Iteration 1: a working baseline</a:t>
            </a:r>
          </a:p>
        </p:txBody>
      </p:sp>
      <p:sp>
        <p:nvSpPr>
          <p:cNvPr id="2" name="">
            <a:extLst xmlns:a="http://schemas.openxmlformats.org/drawingml/2006/main">
              <a:ext uri="{FF2B5EF4-FFF2-40B4-BE49-F238E27FC236}">
                <a16:creationId xmlns:a16="http://schemas.microsoft.com/office/drawing/2014/main" id="{053E1179-E773-48E4-986E-E04C6AD05AF2}"/>
              </a:ext>
            </a:extLst>
          </p:cNvPr>
          <p:cNvSpPr>
            <a:spLocks xmlns:a="http://schemas.openxmlformats.org/drawingml/2006/main" noGrp="1"/>
          </p:cNvSpPr>
          <p:nvPr/>
        </p:nvSpPr>
        <p:spPr>
          <a:xfrm xmlns:a="http://schemas.openxmlformats.org/drawingml/2006/main">
            <a:off x="723900" y="1247775"/>
            <a:ext cx="10744200" cy="9525"/>
          </a:xfrm>
          <a:prstGeom xmlns:a="http://schemas.openxmlformats.org/drawingml/2006/main" prst="rect">
            <a:avLst/>
          </a:prstGeom>
          <a:solidFill xmlns:a="http://schemas.openxmlformats.org/drawingml/2006/main">
            <a:srgbClr val="B7C4BF"/>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1D6FF46-CE2E-4EA1-9250-80171DD54C74}"/>
              </a:ext>
            </a:extLst>
          </p:cNvPr>
          <p:cNvSpPr>
            <a:spLocks xmlns:a="http://schemas.openxmlformats.org/drawingml/2006/main" noGrp="1"/>
          </p:cNvSpPr>
          <p:nvPr/>
        </p:nvSpPr>
        <p:spPr>
          <a:xfrm xmlns:a="http://schemas.openxmlformats.org/drawingml/2006/main">
            <a:off x="723900" y="6400800"/>
            <a:ext cx="419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975" b="1">
                <a:solidFill>
                  <a:srgbClr val="556363"/>
                </a:solidFill>
                <a:latin typeface="Arial"/>
                <a:ea typeface="Arial"/>
                <a:cs typeface="Arial"/>
              </a:defRPr>
            </a:defPPr>
          </a:lstStyle>
          <a:p xmlns:a="http://schemas.openxmlformats.org/drawingml/2006/main">
            <a:pPr algn="l">
              <a:defRPr sz="975" b="1">
                <a:solidFill>
                  <a:srgbClr val="556363"/>
                </a:solidFill>
                <a:latin typeface="Arial"/>
                <a:ea typeface="Arial"/>
                <a:cs typeface="Arial"/>
              </a:defRPr>
            </a:pPr>
            <a:r>
              <a:rPr sz="975" b="1">
                <a:solidFill>
                  <a:srgbClr val="556363"/>
                </a:solidFill>
                <a:latin typeface="Arial"/>
                <a:ea typeface="Arial"/>
                <a:cs typeface="Arial"/>
              </a:rPr>
              <a:t>FRAMELESS  /  SWPP MIDTERM 2026</a:t>
            </a:r>
          </a:p>
        </p:txBody>
      </p:sp>
      <p:sp>
        <p:nvSpPr>
          <p:cNvPr id="4" name="">
            <a:extLst xmlns:a="http://schemas.openxmlformats.org/drawingml/2006/main">
              <a:ext uri="{FF2B5EF4-FFF2-40B4-BE49-F238E27FC236}">
                <a16:creationId xmlns:a16="http://schemas.microsoft.com/office/drawing/2014/main" id="{126B5606-C26C-4093-ACDE-F8F6B961EF9F}"/>
              </a:ext>
            </a:extLst>
          </p:cNvPr>
          <p:cNvSpPr>
            <a:spLocks xmlns:a="http://schemas.openxmlformats.org/drawingml/2006/main" noGrp="1"/>
          </p:cNvSpPr>
          <p:nvPr/>
        </p:nvSpPr>
        <p:spPr>
          <a:xfrm xmlns:a="http://schemas.openxmlformats.org/drawingml/2006/main">
            <a:off x="10582275"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975" b="1">
                <a:solidFill>
                  <a:srgbClr val="556363"/>
                </a:solidFill>
                <a:latin typeface="Arial"/>
                <a:ea typeface="Arial"/>
                <a:cs typeface="Arial"/>
              </a:defRPr>
            </a:defPPr>
          </a:lstStyle>
          <a:p xmlns:a="http://schemas.openxmlformats.org/drawingml/2006/main">
            <a:pPr algn="r">
              <a:defRPr sz="975" b="1">
                <a:solidFill>
                  <a:srgbClr val="556363"/>
                </a:solidFill>
                <a:latin typeface="Arial"/>
                <a:ea typeface="Arial"/>
                <a:cs typeface="Arial"/>
              </a:defRPr>
            </a:pPr>
            <a:r>
              <a:rPr sz="975" b="1">
                <a:solidFill>
                  <a:srgbClr val="556363"/>
                </a:solidFill>
                <a:latin typeface="Arial"/>
                <a:ea typeface="Arial"/>
                <a:cs typeface="Arial"/>
              </a:rPr>
              <a:t>04 / 11</a:t>
            </a:r>
          </a:p>
        </p:txBody>
      </p:sp>
      <p:sp>
        <p:nvSpPr>
          <p:cNvPr id="5" name="">
            <a:extLst xmlns:a="http://schemas.openxmlformats.org/drawingml/2006/main">
              <a:ext uri="{FF2B5EF4-FFF2-40B4-BE49-F238E27FC236}">
                <a16:creationId xmlns:a16="http://schemas.microsoft.com/office/drawing/2014/main" id="{7F4EAA8C-FF7B-472E-A71D-90C345A7EB81}"/>
              </a:ext>
            </a:extLst>
          </p:cNvPr>
          <p:cNvSpPr>
            <a:spLocks xmlns:a="http://schemas.openxmlformats.org/drawingml/2006/main" noGrp="1"/>
          </p:cNvSpPr>
          <p:nvPr/>
        </p:nvSpPr>
        <p:spPr>
          <a:xfrm xmlns:a="http://schemas.openxmlformats.org/drawingml/2006/main">
            <a:off x="762000" y="1695450"/>
            <a:ext cx="4572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007E72"/>
                </a:solidFill>
                <a:latin typeface="Arial"/>
                <a:ea typeface="Arial"/>
                <a:cs typeface="Arial"/>
              </a:defRPr>
            </a:defPPr>
          </a:lstStyle>
          <a:p xmlns:a="http://schemas.openxmlformats.org/drawingml/2006/main">
            <a:pPr algn="l">
              <a:defRPr sz="2175" b="1">
                <a:solidFill>
                  <a:srgbClr val="007E72"/>
                </a:solidFill>
                <a:latin typeface="Arial"/>
                <a:ea typeface="Arial"/>
                <a:cs typeface="Arial"/>
              </a:defRPr>
            </a:pPr>
            <a:r>
              <a:rPr sz="2175" b="1">
                <a:solidFill>
                  <a:srgbClr val="007E72"/>
                </a:solidFill>
                <a:latin typeface="Arial"/>
                <a:ea typeface="Arial"/>
                <a:cs typeface="Arial"/>
              </a:rPr>
              <a:t>Delivered</a:t>
            </a:r>
          </a:p>
        </p:txBody>
      </p:sp>
      <p:sp>
        <p:nvSpPr>
          <p:cNvPr id="6" name="">
            <a:extLst xmlns:a="http://schemas.openxmlformats.org/drawingml/2006/main">
              <a:ext uri="{FF2B5EF4-FFF2-40B4-BE49-F238E27FC236}">
                <a16:creationId xmlns:a16="http://schemas.microsoft.com/office/drawing/2014/main" id="{59073A6E-3932-47A3-8E3C-37CC6D795F78}"/>
              </a:ext>
            </a:extLst>
          </p:cNvPr>
          <p:cNvSpPr>
            <a:spLocks xmlns:a="http://schemas.openxmlformats.org/drawingml/2006/main" noGrp="1"/>
          </p:cNvSpPr>
          <p:nvPr/>
        </p:nvSpPr>
        <p:spPr>
          <a:xfrm xmlns:a="http://schemas.openxmlformats.org/drawingml/2006/main">
            <a:off x="762000" y="2295525"/>
            <a:ext cx="428625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025" b="0">
                <a:solidFill>
                  <a:srgbClr val="152323"/>
                </a:solidFill>
                <a:latin typeface="Arial"/>
                <a:ea typeface="Arial"/>
                <a:cs typeface="Arial"/>
              </a:defRPr>
            </a:defPPr>
          </a:lstStyle>
          <a:p xmlns:a="http://schemas.openxmlformats.org/drawingml/2006/main">
            <a:pPr algn="l">
              <a:defRPr sz="2025" b="0">
                <a:solidFill>
                  <a:srgbClr val="152323"/>
                </a:solidFill>
                <a:latin typeface="Arial"/>
                <a:ea typeface="Arial"/>
                <a:cs typeface="Arial"/>
              </a:defRPr>
            </a:pPr>
            <a:r>
              <a:rPr sz="2025" b="0">
                <a:solidFill>
                  <a:srgbClr val="152323"/>
                </a:solidFill>
                <a:latin typeface="Arial"/>
                <a:ea typeface="Arial"/>
                <a:cs typeface="Arial"/>
              </a:rPr>
              <a:t>URL input</a:t>
            </a:r>
          </a:p>
          <a:p xmlns:a="http://schemas.openxmlformats.org/drawingml/2006/main">
            <a:pPr algn="l">
              <a:defRPr sz="2025" b="0">
                <a:solidFill>
                  <a:srgbClr val="152323"/>
                </a:solidFill>
                <a:latin typeface="Arial"/>
                <a:ea typeface="Arial"/>
                <a:cs typeface="Arial"/>
              </a:defRPr>
            </a:pPr>
            <a:r>
              <a:rPr sz="2025" b="0">
                <a:solidFill>
                  <a:srgbClr val="152323"/>
                </a:solidFill>
                <a:latin typeface="Arial"/>
                <a:ea typeface="Arial"/>
                <a:cs typeface="Arial"/>
              </a:rPr>
              <a:t>Same-event retrieval</a:t>
            </a:r>
          </a:p>
          <a:p xmlns:a="http://schemas.openxmlformats.org/drawingml/2006/main">
            <a:pPr algn="l">
              <a:defRPr sz="2025" b="0">
                <a:solidFill>
                  <a:srgbClr val="152323"/>
                </a:solidFill>
                <a:latin typeface="Arial"/>
                <a:ea typeface="Arial"/>
                <a:cs typeface="Arial"/>
              </a:defRPr>
            </a:pPr>
            <a:r>
              <a:rPr sz="2025" b="0">
                <a:solidFill>
                  <a:srgbClr val="152323"/>
                </a:solidFill>
                <a:latin typeface="Arial"/>
                <a:ea typeface="Arial"/>
                <a:cs typeface="Arial"/>
              </a:rPr>
              <a:t>Source-linked claim comparison</a:t>
            </a:r>
          </a:p>
          <a:p xmlns:a="http://schemas.openxmlformats.org/drawingml/2006/main">
            <a:pPr algn="l">
              <a:defRPr sz="2025" b="0">
                <a:solidFill>
                  <a:srgbClr val="152323"/>
                </a:solidFill>
                <a:latin typeface="Arial"/>
                <a:ea typeface="Arial"/>
                <a:cs typeface="Arial"/>
              </a:defRPr>
            </a:pPr>
            <a:r>
              <a:rPr sz="2025" b="0">
                <a:solidFill>
                  <a:srgbClr val="152323"/>
                </a:solidFill>
                <a:latin typeface="Arial"/>
                <a:ea typeface="Arial"/>
                <a:cs typeface="Arial"/>
              </a:rPr>
              <a:t>Deployed Django API</a:t>
            </a:r>
          </a:p>
        </p:txBody>
      </p:sp>
      <p:sp>
        <p:nvSpPr>
          <p:cNvPr id="7" name="">
            <a:extLst xmlns:a="http://schemas.openxmlformats.org/drawingml/2006/main">
              <a:ext uri="{FF2B5EF4-FFF2-40B4-BE49-F238E27FC236}">
                <a16:creationId xmlns:a16="http://schemas.microsoft.com/office/drawing/2014/main" id="{A6E99D62-16D1-464C-BC31-3E8AAD4D3E1E}"/>
              </a:ext>
            </a:extLst>
          </p:cNvPr>
          <p:cNvSpPr>
            <a:spLocks xmlns:a="http://schemas.openxmlformats.org/drawingml/2006/main" noGrp="1"/>
          </p:cNvSpPr>
          <p:nvPr/>
        </p:nvSpPr>
        <p:spPr>
          <a:xfrm xmlns:a="http://schemas.openxmlformats.org/drawingml/2006/main">
            <a:off x="6000750" y="1638300"/>
            <a:ext cx="9525" cy="3790950"/>
          </a:xfrm>
          <a:prstGeom xmlns:a="http://schemas.openxmlformats.org/drawingml/2006/main" prst="rect">
            <a:avLst/>
          </a:prstGeom>
          <a:solidFill xmlns:a="http://schemas.openxmlformats.org/drawingml/2006/main">
            <a:srgbClr val="B7C4B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8FBA627-D67C-4022-880B-641D8107D5C2}"/>
              </a:ext>
            </a:extLst>
          </p:cNvPr>
          <p:cNvSpPr>
            <a:spLocks xmlns:a="http://schemas.openxmlformats.org/drawingml/2006/main" noGrp="1"/>
          </p:cNvSpPr>
          <p:nvPr/>
        </p:nvSpPr>
        <p:spPr>
          <a:xfrm xmlns:a="http://schemas.openxmlformats.org/drawingml/2006/main">
            <a:off x="6477000" y="1695450"/>
            <a:ext cx="4667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A44937"/>
                </a:solidFill>
                <a:latin typeface="Arial"/>
                <a:ea typeface="Arial"/>
                <a:cs typeface="Arial"/>
              </a:defRPr>
            </a:defPPr>
          </a:lstStyle>
          <a:p xmlns:a="http://schemas.openxmlformats.org/drawingml/2006/main">
            <a:pPr algn="l">
              <a:defRPr sz="2175" b="1">
                <a:solidFill>
                  <a:srgbClr val="A44937"/>
                </a:solidFill>
                <a:latin typeface="Arial"/>
                <a:ea typeface="Arial"/>
                <a:cs typeface="Arial"/>
              </a:defRPr>
            </a:pPr>
            <a:r>
              <a:rPr sz="2175" b="1">
                <a:solidFill>
                  <a:srgbClr val="A44937"/>
                </a:solidFill>
                <a:latin typeface="Arial"/>
                <a:ea typeface="Arial"/>
                <a:cs typeface="Arial"/>
              </a:rPr>
              <a:t>What it revealed</a:t>
            </a:r>
          </a:p>
        </p:txBody>
      </p:sp>
      <p:sp>
        <p:nvSpPr>
          <p:cNvPr id="9" name="">
            <a:extLst xmlns:a="http://schemas.openxmlformats.org/drawingml/2006/main">
              <a:ext uri="{FF2B5EF4-FFF2-40B4-BE49-F238E27FC236}">
                <a16:creationId xmlns:a16="http://schemas.microsoft.com/office/drawing/2014/main" id="{A2A03788-5D87-4EEF-BBAD-D7887A5EFD41}"/>
              </a:ext>
            </a:extLst>
          </p:cNvPr>
          <p:cNvSpPr>
            <a:spLocks xmlns:a="http://schemas.openxmlformats.org/drawingml/2006/main" noGrp="1"/>
          </p:cNvSpPr>
          <p:nvPr/>
        </p:nvSpPr>
        <p:spPr>
          <a:xfrm xmlns:a="http://schemas.openxmlformats.org/drawingml/2006/main">
            <a:off x="6477000" y="2305050"/>
            <a:ext cx="4695825" cy="2895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0">
                <a:solidFill>
                  <a:srgbClr val="152323"/>
                </a:solidFill>
                <a:latin typeface="Arial"/>
                <a:ea typeface="Arial"/>
                <a:cs typeface="Arial"/>
              </a:defRPr>
            </a:defPPr>
          </a:lstStyle>
          <a:p xmlns:a="http://schemas.openxmlformats.org/drawingml/2006/main">
            <a:pPr algn="l">
              <a:defRPr sz="1875" b="0">
                <a:solidFill>
                  <a:srgbClr val="152323"/>
                </a:solidFill>
                <a:latin typeface="Arial"/>
                <a:ea typeface="Arial"/>
                <a:cs typeface="Arial"/>
              </a:defRPr>
            </a:pPr>
            <a:r>
              <a:rPr sz="1875" b="0">
                <a:solidFill>
                  <a:srgbClr val="152323"/>
                </a:solidFill>
                <a:latin typeface="Arial"/>
                <a:ea typeface="Arial"/>
                <a:cs typeface="Arial"/>
              </a:rPr>
              <a:t>Related-only claims were missing.</a:t>
            </a:r>
          </a:p>
          <a:p xmlns:a="http://schemas.openxmlformats.org/drawingml/2006/main">
            <a:pPr algn="l">
              <a:defRPr sz="1875" b="0">
                <a:solidFill>
                  <a:srgbClr val="152323"/>
                </a:solidFill>
                <a:latin typeface="Arial"/>
                <a:ea typeface="Arial"/>
                <a:cs typeface="Arial"/>
              </a:defRPr>
            </a:pPr>
            <a:r>
              <a:rPr sz="1875" b="0">
                <a:solidFill>
                  <a:srgbClr val="152323"/>
                </a:solidFill>
                <a:latin typeface="Arial"/>
                <a:ea typeface="Arial"/>
                <a:cs typeface="Arial"/>
              </a:rPr>
              <a:t>Per-source absence needed clearer handling.</a:t>
            </a:r>
          </a:p>
          <a:p xmlns:a="http://schemas.openxmlformats.org/drawingml/2006/main">
            <a:pPr algn="l">
              <a:defRPr sz="1875" b="0">
                <a:solidFill>
                  <a:srgbClr val="152323"/>
                </a:solidFill>
                <a:latin typeface="Arial"/>
                <a:ea typeface="Arial"/>
                <a:cs typeface="Arial"/>
              </a:defRPr>
            </a:pPr>
            <a:r>
              <a:rPr sz="1875" b="0">
                <a:solidFill>
                  <a:srgbClr val="152323"/>
                </a:solidFill>
                <a:latin typeface="Arial"/>
                <a:ea typeface="Arial"/>
                <a:cs typeface="Arial"/>
              </a:rPr>
              <a:t>Insufficient coverage needed a distinct state.</a:t>
            </a:r>
          </a:p>
        </p:txBody>
      </p:sp>
      <p:sp>
        <p:nvSpPr>
          <p:cNvPr id="10" name="">
            <a:extLst xmlns:a="http://schemas.openxmlformats.org/drawingml/2006/main">
              <a:ext uri="{FF2B5EF4-FFF2-40B4-BE49-F238E27FC236}">
                <a16:creationId xmlns:a16="http://schemas.microsoft.com/office/drawing/2014/main" id="{1F59E7A0-6F55-4B45-9F4D-A3138FEEFCE0}"/>
              </a:ext>
            </a:extLst>
          </p:cNvPr>
          <p:cNvSpPr>
            <a:spLocks xmlns:a="http://schemas.openxmlformats.org/drawingml/2006/main" noGrp="1"/>
          </p:cNvSpPr>
          <p:nvPr/>
        </p:nvSpPr>
        <p:spPr>
          <a:xfrm xmlns:a="http://schemas.openxmlformats.org/drawingml/2006/main">
            <a:off x="762000" y="5657850"/>
            <a:ext cx="5705475" cy="333375"/>
          </a:xfrm>
          <a:prstGeom xmlns:a="http://schemas.openxmlformats.org/drawingml/2006/main" prst="roundRect">
            <a:avLst>
              <a:gd name="adj" fmla="val 22857"/>
            </a:avLst>
          </a:prstGeom>
          <a:solidFill xmlns:a="http://schemas.openxmlformats.org/drawingml/2006/main">
            <a:srgbClr val="DDEFE9"/>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575DB00-2F38-4E89-A9AE-61CC857341CB}"/>
              </a:ext>
            </a:extLst>
          </p:cNvPr>
          <p:cNvSpPr>
            <a:spLocks xmlns:a="http://schemas.openxmlformats.org/drawingml/2006/main" noGrp="1"/>
          </p:cNvSpPr>
          <p:nvPr/>
        </p:nvSpPr>
        <p:spPr>
          <a:xfrm xmlns:a="http://schemas.openxmlformats.org/drawingml/2006/main">
            <a:off x="866775" y="5667375"/>
            <a:ext cx="54959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350" b="1">
                <a:solidFill>
                  <a:srgbClr val="007E72"/>
                </a:solidFill>
                <a:latin typeface="Arial"/>
                <a:ea typeface="Arial"/>
                <a:cs typeface="Arial"/>
              </a:defRPr>
            </a:defPPr>
          </a:lstStyle>
          <a:p xmlns:a="http://schemas.openxmlformats.org/drawingml/2006/main">
            <a:pPr algn="l">
              <a:defRPr sz="1350" b="1">
                <a:solidFill>
                  <a:srgbClr val="007E72"/>
                </a:solidFill>
                <a:latin typeface="Arial"/>
                <a:ea typeface="Arial"/>
                <a:cs typeface="Arial"/>
              </a:defRPr>
            </a:pPr>
            <a:r>
              <a:rPr sz="1350" b="1">
                <a:solidFill>
                  <a:srgbClr val="007E72"/>
                </a:solidFill>
                <a:latin typeface="Arial"/>
                <a:ea typeface="Arial"/>
                <a:cs typeface="Arial"/>
              </a:rPr>
              <a:t>Baseline for a more explicit comparison method</a:t>
            </a:r>
          </a:p>
        </p:txBody>
      </p:sp>
    </p:spTree>
    <p:extLst>
      <p:ext uri="{BB962C8B-B14F-4D97-AF65-F5344CB8AC3E}">
        <p14:creationId xmlns:p14="http://schemas.microsoft.com/office/powerpoint/2010/main" val="366987492"/>
      </p:ext>
    </p:extLst>
  </p:cSld>
</p:sld>
</file>

<file path=ppt/slides/slide5.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ECC4603-C68B-4C19-8E41-F0142AA1308C}"/>
              </a:ext>
            </a:extLst>
          </p:cNvPr>
          <p:cNvSpPr>
            <a:spLocks xmlns:a="http://schemas.openxmlformats.org/drawingml/2006/main" noGrp="1"/>
          </p:cNvSpPr>
          <p:nvPr/>
        </p:nvSpPr>
        <p:spPr>
          <a:xfrm xmlns:a="http://schemas.openxmlformats.org/drawingml/2006/main">
            <a:off x="704850" y="457200"/>
            <a:ext cx="10668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225" b="1">
                <a:solidFill>
                  <a:srgbClr val="152323"/>
                </a:solidFill>
                <a:latin typeface="Arial"/>
                <a:ea typeface="Arial"/>
                <a:cs typeface="Arial"/>
              </a:defRPr>
            </a:defPPr>
          </a:lstStyle>
          <a:p xmlns:a="http://schemas.openxmlformats.org/drawingml/2006/main">
            <a:pPr algn="l">
              <a:defRPr sz="3225" b="1">
                <a:solidFill>
                  <a:srgbClr val="152323"/>
                </a:solidFill>
                <a:latin typeface="Arial"/>
                <a:ea typeface="Arial"/>
                <a:cs typeface="Arial"/>
              </a:defRPr>
            </a:pPr>
            <a:r>
              <a:rPr sz="3225" b="1">
                <a:solidFill>
                  <a:srgbClr val="152323"/>
                </a:solidFill>
                <a:latin typeface="Arial"/>
                <a:ea typeface="Arial"/>
                <a:cs typeface="Arial"/>
              </a:rPr>
              <a:t>Iteration 2: a claim-level evidence rubric</a:t>
            </a:r>
          </a:p>
        </p:txBody>
      </p:sp>
      <p:sp>
        <p:nvSpPr>
          <p:cNvPr id="2" name="">
            <a:extLst xmlns:a="http://schemas.openxmlformats.org/drawingml/2006/main">
              <a:ext uri="{FF2B5EF4-FFF2-40B4-BE49-F238E27FC236}">
                <a16:creationId xmlns:a16="http://schemas.microsoft.com/office/drawing/2014/main" id="{8903EBD9-621E-4628-AC36-C38AF4F29B42}"/>
              </a:ext>
            </a:extLst>
          </p:cNvPr>
          <p:cNvSpPr>
            <a:spLocks xmlns:a="http://schemas.openxmlformats.org/drawingml/2006/main" noGrp="1"/>
          </p:cNvSpPr>
          <p:nvPr/>
        </p:nvSpPr>
        <p:spPr>
          <a:xfrm xmlns:a="http://schemas.openxmlformats.org/drawingml/2006/main">
            <a:off x="723900" y="1247775"/>
            <a:ext cx="10744200" cy="9525"/>
          </a:xfrm>
          <a:prstGeom xmlns:a="http://schemas.openxmlformats.org/drawingml/2006/main" prst="rect">
            <a:avLst/>
          </a:prstGeom>
          <a:solidFill xmlns:a="http://schemas.openxmlformats.org/drawingml/2006/main">
            <a:srgbClr val="B7C4BF"/>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29B267A-6330-4FC4-8410-CDC3D3F77C79}"/>
              </a:ext>
            </a:extLst>
          </p:cNvPr>
          <p:cNvSpPr>
            <a:spLocks xmlns:a="http://schemas.openxmlformats.org/drawingml/2006/main" noGrp="1"/>
          </p:cNvSpPr>
          <p:nvPr/>
        </p:nvSpPr>
        <p:spPr>
          <a:xfrm xmlns:a="http://schemas.openxmlformats.org/drawingml/2006/main">
            <a:off x="723900" y="6400800"/>
            <a:ext cx="419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975" b="1">
                <a:solidFill>
                  <a:srgbClr val="556363"/>
                </a:solidFill>
                <a:latin typeface="Arial"/>
                <a:ea typeface="Arial"/>
                <a:cs typeface="Arial"/>
              </a:defRPr>
            </a:defPPr>
          </a:lstStyle>
          <a:p xmlns:a="http://schemas.openxmlformats.org/drawingml/2006/main">
            <a:pPr algn="l">
              <a:defRPr sz="975" b="1">
                <a:solidFill>
                  <a:srgbClr val="556363"/>
                </a:solidFill>
                <a:latin typeface="Arial"/>
                <a:ea typeface="Arial"/>
                <a:cs typeface="Arial"/>
              </a:defRPr>
            </a:pPr>
            <a:r>
              <a:rPr sz="975" b="1">
                <a:solidFill>
                  <a:srgbClr val="556363"/>
                </a:solidFill>
                <a:latin typeface="Arial"/>
                <a:ea typeface="Arial"/>
                <a:cs typeface="Arial"/>
              </a:rPr>
              <a:t>FRAMELESS  /  SWPP MIDTERM 2026</a:t>
            </a:r>
          </a:p>
        </p:txBody>
      </p:sp>
      <p:sp>
        <p:nvSpPr>
          <p:cNvPr id="4" name="">
            <a:extLst xmlns:a="http://schemas.openxmlformats.org/drawingml/2006/main">
              <a:ext uri="{FF2B5EF4-FFF2-40B4-BE49-F238E27FC236}">
                <a16:creationId xmlns:a16="http://schemas.microsoft.com/office/drawing/2014/main" id="{5B1EF870-9B3E-44EF-BC20-DD1BA498A15B}"/>
              </a:ext>
            </a:extLst>
          </p:cNvPr>
          <p:cNvSpPr>
            <a:spLocks xmlns:a="http://schemas.openxmlformats.org/drawingml/2006/main" noGrp="1"/>
          </p:cNvSpPr>
          <p:nvPr/>
        </p:nvSpPr>
        <p:spPr>
          <a:xfrm xmlns:a="http://schemas.openxmlformats.org/drawingml/2006/main">
            <a:off x="10582275"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975" b="1">
                <a:solidFill>
                  <a:srgbClr val="556363"/>
                </a:solidFill>
                <a:latin typeface="Arial"/>
                <a:ea typeface="Arial"/>
                <a:cs typeface="Arial"/>
              </a:defRPr>
            </a:defPPr>
          </a:lstStyle>
          <a:p xmlns:a="http://schemas.openxmlformats.org/drawingml/2006/main">
            <a:pPr algn="r">
              <a:defRPr sz="975" b="1">
                <a:solidFill>
                  <a:srgbClr val="556363"/>
                </a:solidFill>
                <a:latin typeface="Arial"/>
                <a:ea typeface="Arial"/>
                <a:cs typeface="Arial"/>
              </a:defRPr>
            </a:pPr>
            <a:r>
              <a:rPr sz="975" b="1">
                <a:solidFill>
                  <a:srgbClr val="556363"/>
                </a:solidFill>
                <a:latin typeface="Arial"/>
                <a:ea typeface="Arial"/>
                <a:cs typeface="Arial"/>
              </a:rPr>
              <a:t>05 / 11</a:t>
            </a:r>
          </a:p>
        </p:txBody>
      </p:sp>
      <p:sp>
        <p:nvSpPr>
          <p:cNvPr id="5" name="">
            <a:extLst xmlns:a="http://schemas.openxmlformats.org/drawingml/2006/main">
              <a:ext uri="{FF2B5EF4-FFF2-40B4-BE49-F238E27FC236}">
                <a16:creationId xmlns:a16="http://schemas.microsoft.com/office/drawing/2014/main" id="{BC8525A4-5994-4A85-B6CB-19563B917808}"/>
              </a:ext>
            </a:extLst>
          </p:cNvPr>
          <p:cNvSpPr>
            <a:spLocks xmlns:a="http://schemas.openxmlformats.org/drawingml/2006/main" noGrp="1"/>
          </p:cNvSpPr>
          <p:nvPr/>
        </p:nvSpPr>
        <p:spPr>
          <a:xfrm xmlns:a="http://schemas.openxmlformats.org/drawingml/2006/main">
            <a:off x="742950" y="1628775"/>
            <a:ext cx="5038725" cy="3962400"/>
          </a:xfrm>
          <a:prstGeom xmlns:a="http://schemas.openxmlformats.org/drawingml/2006/main" prst="roundRect">
            <a:avLst>
              <a:gd name="adj" fmla="val 1923"/>
            </a:avLst>
          </a:prstGeom>
          <a:solidFill xmlns:a="http://schemas.openxmlformats.org/drawingml/2006/main">
            <a:srgbClr val="DDEFE9"/>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B6CC8BB-9065-4838-B1D4-B5F03A753996}"/>
              </a:ext>
            </a:extLst>
          </p:cNvPr>
          <p:cNvSpPr>
            <a:spLocks xmlns:a="http://schemas.openxmlformats.org/drawingml/2006/main" noGrp="1"/>
          </p:cNvSpPr>
          <p:nvPr/>
        </p:nvSpPr>
        <p:spPr>
          <a:xfrm xmlns:a="http://schemas.openxmlformats.org/drawingml/2006/main">
            <a:off x="6048375" y="1628775"/>
            <a:ext cx="5391150" cy="3962400"/>
          </a:xfrm>
          <a:prstGeom xmlns:a="http://schemas.openxmlformats.org/drawingml/2006/main" prst="roundRect">
            <a:avLst>
              <a:gd name="adj" fmla="val 1923"/>
            </a:avLst>
          </a:prstGeom>
          <a:solidFill xmlns:a="http://schemas.openxmlformats.org/drawingml/2006/main">
            <a:srgbClr val="FFFFFF"/>
          </a:solidFill>
          <a:ln xmlns:a="http://schemas.openxmlformats.org/drawingml/2006/main" w="9525">
            <a:solidFill>
              <a:srgbClr val="B7C4BF"/>
            </a:solidFill>
            <a:prstDash val="solid"/>
          </a:ln>
        </p:spPr>
      </p:sp>
      <p:sp>
        <p:nvSpPr>
          <p:cNvPr id="7" name="">
            <a:extLst xmlns:a="http://schemas.openxmlformats.org/drawingml/2006/main">
              <a:ext uri="{FF2B5EF4-FFF2-40B4-BE49-F238E27FC236}">
                <a16:creationId xmlns:a16="http://schemas.microsoft.com/office/drawing/2014/main" id="{E3596FAF-5A06-4E8C-9D2D-20CFF6A45669}"/>
              </a:ext>
            </a:extLst>
          </p:cNvPr>
          <p:cNvSpPr>
            <a:spLocks xmlns:a="http://schemas.openxmlformats.org/drawingml/2006/main" noGrp="1"/>
          </p:cNvSpPr>
          <p:nvPr/>
        </p:nvSpPr>
        <p:spPr>
          <a:xfrm xmlns:a="http://schemas.openxmlformats.org/drawingml/2006/main">
            <a:off x="981075" y="1847850"/>
            <a:ext cx="200025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900" b="1">
                <a:solidFill>
                  <a:srgbClr val="007E72"/>
                </a:solidFill>
                <a:latin typeface="Arial"/>
                <a:ea typeface="Arial"/>
                <a:cs typeface="Arial"/>
              </a:defRPr>
            </a:defPPr>
          </a:lstStyle>
          <a:p xmlns:a="http://schemas.openxmlformats.org/drawingml/2006/main">
            <a:pPr algn="l">
              <a:defRPr sz="3900" b="1">
                <a:solidFill>
                  <a:srgbClr val="007E72"/>
                </a:solidFill>
                <a:latin typeface="Arial"/>
                <a:ea typeface="Arial"/>
                <a:cs typeface="Arial"/>
              </a:defRPr>
            </a:pPr>
            <a:r>
              <a:rPr sz="3900" b="1">
                <a:solidFill>
                  <a:srgbClr val="007E72"/>
                </a:solidFill>
                <a:latin typeface="Arial"/>
                <a:ea typeface="Arial"/>
                <a:cs typeface="Arial"/>
              </a:rPr>
              <a:t>I1–I5</a:t>
            </a:r>
          </a:p>
        </p:txBody>
      </p:sp>
      <p:sp>
        <p:nvSpPr>
          <p:cNvPr id="8" name="">
            <a:extLst xmlns:a="http://schemas.openxmlformats.org/drawingml/2006/main">
              <a:ext uri="{FF2B5EF4-FFF2-40B4-BE49-F238E27FC236}">
                <a16:creationId xmlns:a16="http://schemas.microsoft.com/office/drawing/2014/main" id="{9C7DEAB9-BCD5-4C07-AC54-C5562ED19F9D}"/>
              </a:ext>
            </a:extLst>
          </p:cNvPr>
          <p:cNvSpPr>
            <a:spLocks xmlns:a="http://schemas.openxmlformats.org/drawingml/2006/main" noGrp="1"/>
          </p:cNvSpPr>
          <p:nvPr/>
        </p:nvSpPr>
        <p:spPr>
          <a:xfrm xmlns:a="http://schemas.openxmlformats.org/drawingml/2006/main">
            <a:off x="981075" y="2543175"/>
            <a:ext cx="4362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1">
                <a:solidFill>
                  <a:srgbClr val="152323"/>
                </a:solidFill>
                <a:latin typeface="Arial"/>
                <a:ea typeface="Arial"/>
                <a:cs typeface="Arial"/>
              </a:defRPr>
            </a:defPPr>
          </a:lstStyle>
          <a:p xmlns:a="http://schemas.openxmlformats.org/drawingml/2006/main">
            <a:pPr algn="l">
              <a:defRPr sz="1950" b="1">
                <a:solidFill>
                  <a:srgbClr val="152323"/>
                </a:solidFill>
                <a:latin typeface="Arial"/>
                <a:ea typeface="Arial"/>
                <a:cs typeface="Arial"/>
              </a:defRPr>
            </a:pPr>
            <a:r>
              <a:rPr sz="1950" b="1">
                <a:solidFill>
                  <a:srgbClr val="152323"/>
                </a:solidFill>
                <a:latin typeface="Arial"/>
                <a:ea typeface="Arial"/>
                <a:cs typeface="Arial"/>
              </a:rPr>
              <a:t>Information in the coverage</a:t>
            </a:r>
          </a:p>
        </p:txBody>
      </p:sp>
      <p:sp>
        <p:nvSpPr>
          <p:cNvPr id="9" name="">
            <a:extLst xmlns:a="http://schemas.openxmlformats.org/drawingml/2006/main">
              <a:ext uri="{FF2B5EF4-FFF2-40B4-BE49-F238E27FC236}">
                <a16:creationId xmlns:a16="http://schemas.microsoft.com/office/drawing/2014/main" id="{A0BE9845-FC9B-4CCD-B87A-52669ABB0338}"/>
              </a:ext>
            </a:extLst>
          </p:cNvPr>
          <p:cNvSpPr>
            <a:spLocks xmlns:a="http://schemas.openxmlformats.org/drawingml/2006/main" noGrp="1"/>
          </p:cNvSpPr>
          <p:nvPr/>
        </p:nvSpPr>
        <p:spPr>
          <a:xfrm xmlns:a="http://schemas.openxmlformats.org/drawingml/2006/main">
            <a:off x="981075" y="3143250"/>
            <a:ext cx="4286250" cy="2124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152323"/>
                </a:solidFill>
                <a:latin typeface="Arial"/>
                <a:ea typeface="Arial"/>
                <a:cs typeface="Arial"/>
              </a:defRPr>
            </a:defPPr>
          </a:lstStyle>
          <a:p xmlns:a="http://schemas.openxmlformats.org/drawingml/2006/main">
            <a:pPr algn="l">
              <a:defRPr sz="1725" b="0">
                <a:solidFill>
                  <a:srgbClr val="152323"/>
                </a:solidFill>
                <a:latin typeface="Arial"/>
                <a:ea typeface="Arial"/>
                <a:cs typeface="Arial"/>
              </a:defRPr>
            </a:pPr>
            <a:r>
              <a:rPr sz="1725" b="0">
                <a:solidFill>
                  <a:srgbClr val="152323"/>
                </a:solidFill>
                <a:latin typeface="Arial"/>
                <a:ea typeface="Arial"/>
                <a:cs typeface="Arial"/>
              </a:rPr>
              <a:t>I1  Claim appears</a:t>
            </a:r>
          </a:p>
          <a:p xmlns:a="http://schemas.openxmlformats.org/drawingml/2006/main">
            <a:pPr algn="l">
              <a:defRPr sz="1725" b="0">
                <a:solidFill>
                  <a:srgbClr val="152323"/>
                </a:solidFill>
                <a:latin typeface="Arial"/>
                <a:ea typeface="Arial"/>
                <a:cs typeface="Arial"/>
              </a:defRPr>
            </a:pPr>
            <a:r>
              <a:rPr sz="1725" b="0">
                <a:solidFill>
                  <a:srgbClr val="152323"/>
                </a:solidFill>
                <a:latin typeface="Arial"/>
                <a:ea typeface="Arial"/>
                <a:cs typeface="Arial"/>
              </a:rPr>
              <a:t>I2  Placement</a:t>
            </a:r>
          </a:p>
          <a:p xmlns:a="http://schemas.openxmlformats.org/drawingml/2006/main">
            <a:pPr algn="l">
              <a:defRPr sz="1725" b="0">
                <a:solidFill>
                  <a:srgbClr val="152323"/>
                </a:solidFill>
                <a:latin typeface="Arial"/>
                <a:ea typeface="Arial"/>
                <a:cs typeface="Arial"/>
              </a:defRPr>
            </a:pPr>
            <a:r>
              <a:rPr sz="1725" b="0">
                <a:solidFill>
                  <a:srgbClr val="152323"/>
                </a:solidFill>
                <a:latin typeface="Arial"/>
                <a:ea typeface="Arial"/>
                <a:cs typeface="Arial"/>
              </a:rPr>
              <a:t>I3  Background</a:t>
            </a:r>
          </a:p>
          <a:p xmlns:a="http://schemas.openxmlformats.org/drawingml/2006/main">
            <a:pPr algn="l">
              <a:defRPr sz="1725" b="0">
                <a:solidFill>
                  <a:srgbClr val="152323"/>
                </a:solidFill>
                <a:latin typeface="Arial"/>
                <a:ea typeface="Arial"/>
                <a:cs typeface="Arial"/>
              </a:defRPr>
            </a:pPr>
            <a:r>
              <a:rPr sz="1725" b="0">
                <a:solidFill>
                  <a:srgbClr val="152323"/>
                </a:solidFill>
                <a:latin typeface="Arial"/>
                <a:ea typeface="Arial"/>
                <a:cs typeface="Arial"/>
              </a:rPr>
              <a:t>I4  Forecast or outlook</a:t>
            </a:r>
          </a:p>
          <a:p xmlns:a="http://schemas.openxmlformats.org/drawingml/2006/main">
            <a:pPr algn="l">
              <a:defRPr sz="1725" b="0">
                <a:solidFill>
                  <a:srgbClr val="152323"/>
                </a:solidFill>
                <a:latin typeface="Arial"/>
                <a:ea typeface="Arial"/>
                <a:cs typeface="Arial"/>
              </a:defRPr>
            </a:pPr>
            <a:r>
              <a:rPr sz="1725" b="0">
                <a:solidFill>
                  <a:srgbClr val="152323"/>
                </a:solidFill>
                <a:latin typeface="Arial"/>
                <a:ea typeface="Arial"/>
                <a:cs typeface="Arial"/>
              </a:rPr>
              <a:t>I5  Quotation and speaker</a:t>
            </a:r>
          </a:p>
        </p:txBody>
      </p:sp>
      <p:sp>
        <p:nvSpPr>
          <p:cNvPr id="10" name="">
            <a:extLst xmlns:a="http://schemas.openxmlformats.org/drawingml/2006/main">
              <a:ext uri="{FF2B5EF4-FFF2-40B4-BE49-F238E27FC236}">
                <a16:creationId xmlns:a16="http://schemas.microsoft.com/office/drawing/2014/main" id="{E48CF7B9-D307-4495-A139-14D7B7309A59}"/>
              </a:ext>
            </a:extLst>
          </p:cNvPr>
          <p:cNvSpPr>
            <a:spLocks xmlns:a="http://schemas.openxmlformats.org/drawingml/2006/main" noGrp="1"/>
          </p:cNvSpPr>
          <p:nvPr/>
        </p:nvSpPr>
        <p:spPr>
          <a:xfrm xmlns:a="http://schemas.openxmlformats.org/drawingml/2006/main">
            <a:off x="6286500" y="1847850"/>
            <a:ext cx="23241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900" b="1">
                <a:solidFill>
                  <a:srgbClr val="A44937"/>
                </a:solidFill>
                <a:latin typeface="Arial"/>
                <a:ea typeface="Arial"/>
                <a:cs typeface="Arial"/>
              </a:defRPr>
            </a:defPPr>
          </a:lstStyle>
          <a:p xmlns:a="http://schemas.openxmlformats.org/drawingml/2006/main">
            <a:pPr algn="l">
              <a:defRPr sz="3900" b="1">
                <a:solidFill>
                  <a:srgbClr val="A44937"/>
                </a:solidFill>
                <a:latin typeface="Arial"/>
                <a:ea typeface="Arial"/>
                <a:cs typeface="Arial"/>
              </a:defRPr>
            </a:pPr>
            <a:r>
              <a:rPr sz="3900" b="1">
                <a:solidFill>
                  <a:srgbClr val="A44937"/>
                </a:solidFill>
                <a:latin typeface="Arial"/>
                <a:ea typeface="Arial"/>
                <a:cs typeface="Arial"/>
              </a:rPr>
              <a:t>A–G</a:t>
            </a:r>
          </a:p>
        </p:txBody>
      </p:sp>
      <p:sp>
        <p:nvSpPr>
          <p:cNvPr id="11" name="">
            <a:extLst xmlns:a="http://schemas.openxmlformats.org/drawingml/2006/main">
              <a:ext uri="{FF2B5EF4-FFF2-40B4-BE49-F238E27FC236}">
                <a16:creationId xmlns:a16="http://schemas.microsoft.com/office/drawing/2014/main" id="{44C58505-55EB-4E80-817C-98E80BC9B625}"/>
              </a:ext>
            </a:extLst>
          </p:cNvPr>
          <p:cNvSpPr>
            <a:spLocks xmlns:a="http://schemas.openxmlformats.org/drawingml/2006/main" noGrp="1"/>
          </p:cNvSpPr>
          <p:nvPr/>
        </p:nvSpPr>
        <p:spPr>
          <a:xfrm xmlns:a="http://schemas.openxmlformats.org/drawingml/2006/main">
            <a:off x="6286500" y="2543175"/>
            <a:ext cx="47148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1">
                <a:solidFill>
                  <a:srgbClr val="152323"/>
                </a:solidFill>
                <a:latin typeface="Arial"/>
                <a:ea typeface="Arial"/>
                <a:cs typeface="Arial"/>
              </a:defRPr>
            </a:defPPr>
          </a:lstStyle>
          <a:p xmlns:a="http://schemas.openxmlformats.org/drawingml/2006/main">
            <a:pPr algn="l">
              <a:defRPr sz="1950" b="1">
                <a:solidFill>
                  <a:srgbClr val="152323"/>
                </a:solidFill>
                <a:latin typeface="Arial"/>
                <a:ea typeface="Arial"/>
                <a:cs typeface="Arial"/>
              </a:defRPr>
            </a:pPr>
            <a:r>
              <a:rPr sz="1950" b="1">
                <a:solidFill>
                  <a:srgbClr val="152323"/>
                </a:solidFill>
                <a:latin typeface="Arial"/>
                <a:ea typeface="Arial"/>
                <a:cs typeface="Arial"/>
              </a:rPr>
              <a:t>Expression across reports</a:t>
            </a:r>
          </a:p>
        </p:txBody>
      </p:sp>
      <p:sp>
        <p:nvSpPr>
          <p:cNvPr id="12" name="">
            <a:extLst xmlns:a="http://schemas.openxmlformats.org/drawingml/2006/main">
              <a:ext uri="{FF2B5EF4-FFF2-40B4-BE49-F238E27FC236}">
                <a16:creationId xmlns:a16="http://schemas.microsoft.com/office/drawing/2014/main" id="{7EF1F26B-B6D3-4EC1-B262-72D6EAE54E59}"/>
              </a:ext>
            </a:extLst>
          </p:cNvPr>
          <p:cNvSpPr>
            <a:spLocks xmlns:a="http://schemas.openxmlformats.org/drawingml/2006/main" noGrp="1"/>
          </p:cNvSpPr>
          <p:nvPr/>
        </p:nvSpPr>
        <p:spPr>
          <a:xfrm xmlns:a="http://schemas.openxmlformats.org/drawingml/2006/main">
            <a:off x="6286500" y="3143250"/>
            <a:ext cx="46291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152323"/>
                </a:solidFill>
                <a:latin typeface="Arial"/>
                <a:ea typeface="Arial"/>
                <a:cs typeface="Arial"/>
              </a:defRPr>
            </a:defPPr>
          </a:lstStyle>
          <a:p xmlns:a="http://schemas.openxmlformats.org/drawingml/2006/main">
            <a:pPr algn="l">
              <a:defRPr sz="1725" b="0">
                <a:solidFill>
                  <a:srgbClr val="152323"/>
                </a:solidFill>
                <a:latin typeface="Arial"/>
                <a:ea typeface="Arial"/>
                <a:cs typeface="Arial"/>
              </a:defRPr>
            </a:pPr>
            <a:r>
              <a:rPr sz="1725" b="0">
                <a:solidFill>
                  <a:srgbClr val="152323"/>
                </a:solidFill>
                <a:latin typeface="Arial"/>
                <a:ea typeface="Arial"/>
                <a:cs typeface="Arial"/>
              </a:rPr>
              <a:t>Compare observed reporter wording: event labels, reporting verbs, modifiers, certainty, and other category-specific choices.</a:t>
            </a:r>
          </a:p>
        </p:txBody>
      </p:sp>
      <p:sp>
        <p:nvSpPr>
          <p:cNvPr id="13" name="">
            <a:extLst xmlns:a="http://schemas.openxmlformats.org/drawingml/2006/main">
              <a:ext uri="{FF2B5EF4-FFF2-40B4-BE49-F238E27FC236}">
                <a16:creationId xmlns:a16="http://schemas.microsoft.com/office/drawing/2014/main" id="{5C92B018-3412-4A28-AC13-CDC65C6D718F}"/>
              </a:ext>
            </a:extLst>
          </p:cNvPr>
          <p:cNvSpPr>
            <a:spLocks xmlns:a="http://schemas.openxmlformats.org/drawingml/2006/main" noGrp="1"/>
          </p:cNvSpPr>
          <p:nvPr/>
        </p:nvSpPr>
        <p:spPr>
          <a:xfrm xmlns:a="http://schemas.openxmlformats.org/drawingml/2006/main">
            <a:off x="762000" y="5848350"/>
            <a:ext cx="1066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00" b="1">
                <a:solidFill>
                  <a:srgbClr val="556363"/>
                </a:solidFill>
                <a:latin typeface="Arial"/>
                <a:ea typeface="Arial"/>
                <a:cs typeface="Arial"/>
              </a:defRPr>
            </a:defPPr>
          </a:lstStyle>
          <a:p xmlns:a="http://schemas.openxmlformats.org/drawingml/2006/main">
            <a:pPr algn="l">
              <a:defRPr sz="1500" b="1">
                <a:solidFill>
                  <a:srgbClr val="556363"/>
                </a:solidFill>
                <a:latin typeface="Arial"/>
                <a:ea typeface="Arial"/>
                <a:cs typeface="Arial"/>
              </a:defRPr>
            </a:pPr>
            <a:r>
              <a:rPr sz="1500" b="1">
                <a:solidFill>
                  <a:srgbClr val="556363"/>
                </a:solidFill>
                <a:latin typeface="Arial"/>
                <a:ea typeface="Arial"/>
                <a:cs typeface="Arial"/>
              </a:rPr>
              <a:t>Absence, uncertainty, and an unscored item stay distinct. No article-wide score.</a:t>
            </a:r>
          </a:p>
        </p:txBody>
      </p:sp>
    </p:spTree>
    <p:extLst>
      <p:ext uri="{BB962C8B-B14F-4D97-AF65-F5344CB8AC3E}">
        <p14:creationId xmlns:p14="http://schemas.microsoft.com/office/powerpoint/2010/main" val="851660368"/>
      </p:ext>
    </p:extLst>
  </p:cSld>
</p:sld>
</file>

<file path=ppt/slides/slide6.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684F2E1C-3381-444C-BA51-76C854A23825}"/>
              </a:ext>
            </a:extLst>
          </p:cNvPr>
          <p:cNvSpPr>
            <a:spLocks xmlns:a="http://schemas.openxmlformats.org/drawingml/2006/main" noGrp="1"/>
          </p:cNvSpPr>
          <p:nvPr/>
        </p:nvSpPr>
        <p:spPr>
          <a:xfrm xmlns:a="http://schemas.openxmlformats.org/drawingml/2006/main">
            <a:off x="704850" y="457200"/>
            <a:ext cx="10668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225" b="1">
                <a:solidFill>
                  <a:srgbClr val="152323"/>
                </a:solidFill>
                <a:latin typeface="Arial"/>
                <a:ea typeface="Arial"/>
                <a:cs typeface="Arial"/>
              </a:defRPr>
            </a:defPPr>
          </a:lstStyle>
          <a:p xmlns:a="http://schemas.openxmlformats.org/drawingml/2006/main">
            <a:pPr algn="l">
              <a:defRPr sz="3225" b="1">
                <a:solidFill>
                  <a:srgbClr val="152323"/>
                </a:solidFill>
                <a:latin typeface="Arial"/>
                <a:ea typeface="Arial"/>
                <a:cs typeface="Arial"/>
              </a:defRPr>
            </a:pPr>
            <a:r>
              <a:rPr sz="3225" b="1">
                <a:solidFill>
                  <a:srgbClr val="152323"/>
                </a:solidFill>
                <a:latin typeface="Arial"/>
                <a:ea typeface="Arial"/>
                <a:cs typeface="Arial"/>
              </a:rPr>
              <a:t>Architecture: analysis stays on the server</a:t>
            </a:r>
          </a:p>
        </p:txBody>
      </p:sp>
      <p:sp>
        <p:nvSpPr>
          <p:cNvPr id="2" name="">
            <a:extLst xmlns:a="http://schemas.openxmlformats.org/drawingml/2006/main">
              <a:ext uri="{FF2B5EF4-FFF2-40B4-BE49-F238E27FC236}">
                <a16:creationId xmlns:a16="http://schemas.microsoft.com/office/drawing/2014/main" id="{1B3E379B-8A3E-4E0E-A7E4-C629E2D489E1}"/>
              </a:ext>
            </a:extLst>
          </p:cNvPr>
          <p:cNvSpPr>
            <a:spLocks xmlns:a="http://schemas.openxmlformats.org/drawingml/2006/main" noGrp="1"/>
          </p:cNvSpPr>
          <p:nvPr/>
        </p:nvSpPr>
        <p:spPr>
          <a:xfrm xmlns:a="http://schemas.openxmlformats.org/drawingml/2006/main">
            <a:off x="723900" y="1247775"/>
            <a:ext cx="10744200" cy="9525"/>
          </a:xfrm>
          <a:prstGeom xmlns:a="http://schemas.openxmlformats.org/drawingml/2006/main" prst="rect">
            <a:avLst/>
          </a:prstGeom>
          <a:solidFill xmlns:a="http://schemas.openxmlformats.org/drawingml/2006/main">
            <a:srgbClr val="B7C4BF"/>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C170B1B-64BE-4C80-9C5B-6B51C9CDF0F0}"/>
              </a:ext>
            </a:extLst>
          </p:cNvPr>
          <p:cNvSpPr>
            <a:spLocks xmlns:a="http://schemas.openxmlformats.org/drawingml/2006/main" noGrp="1"/>
          </p:cNvSpPr>
          <p:nvPr/>
        </p:nvSpPr>
        <p:spPr>
          <a:xfrm xmlns:a="http://schemas.openxmlformats.org/drawingml/2006/main">
            <a:off x="723900" y="6400800"/>
            <a:ext cx="419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975" b="1">
                <a:solidFill>
                  <a:srgbClr val="556363"/>
                </a:solidFill>
                <a:latin typeface="Arial"/>
                <a:ea typeface="Arial"/>
                <a:cs typeface="Arial"/>
              </a:defRPr>
            </a:defPPr>
          </a:lstStyle>
          <a:p xmlns:a="http://schemas.openxmlformats.org/drawingml/2006/main">
            <a:pPr algn="l">
              <a:defRPr sz="975" b="1">
                <a:solidFill>
                  <a:srgbClr val="556363"/>
                </a:solidFill>
                <a:latin typeface="Arial"/>
                <a:ea typeface="Arial"/>
                <a:cs typeface="Arial"/>
              </a:defRPr>
            </a:pPr>
            <a:r>
              <a:rPr sz="975" b="1">
                <a:solidFill>
                  <a:srgbClr val="556363"/>
                </a:solidFill>
                <a:latin typeface="Arial"/>
                <a:ea typeface="Arial"/>
                <a:cs typeface="Arial"/>
              </a:rPr>
              <a:t>FRAMELESS  /  SWPP MIDTERM 2026</a:t>
            </a:r>
          </a:p>
        </p:txBody>
      </p:sp>
      <p:sp>
        <p:nvSpPr>
          <p:cNvPr id="4" name="">
            <a:extLst xmlns:a="http://schemas.openxmlformats.org/drawingml/2006/main">
              <a:ext uri="{FF2B5EF4-FFF2-40B4-BE49-F238E27FC236}">
                <a16:creationId xmlns:a16="http://schemas.microsoft.com/office/drawing/2014/main" id="{91BD6F06-74D1-4A97-864F-ADF6C2773A23}"/>
              </a:ext>
            </a:extLst>
          </p:cNvPr>
          <p:cNvSpPr>
            <a:spLocks xmlns:a="http://schemas.openxmlformats.org/drawingml/2006/main" noGrp="1"/>
          </p:cNvSpPr>
          <p:nvPr/>
        </p:nvSpPr>
        <p:spPr>
          <a:xfrm xmlns:a="http://schemas.openxmlformats.org/drawingml/2006/main">
            <a:off x="10582275"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975" b="1">
                <a:solidFill>
                  <a:srgbClr val="556363"/>
                </a:solidFill>
                <a:latin typeface="Arial"/>
                <a:ea typeface="Arial"/>
                <a:cs typeface="Arial"/>
              </a:defRPr>
            </a:defPPr>
          </a:lstStyle>
          <a:p xmlns:a="http://schemas.openxmlformats.org/drawingml/2006/main">
            <a:pPr algn="r">
              <a:defRPr sz="975" b="1">
                <a:solidFill>
                  <a:srgbClr val="556363"/>
                </a:solidFill>
                <a:latin typeface="Arial"/>
                <a:ea typeface="Arial"/>
                <a:cs typeface="Arial"/>
              </a:defRPr>
            </a:pPr>
            <a:r>
              <a:rPr sz="975" b="1">
                <a:solidFill>
                  <a:srgbClr val="556363"/>
                </a:solidFill>
                <a:latin typeface="Arial"/>
                <a:ea typeface="Arial"/>
                <a:cs typeface="Arial"/>
              </a:rPr>
              <a:t>06 / 11</a:t>
            </a:r>
          </a:p>
        </p:txBody>
      </p:sp>
      <p:sp>
        <p:nvSpPr>
          <p:cNvPr id="5" name="">
            <a:extLst xmlns:a="http://schemas.openxmlformats.org/drawingml/2006/main">
              <a:ext uri="{FF2B5EF4-FFF2-40B4-BE49-F238E27FC236}">
                <a16:creationId xmlns:a16="http://schemas.microsoft.com/office/drawing/2014/main" id="{C1EB3265-6104-4A5D-B610-B65E9BC3D7DE}"/>
              </a:ext>
            </a:extLst>
          </p:cNvPr>
          <p:cNvSpPr>
            <a:spLocks xmlns:a="http://schemas.openxmlformats.org/drawingml/2006/main" noGrp="1"/>
          </p:cNvSpPr>
          <p:nvPr/>
        </p:nvSpPr>
        <p:spPr>
          <a:xfrm xmlns:a="http://schemas.openxmlformats.org/drawingml/2006/main">
            <a:off x="714375" y="1943100"/>
            <a:ext cx="2314575" cy="2952750"/>
          </a:xfrm>
          <a:prstGeom xmlns:a="http://schemas.openxmlformats.org/drawingml/2006/main" prst="roundRect">
            <a:avLst>
              <a:gd name="adj" fmla="val 3292"/>
            </a:avLst>
          </a:prstGeom>
          <a:solidFill xmlns:a="http://schemas.openxmlformats.org/drawingml/2006/main">
            <a:srgbClr val="FFFFFF"/>
          </a:solidFill>
          <a:ln xmlns:a="http://schemas.openxmlformats.org/drawingml/2006/main" w="9525">
            <a:solidFill>
              <a:srgbClr val="B7C4BF"/>
            </a:solidFill>
            <a:prstDash val="solid"/>
          </a:ln>
        </p:spPr>
      </p:sp>
      <p:sp>
        <p:nvSpPr>
          <p:cNvPr id="6" name="">
            <a:extLst xmlns:a="http://schemas.openxmlformats.org/drawingml/2006/main">
              <a:ext uri="{FF2B5EF4-FFF2-40B4-BE49-F238E27FC236}">
                <a16:creationId xmlns:a16="http://schemas.microsoft.com/office/drawing/2014/main" id="{F19BB546-48C3-44A5-AA3E-8B9FDA1B7975}"/>
              </a:ext>
            </a:extLst>
          </p:cNvPr>
          <p:cNvSpPr>
            <a:spLocks xmlns:a="http://schemas.openxmlformats.org/drawingml/2006/main" noGrp="1"/>
          </p:cNvSpPr>
          <p:nvPr/>
        </p:nvSpPr>
        <p:spPr>
          <a:xfrm xmlns:a="http://schemas.openxmlformats.org/drawingml/2006/main">
            <a:off x="933450" y="2152650"/>
            <a:ext cx="18764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425" b="1">
                <a:solidFill>
                  <a:srgbClr val="007E72"/>
                </a:solidFill>
                <a:latin typeface="Arial"/>
                <a:ea typeface="Arial"/>
                <a:cs typeface="Arial"/>
              </a:defRPr>
            </a:defPPr>
          </a:lstStyle>
          <a:p xmlns:a="http://schemas.openxmlformats.org/drawingml/2006/main">
            <a:pPr algn="l">
              <a:defRPr sz="1425" b="1">
                <a:solidFill>
                  <a:srgbClr val="007E72"/>
                </a:solidFill>
                <a:latin typeface="Arial"/>
                <a:ea typeface="Arial"/>
                <a:cs typeface="Arial"/>
              </a:defRPr>
            </a:pPr>
            <a:r>
              <a:rPr sz="1425" b="1">
                <a:solidFill>
                  <a:srgbClr val="007E72"/>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C0A361DD-2D5C-4833-B36C-48468ADA7FA6}"/>
              </a:ext>
            </a:extLst>
          </p:cNvPr>
          <p:cNvSpPr>
            <a:spLocks xmlns:a="http://schemas.openxmlformats.org/drawingml/2006/main" noGrp="1"/>
          </p:cNvSpPr>
          <p:nvPr/>
        </p:nvSpPr>
        <p:spPr>
          <a:xfrm xmlns:a="http://schemas.openxmlformats.org/drawingml/2006/main">
            <a:off x="933450" y="2743200"/>
            <a:ext cx="1876425"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152323"/>
                </a:solidFill>
                <a:latin typeface="Arial"/>
                <a:ea typeface="Arial"/>
                <a:cs typeface="Arial"/>
              </a:defRPr>
            </a:defPPr>
          </a:lstStyle>
          <a:p xmlns:a="http://schemas.openxmlformats.org/drawingml/2006/main">
            <a:pPr algn="l">
              <a:defRPr sz="2175" b="1">
                <a:solidFill>
                  <a:srgbClr val="152323"/>
                </a:solidFill>
                <a:latin typeface="Arial"/>
                <a:ea typeface="Arial"/>
                <a:cs typeface="Arial"/>
              </a:defRPr>
            </a:pPr>
            <a:r>
              <a:rPr sz="2175" b="1">
                <a:solidFill>
                  <a:srgbClr val="152323"/>
                </a:solidFill>
                <a:latin typeface="Arial"/>
                <a:ea typeface="Arial"/>
                <a:cs typeface="Arial"/>
              </a:rPr>
              <a:t>Android</a:t>
            </a:r>
          </a:p>
        </p:txBody>
      </p:sp>
      <p:sp>
        <p:nvSpPr>
          <p:cNvPr id="8" name="">
            <a:extLst xmlns:a="http://schemas.openxmlformats.org/drawingml/2006/main">
              <a:ext uri="{FF2B5EF4-FFF2-40B4-BE49-F238E27FC236}">
                <a16:creationId xmlns:a16="http://schemas.microsoft.com/office/drawing/2014/main" id="{3C26FD8F-5C44-4FAE-A476-A44A4BAE8EC0}"/>
              </a:ext>
            </a:extLst>
          </p:cNvPr>
          <p:cNvSpPr>
            <a:spLocks xmlns:a="http://schemas.openxmlformats.org/drawingml/2006/main" noGrp="1"/>
          </p:cNvSpPr>
          <p:nvPr/>
        </p:nvSpPr>
        <p:spPr>
          <a:xfrm xmlns:a="http://schemas.openxmlformats.org/drawingml/2006/main">
            <a:off x="933450" y="3676650"/>
            <a:ext cx="18764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00" b="0">
                <a:solidFill>
                  <a:srgbClr val="556363"/>
                </a:solidFill>
                <a:latin typeface="Arial"/>
                <a:ea typeface="Arial"/>
                <a:cs typeface="Arial"/>
              </a:defRPr>
            </a:defPPr>
          </a:lstStyle>
          <a:p xmlns:a="http://schemas.openxmlformats.org/drawingml/2006/main">
            <a:pPr algn="l">
              <a:defRPr sz="1500" b="0">
                <a:solidFill>
                  <a:srgbClr val="556363"/>
                </a:solidFill>
                <a:latin typeface="Arial"/>
                <a:ea typeface="Arial"/>
                <a:cs typeface="Arial"/>
              </a:defRPr>
            </a:pPr>
            <a:r>
              <a:rPr sz="1500" b="0">
                <a:solidFill>
                  <a:srgbClr val="556363"/>
                </a:solidFill>
                <a:latin typeface="Arial"/>
                <a:ea typeface="Arial"/>
                <a:cs typeface="Arial"/>
              </a:rPr>
              <a:t>Kotlin + Jetpack Compose</a:t>
            </a:r>
          </a:p>
          <a:p xmlns:a="http://schemas.openxmlformats.org/drawingml/2006/main">
            <a:pPr algn="l">
              <a:defRPr sz="1500" b="0">
                <a:solidFill>
                  <a:srgbClr val="556363"/>
                </a:solidFill>
                <a:latin typeface="Arial"/>
                <a:ea typeface="Arial"/>
                <a:cs typeface="Arial"/>
              </a:defRPr>
            </a:pPr>
            <a:r>
              <a:rPr sz="1500" b="0">
                <a:solidFill>
                  <a:srgbClr val="556363"/>
                </a:solidFill>
                <a:latin typeface="Arial"/>
                <a:ea typeface="Arial"/>
                <a:cs typeface="Arial"/>
              </a:rPr>
              <a:t>Article URL and result UI</a:t>
            </a:r>
          </a:p>
        </p:txBody>
      </p:sp>
      <p:sp>
        <p:nvSpPr>
          <p:cNvPr id="9" name="">
            <a:extLst xmlns:a="http://schemas.openxmlformats.org/drawingml/2006/main">
              <a:ext uri="{FF2B5EF4-FFF2-40B4-BE49-F238E27FC236}">
                <a16:creationId xmlns:a16="http://schemas.microsoft.com/office/drawing/2014/main" id="{229CD19E-68AF-4B1D-9544-52D782B97499}"/>
              </a:ext>
            </a:extLst>
          </p:cNvPr>
          <p:cNvSpPr>
            <a:spLocks xmlns:a="http://schemas.openxmlformats.org/drawingml/2006/main" noGrp="1"/>
          </p:cNvSpPr>
          <p:nvPr/>
        </p:nvSpPr>
        <p:spPr>
          <a:xfrm xmlns:a="http://schemas.openxmlformats.org/drawingml/2006/main">
            <a:off x="3390900" y="1943100"/>
            <a:ext cx="2333625" cy="2952750"/>
          </a:xfrm>
          <a:prstGeom xmlns:a="http://schemas.openxmlformats.org/drawingml/2006/main" prst="roundRect">
            <a:avLst>
              <a:gd name="adj" fmla="val 3265"/>
            </a:avLst>
          </a:prstGeom>
          <a:solidFill xmlns:a="http://schemas.openxmlformats.org/drawingml/2006/main">
            <a:srgbClr val="DDEFE9"/>
          </a:solidFill>
          <a:ln xmlns:a="http://schemas.openxmlformats.org/drawingml/2006/main" w="9525">
            <a:solidFill>
              <a:srgbClr val="007E72"/>
            </a:solidFill>
            <a:prstDash val="solid"/>
          </a:ln>
        </p:spPr>
      </p:sp>
      <p:sp>
        <p:nvSpPr>
          <p:cNvPr id="10" name="">
            <a:extLst xmlns:a="http://schemas.openxmlformats.org/drawingml/2006/main">
              <a:ext uri="{FF2B5EF4-FFF2-40B4-BE49-F238E27FC236}">
                <a16:creationId xmlns:a16="http://schemas.microsoft.com/office/drawing/2014/main" id="{C582D962-FF4D-49A1-A6A0-14D316230BBA}"/>
              </a:ext>
            </a:extLst>
          </p:cNvPr>
          <p:cNvSpPr>
            <a:spLocks xmlns:a="http://schemas.openxmlformats.org/drawingml/2006/main" noGrp="1"/>
          </p:cNvSpPr>
          <p:nvPr/>
        </p:nvSpPr>
        <p:spPr>
          <a:xfrm xmlns:a="http://schemas.openxmlformats.org/drawingml/2006/main">
            <a:off x="3609975" y="2152650"/>
            <a:ext cx="18954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425" b="1">
                <a:solidFill>
                  <a:srgbClr val="007E72"/>
                </a:solidFill>
                <a:latin typeface="Arial"/>
                <a:ea typeface="Arial"/>
                <a:cs typeface="Arial"/>
              </a:defRPr>
            </a:defPPr>
          </a:lstStyle>
          <a:p xmlns:a="http://schemas.openxmlformats.org/drawingml/2006/main">
            <a:pPr algn="l">
              <a:defRPr sz="1425" b="1">
                <a:solidFill>
                  <a:srgbClr val="007E72"/>
                </a:solidFill>
                <a:latin typeface="Arial"/>
                <a:ea typeface="Arial"/>
                <a:cs typeface="Arial"/>
              </a:defRPr>
            </a:pPr>
            <a:r>
              <a:rPr sz="1425" b="1">
                <a:solidFill>
                  <a:srgbClr val="007E72"/>
                </a:solidFill>
                <a:latin typeface="Arial"/>
                <a:ea typeface="Arial"/>
                <a:cs typeface="Arial"/>
              </a:rPr>
              <a:t>02</a:t>
            </a:r>
          </a:p>
        </p:txBody>
      </p:sp>
      <p:sp>
        <p:nvSpPr>
          <p:cNvPr id="11" name="">
            <a:extLst xmlns:a="http://schemas.openxmlformats.org/drawingml/2006/main">
              <a:ext uri="{FF2B5EF4-FFF2-40B4-BE49-F238E27FC236}">
                <a16:creationId xmlns:a16="http://schemas.microsoft.com/office/drawing/2014/main" id="{300054BB-882E-4C13-BE76-4D5778B3D82D}"/>
              </a:ext>
            </a:extLst>
          </p:cNvPr>
          <p:cNvSpPr>
            <a:spLocks xmlns:a="http://schemas.openxmlformats.org/drawingml/2006/main" noGrp="1"/>
          </p:cNvSpPr>
          <p:nvPr/>
        </p:nvSpPr>
        <p:spPr>
          <a:xfrm xmlns:a="http://schemas.openxmlformats.org/drawingml/2006/main">
            <a:off x="3609975" y="2743200"/>
            <a:ext cx="1895475"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152323"/>
                </a:solidFill>
                <a:latin typeface="Arial"/>
                <a:ea typeface="Arial"/>
                <a:cs typeface="Arial"/>
              </a:defRPr>
            </a:defPPr>
          </a:lstStyle>
          <a:p xmlns:a="http://schemas.openxmlformats.org/drawingml/2006/main">
            <a:pPr algn="l">
              <a:defRPr sz="2175" b="1">
                <a:solidFill>
                  <a:srgbClr val="152323"/>
                </a:solidFill>
                <a:latin typeface="Arial"/>
                <a:ea typeface="Arial"/>
                <a:cs typeface="Arial"/>
              </a:defRPr>
            </a:pPr>
            <a:r>
              <a:rPr sz="2175" b="1">
                <a:solidFill>
                  <a:srgbClr val="152323"/>
                </a:solidFill>
                <a:latin typeface="Arial"/>
                <a:ea typeface="Arial"/>
                <a:cs typeface="Arial"/>
              </a:rPr>
              <a:t>Django API</a:t>
            </a:r>
          </a:p>
        </p:txBody>
      </p:sp>
      <p:sp>
        <p:nvSpPr>
          <p:cNvPr id="12" name="">
            <a:extLst xmlns:a="http://schemas.openxmlformats.org/drawingml/2006/main">
              <a:ext uri="{FF2B5EF4-FFF2-40B4-BE49-F238E27FC236}">
                <a16:creationId xmlns:a16="http://schemas.microsoft.com/office/drawing/2014/main" id="{F08EABE7-3571-4C79-99C2-EB3060D1DE0A}"/>
              </a:ext>
            </a:extLst>
          </p:cNvPr>
          <p:cNvSpPr>
            <a:spLocks xmlns:a="http://schemas.openxmlformats.org/drawingml/2006/main" noGrp="1"/>
          </p:cNvSpPr>
          <p:nvPr/>
        </p:nvSpPr>
        <p:spPr>
          <a:xfrm xmlns:a="http://schemas.openxmlformats.org/drawingml/2006/main">
            <a:off x="3609975" y="3676650"/>
            <a:ext cx="189547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00" b="0">
                <a:solidFill>
                  <a:srgbClr val="556363"/>
                </a:solidFill>
                <a:latin typeface="Arial"/>
                <a:ea typeface="Arial"/>
                <a:cs typeface="Arial"/>
              </a:defRPr>
            </a:defPPr>
          </a:lstStyle>
          <a:p xmlns:a="http://schemas.openxmlformats.org/drawingml/2006/main">
            <a:pPr algn="l">
              <a:defRPr sz="1500" b="0">
                <a:solidFill>
                  <a:srgbClr val="556363"/>
                </a:solidFill>
                <a:latin typeface="Arial"/>
                <a:ea typeface="Arial"/>
                <a:cs typeface="Arial"/>
              </a:defRPr>
            </a:pPr>
            <a:r>
              <a:rPr sz="1500" b="0">
                <a:solidFill>
                  <a:srgbClr val="556363"/>
                </a:solidFill>
                <a:latin typeface="Arial"/>
                <a:ea typeface="Arial"/>
                <a:cs typeface="Arial"/>
              </a:rPr>
              <a:t>POST /api/analyze</a:t>
            </a:r>
          </a:p>
          <a:p xmlns:a="http://schemas.openxmlformats.org/drawingml/2006/main">
            <a:pPr algn="l">
              <a:defRPr sz="1500" b="0">
                <a:solidFill>
                  <a:srgbClr val="556363"/>
                </a:solidFill>
                <a:latin typeface="Arial"/>
                <a:ea typeface="Arial"/>
                <a:cs typeface="Arial"/>
              </a:defRPr>
            </a:pPr>
            <a:r>
              <a:rPr sz="1500" b="0">
                <a:solidFill>
                  <a:srgbClr val="556363"/>
                </a:solidFill>
                <a:latin typeface="Arial"/>
                <a:ea typeface="Arial"/>
                <a:cs typeface="Arial"/>
              </a:rPr>
              <a:t>Typed response contract</a:t>
            </a:r>
          </a:p>
        </p:txBody>
      </p:sp>
      <p:sp>
        <p:nvSpPr>
          <p:cNvPr id="13" name="">
            <a:extLst xmlns:a="http://schemas.openxmlformats.org/drawingml/2006/main">
              <a:ext uri="{FF2B5EF4-FFF2-40B4-BE49-F238E27FC236}">
                <a16:creationId xmlns:a16="http://schemas.microsoft.com/office/drawing/2014/main" id="{607726DE-8651-4A7F-AB6D-7D9E4DDF8EEA}"/>
              </a:ext>
            </a:extLst>
          </p:cNvPr>
          <p:cNvSpPr>
            <a:spLocks xmlns:a="http://schemas.openxmlformats.org/drawingml/2006/main" noGrp="1"/>
          </p:cNvSpPr>
          <p:nvPr/>
        </p:nvSpPr>
        <p:spPr>
          <a:xfrm xmlns:a="http://schemas.openxmlformats.org/drawingml/2006/main">
            <a:off x="6076950" y="1943100"/>
            <a:ext cx="2428875" cy="2952750"/>
          </a:xfrm>
          <a:prstGeom xmlns:a="http://schemas.openxmlformats.org/drawingml/2006/main" prst="roundRect">
            <a:avLst>
              <a:gd name="adj" fmla="val 3137"/>
            </a:avLst>
          </a:prstGeom>
          <a:solidFill xmlns:a="http://schemas.openxmlformats.org/drawingml/2006/main">
            <a:srgbClr val="FFFFFF"/>
          </a:solidFill>
          <a:ln xmlns:a="http://schemas.openxmlformats.org/drawingml/2006/main" w="9525">
            <a:solidFill>
              <a:srgbClr val="B7C4BF"/>
            </a:solidFill>
            <a:prstDash val="solid"/>
          </a:ln>
        </p:spPr>
      </p:sp>
      <p:sp>
        <p:nvSpPr>
          <p:cNvPr id="14" name="">
            <a:extLst xmlns:a="http://schemas.openxmlformats.org/drawingml/2006/main">
              <a:ext uri="{FF2B5EF4-FFF2-40B4-BE49-F238E27FC236}">
                <a16:creationId xmlns:a16="http://schemas.microsoft.com/office/drawing/2014/main" id="{D30D3CC6-3DA0-410E-B064-FD5BD03A641A}"/>
              </a:ext>
            </a:extLst>
          </p:cNvPr>
          <p:cNvSpPr>
            <a:spLocks xmlns:a="http://schemas.openxmlformats.org/drawingml/2006/main" noGrp="1"/>
          </p:cNvSpPr>
          <p:nvPr/>
        </p:nvSpPr>
        <p:spPr>
          <a:xfrm xmlns:a="http://schemas.openxmlformats.org/drawingml/2006/main">
            <a:off x="6296025" y="2152650"/>
            <a:ext cx="19907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425" b="1">
                <a:solidFill>
                  <a:srgbClr val="007E72"/>
                </a:solidFill>
                <a:latin typeface="Arial"/>
                <a:ea typeface="Arial"/>
                <a:cs typeface="Arial"/>
              </a:defRPr>
            </a:defPPr>
          </a:lstStyle>
          <a:p xmlns:a="http://schemas.openxmlformats.org/drawingml/2006/main">
            <a:pPr algn="l">
              <a:defRPr sz="1425" b="1">
                <a:solidFill>
                  <a:srgbClr val="007E72"/>
                </a:solidFill>
                <a:latin typeface="Arial"/>
                <a:ea typeface="Arial"/>
                <a:cs typeface="Arial"/>
              </a:defRPr>
            </a:pPr>
            <a:r>
              <a:rPr sz="1425" b="1">
                <a:solidFill>
                  <a:srgbClr val="007E72"/>
                </a:solidFill>
                <a:latin typeface="Arial"/>
                <a:ea typeface="Arial"/>
                <a:cs typeface="Arial"/>
              </a:rPr>
              <a:t>03</a:t>
            </a:r>
          </a:p>
        </p:txBody>
      </p:sp>
      <p:sp>
        <p:nvSpPr>
          <p:cNvPr id="15" name="">
            <a:extLst xmlns:a="http://schemas.openxmlformats.org/drawingml/2006/main">
              <a:ext uri="{FF2B5EF4-FFF2-40B4-BE49-F238E27FC236}">
                <a16:creationId xmlns:a16="http://schemas.microsoft.com/office/drawing/2014/main" id="{478859B7-CED5-41DD-A19B-312484F99E6C}"/>
              </a:ext>
            </a:extLst>
          </p:cNvPr>
          <p:cNvSpPr>
            <a:spLocks xmlns:a="http://schemas.openxmlformats.org/drawingml/2006/main" noGrp="1"/>
          </p:cNvSpPr>
          <p:nvPr/>
        </p:nvSpPr>
        <p:spPr>
          <a:xfrm xmlns:a="http://schemas.openxmlformats.org/drawingml/2006/main">
            <a:off x="6296025" y="2743200"/>
            <a:ext cx="1990725"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152323"/>
                </a:solidFill>
                <a:latin typeface="Arial"/>
                <a:ea typeface="Arial"/>
                <a:cs typeface="Arial"/>
              </a:defRPr>
            </a:defPPr>
          </a:lstStyle>
          <a:p xmlns:a="http://schemas.openxmlformats.org/drawingml/2006/main">
            <a:pPr algn="l">
              <a:defRPr sz="2175" b="1">
                <a:solidFill>
                  <a:srgbClr val="152323"/>
                </a:solidFill>
                <a:latin typeface="Arial"/>
                <a:ea typeface="Arial"/>
                <a:cs typeface="Arial"/>
              </a:defRPr>
            </a:pPr>
            <a:r>
              <a:rPr sz="2175" b="1">
                <a:solidFill>
                  <a:srgbClr val="152323"/>
                </a:solidFill>
                <a:latin typeface="Arial"/>
                <a:ea typeface="Arial"/>
                <a:cs typeface="Arial"/>
              </a:rPr>
              <a:t>External inputs</a:t>
            </a:r>
          </a:p>
        </p:txBody>
      </p:sp>
      <p:sp>
        <p:nvSpPr>
          <p:cNvPr id="16" name="">
            <a:extLst xmlns:a="http://schemas.openxmlformats.org/drawingml/2006/main">
              <a:ext uri="{FF2B5EF4-FFF2-40B4-BE49-F238E27FC236}">
                <a16:creationId xmlns:a16="http://schemas.microsoft.com/office/drawing/2014/main" id="{B3E72479-6E76-450A-A83C-8079937F84BA}"/>
              </a:ext>
            </a:extLst>
          </p:cNvPr>
          <p:cNvSpPr>
            <a:spLocks xmlns:a="http://schemas.openxmlformats.org/drawingml/2006/main" noGrp="1"/>
          </p:cNvSpPr>
          <p:nvPr/>
        </p:nvSpPr>
        <p:spPr>
          <a:xfrm xmlns:a="http://schemas.openxmlformats.org/drawingml/2006/main">
            <a:off x="6296025" y="3676650"/>
            <a:ext cx="19907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00" b="0">
                <a:solidFill>
                  <a:srgbClr val="556363"/>
                </a:solidFill>
                <a:latin typeface="Arial"/>
                <a:ea typeface="Arial"/>
                <a:cs typeface="Arial"/>
              </a:defRPr>
            </a:defPPr>
          </a:lstStyle>
          <a:p xmlns:a="http://schemas.openxmlformats.org/drawingml/2006/main">
            <a:pPr algn="l">
              <a:defRPr sz="1500" b="0">
                <a:solidFill>
                  <a:srgbClr val="556363"/>
                </a:solidFill>
                <a:latin typeface="Arial"/>
                <a:ea typeface="Arial"/>
                <a:cs typeface="Arial"/>
              </a:defRPr>
            </a:pPr>
            <a:r>
              <a:rPr sz="1500" b="0">
                <a:solidFill>
                  <a:srgbClr val="556363"/>
                </a:solidFill>
                <a:latin typeface="Arial"/>
                <a:ea typeface="Arial"/>
                <a:cs typeface="Arial"/>
              </a:rPr>
              <a:t>Article pages</a:t>
            </a:r>
          </a:p>
          <a:p xmlns:a="http://schemas.openxmlformats.org/drawingml/2006/main">
            <a:pPr algn="l">
              <a:defRPr sz="1500" b="0">
                <a:solidFill>
                  <a:srgbClr val="556363"/>
                </a:solidFill>
                <a:latin typeface="Arial"/>
                <a:ea typeface="Arial"/>
                <a:cs typeface="Arial"/>
              </a:defRPr>
            </a:pPr>
            <a:r>
              <a:rPr sz="1500" b="0">
                <a:solidFill>
                  <a:srgbClr val="556363"/>
                </a:solidFill>
                <a:latin typeface="Arial"/>
                <a:ea typeface="Arial"/>
                <a:cs typeface="Arial"/>
              </a:rPr>
              <a:t>NAVER API HUB + Gemini</a:t>
            </a:r>
          </a:p>
        </p:txBody>
      </p:sp>
      <p:sp>
        <p:nvSpPr>
          <p:cNvPr id="17" name="">
            <a:extLst xmlns:a="http://schemas.openxmlformats.org/drawingml/2006/main">
              <a:ext uri="{FF2B5EF4-FFF2-40B4-BE49-F238E27FC236}">
                <a16:creationId xmlns:a16="http://schemas.microsoft.com/office/drawing/2014/main" id="{9954E828-5887-4913-B28D-7AFF74E15167}"/>
              </a:ext>
            </a:extLst>
          </p:cNvPr>
          <p:cNvSpPr>
            <a:spLocks xmlns:a="http://schemas.openxmlformats.org/drawingml/2006/main" noGrp="1"/>
          </p:cNvSpPr>
          <p:nvPr/>
        </p:nvSpPr>
        <p:spPr>
          <a:xfrm xmlns:a="http://schemas.openxmlformats.org/drawingml/2006/main">
            <a:off x="8858250" y="1943100"/>
            <a:ext cx="2562225" cy="2952750"/>
          </a:xfrm>
          <a:prstGeom xmlns:a="http://schemas.openxmlformats.org/drawingml/2006/main" prst="roundRect">
            <a:avLst>
              <a:gd name="adj" fmla="val 2974"/>
            </a:avLst>
          </a:prstGeom>
          <a:solidFill xmlns:a="http://schemas.openxmlformats.org/drawingml/2006/main">
            <a:srgbClr val="FFFFFF"/>
          </a:solidFill>
          <a:ln xmlns:a="http://schemas.openxmlformats.org/drawingml/2006/main" w="9525">
            <a:solidFill>
              <a:srgbClr val="B7C4BF"/>
            </a:solidFill>
            <a:prstDash val="solid"/>
          </a:ln>
        </p:spPr>
      </p:sp>
      <p:sp>
        <p:nvSpPr>
          <p:cNvPr id="18" name="">
            <a:extLst xmlns:a="http://schemas.openxmlformats.org/drawingml/2006/main">
              <a:ext uri="{FF2B5EF4-FFF2-40B4-BE49-F238E27FC236}">
                <a16:creationId xmlns:a16="http://schemas.microsoft.com/office/drawing/2014/main" id="{054ACEF0-87F2-4F0A-A621-909B60772AA0}"/>
              </a:ext>
            </a:extLst>
          </p:cNvPr>
          <p:cNvSpPr>
            <a:spLocks xmlns:a="http://schemas.openxmlformats.org/drawingml/2006/main" noGrp="1"/>
          </p:cNvSpPr>
          <p:nvPr/>
        </p:nvSpPr>
        <p:spPr>
          <a:xfrm xmlns:a="http://schemas.openxmlformats.org/drawingml/2006/main">
            <a:off x="9077325" y="2152650"/>
            <a:ext cx="21240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425" b="1">
                <a:solidFill>
                  <a:srgbClr val="007E72"/>
                </a:solidFill>
                <a:latin typeface="Arial"/>
                <a:ea typeface="Arial"/>
                <a:cs typeface="Arial"/>
              </a:defRPr>
            </a:defPPr>
          </a:lstStyle>
          <a:p xmlns:a="http://schemas.openxmlformats.org/drawingml/2006/main">
            <a:pPr algn="l">
              <a:defRPr sz="1425" b="1">
                <a:solidFill>
                  <a:srgbClr val="007E72"/>
                </a:solidFill>
                <a:latin typeface="Arial"/>
                <a:ea typeface="Arial"/>
                <a:cs typeface="Arial"/>
              </a:defRPr>
            </a:pPr>
            <a:r>
              <a:rPr sz="1425" b="1">
                <a:solidFill>
                  <a:srgbClr val="007E72"/>
                </a:solidFill>
                <a:latin typeface="Arial"/>
                <a:ea typeface="Arial"/>
                <a:cs typeface="Arial"/>
              </a:rPr>
              <a:t>04</a:t>
            </a:r>
          </a:p>
        </p:txBody>
      </p:sp>
      <p:sp>
        <p:nvSpPr>
          <p:cNvPr id="19" name="">
            <a:extLst xmlns:a="http://schemas.openxmlformats.org/drawingml/2006/main">
              <a:ext uri="{FF2B5EF4-FFF2-40B4-BE49-F238E27FC236}">
                <a16:creationId xmlns:a16="http://schemas.microsoft.com/office/drawing/2014/main" id="{7C328A7D-7823-4928-896D-460DB42EDBDC}"/>
              </a:ext>
            </a:extLst>
          </p:cNvPr>
          <p:cNvSpPr>
            <a:spLocks xmlns:a="http://schemas.openxmlformats.org/drawingml/2006/main" noGrp="1"/>
          </p:cNvSpPr>
          <p:nvPr/>
        </p:nvSpPr>
        <p:spPr>
          <a:xfrm xmlns:a="http://schemas.openxmlformats.org/drawingml/2006/main">
            <a:off x="9077325" y="2743200"/>
            <a:ext cx="2124075"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152323"/>
                </a:solidFill>
                <a:latin typeface="Arial"/>
                <a:ea typeface="Arial"/>
                <a:cs typeface="Arial"/>
              </a:defRPr>
            </a:defPPr>
          </a:lstStyle>
          <a:p xmlns:a="http://schemas.openxmlformats.org/drawingml/2006/main">
            <a:pPr algn="l">
              <a:defRPr sz="2175" b="1">
                <a:solidFill>
                  <a:srgbClr val="152323"/>
                </a:solidFill>
                <a:latin typeface="Arial"/>
                <a:ea typeface="Arial"/>
                <a:cs typeface="Arial"/>
              </a:defRPr>
            </a:pPr>
            <a:r>
              <a:rPr sz="2175" b="1">
                <a:solidFill>
                  <a:srgbClr val="152323"/>
                </a:solidFill>
                <a:latin typeface="Arial"/>
                <a:ea typeface="Arial"/>
                <a:cs typeface="Arial"/>
              </a:rPr>
              <a:t>Evidence JSON</a:t>
            </a:r>
          </a:p>
        </p:txBody>
      </p:sp>
      <p:sp>
        <p:nvSpPr>
          <p:cNvPr id="20" name="">
            <a:extLst xmlns:a="http://schemas.openxmlformats.org/drawingml/2006/main">
              <a:ext uri="{FF2B5EF4-FFF2-40B4-BE49-F238E27FC236}">
                <a16:creationId xmlns:a16="http://schemas.microsoft.com/office/drawing/2014/main" id="{6456A99B-B33C-418B-86A4-A33628B73148}"/>
              </a:ext>
            </a:extLst>
          </p:cNvPr>
          <p:cNvSpPr>
            <a:spLocks xmlns:a="http://schemas.openxmlformats.org/drawingml/2006/main" noGrp="1"/>
          </p:cNvSpPr>
          <p:nvPr/>
        </p:nvSpPr>
        <p:spPr>
          <a:xfrm xmlns:a="http://schemas.openxmlformats.org/drawingml/2006/main">
            <a:off x="9077325" y="3676650"/>
            <a:ext cx="212407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00" b="0">
                <a:solidFill>
                  <a:srgbClr val="556363"/>
                </a:solidFill>
                <a:latin typeface="Arial"/>
                <a:ea typeface="Arial"/>
                <a:cs typeface="Arial"/>
              </a:defRPr>
            </a:defPPr>
          </a:lstStyle>
          <a:p xmlns:a="http://schemas.openxmlformats.org/drawingml/2006/main">
            <a:pPr algn="l">
              <a:defRPr sz="1500" b="0">
                <a:solidFill>
                  <a:srgbClr val="556363"/>
                </a:solidFill>
                <a:latin typeface="Arial"/>
                <a:ea typeface="Arial"/>
                <a:cs typeface="Arial"/>
              </a:defRPr>
            </a:pPr>
            <a:r>
              <a:rPr sz="1500" b="0">
                <a:solidFill>
                  <a:srgbClr val="556363"/>
                </a:solidFill>
                <a:latin typeface="Arial"/>
                <a:ea typeface="Arial"/>
                <a:cs typeface="Arial"/>
              </a:rPr>
              <a:t>Quotes, links, relations</a:t>
            </a:r>
          </a:p>
          <a:p xmlns:a="http://schemas.openxmlformats.org/drawingml/2006/main">
            <a:pPr algn="l">
              <a:defRPr sz="1500" b="0">
                <a:solidFill>
                  <a:srgbClr val="556363"/>
                </a:solidFill>
                <a:latin typeface="Arial"/>
                <a:ea typeface="Arial"/>
                <a:cs typeface="Arial"/>
              </a:defRPr>
            </a:pPr>
            <a:r>
              <a:rPr sz="1500" b="0">
                <a:solidFill>
                  <a:srgbClr val="556363"/>
                </a:solidFill>
                <a:latin typeface="Arial"/>
                <a:ea typeface="Arial"/>
                <a:cs typeface="Arial"/>
              </a:rPr>
              <a:t>Rubric + status</a:t>
            </a:r>
          </a:p>
        </p:txBody>
      </p:sp>
      <p:sp>
        <p:nvSpPr>
          <p:cNvPr id="21" name="">
            <a:extLst xmlns:a="http://schemas.openxmlformats.org/drawingml/2006/main">
              <a:ext uri="{FF2B5EF4-FFF2-40B4-BE49-F238E27FC236}">
                <a16:creationId xmlns:a16="http://schemas.microsoft.com/office/drawing/2014/main" id="{69DF29B1-8A3D-44AE-A533-41A7594AE474}"/>
              </a:ext>
            </a:extLst>
          </p:cNvPr>
          <p:cNvSpPr>
            <a:spLocks xmlns:a="http://schemas.openxmlformats.org/drawingml/2006/main" noGrp="1"/>
          </p:cNvSpPr>
          <p:nvPr/>
        </p:nvSpPr>
        <p:spPr>
          <a:xfrm xmlns:a="http://schemas.openxmlformats.org/drawingml/2006/main">
            <a:off x="762000" y="5448300"/>
            <a:ext cx="10477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1">
                <a:solidFill>
                  <a:srgbClr val="152323"/>
                </a:solidFill>
                <a:latin typeface="Arial"/>
                <a:ea typeface="Arial"/>
                <a:cs typeface="Arial"/>
              </a:defRPr>
            </a:defPPr>
          </a:lstStyle>
          <a:p xmlns:a="http://schemas.openxmlformats.org/drawingml/2006/main">
            <a:pPr algn="l">
              <a:defRPr sz="1650" b="1">
                <a:solidFill>
                  <a:srgbClr val="152323"/>
                </a:solidFill>
                <a:latin typeface="Arial"/>
                <a:ea typeface="Arial"/>
                <a:cs typeface="Arial"/>
              </a:defRPr>
            </a:pPr>
            <a:r>
              <a:rPr sz="1650" b="1">
                <a:solidFill>
                  <a:srgbClr val="152323"/>
                </a:solidFill>
                <a:latin typeface="Arial"/>
                <a:ea typeface="Arial"/>
                <a:cs typeface="Arial"/>
              </a:rPr>
              <a:t>API keys are stored on the server; production v2 deployment still needs a configured live check.</a:t>
            </a:r>
          </a:p>
        </p:txBody>
      </p:sp>
    </p:spTree>
    <p:extLst>
      <p:ext uri="{BB962C8B-B14F-4D97-AF65-F5344CB8AC3E}">
        <p14:creationId xmlns:p14="http://schemas.microsoft.com/office/powerpoint/2010/main" val="987240763"/>
      </p:ext>
    </p:extLst>
  </p:cSld>
</p:sld>
</file>

<file path=ppt/slides/slide7.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B166E90-B6BD-4049-81D5-FA998C3EB090}"/>
              </a:ext>
            </a:extLst>
          </p:cNvPr>
          <p:cNvSpPr>
            <a:spLocks xmlns:a="http://schemas.openxmlformats.org/drawingml/2006/main" noGrp="1"/>
          </p:cNvSpPr>
          <p:nvPr/>
        </p:nvSpPr>
        <p:spPr>
          <a:xfrm xmlns:a="http://schemas.openxmlformats.org/drawingml/2006/main">
            <a:off x="704850" y="457200"/>
            <a:ext cx="10668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225" b="1">
                <a:solidFill>
                  <a:srgbClr val="152323"/>
                </a:solidFill>
                <a:latin typeface="Arial"/>
                <a:ea typeface="Arial"/>
                <a:cs typeface="Arial"/>
              </a:defRPr>
            </a:defPPr>
          </a:lstStyle>
          <a:p xmlns:a="http://schemas.openxmlformats.org/drawingml/2006/main">
            <a:pPr algn="l">
              <a:defRPr sz="3225" b="1">
                <a:solidFill>
                  <a:srgbClr val="152323"/>
                </a:solidFill>
                <a:latin typeface="Arial"/>
                <a:ea typeface="Arial"/>
                <a:cs typeface="Arial"/>
              </a:defRPr>
            </a:pPr>
            <a:r>
              <a:rPr sz="3225" b="1">
                <a:solidFill>
                  <a:srgbClr val="152323"/>
                </a:solidFill>
                <a:latin typeface="Arial"/>
                <a:ea typeface="Arial"/>
                <a:cs typeface="Arial"/>
              </a:rPr>
              <a:t>Technical depth: preserving evidence</a:t>
            </a:r>
          </a:p>
        </p:txBody>
      </p:sp>
      <p:sp>
        <p:nvSpPr>
          <p:cNvPr id="2" name="">
            <a:extLst xmlns:a="http://schemas.openxmlformats.org/drawingml/2006/main">
              <a:ext uri="{FF2B5EF4-FFF2-40B4-BE49-F238E27FC236}">
                <a16:creationId xmlns:a16="http://schemas.microsoft.com/office/drawing/2014/main" id="{5A0AB0C6-1570-4211-BF01-CC55FCF1D751}"/>
              </a:ext>
            </a:extLst>
          </p:cNvPr>
          <p:cNvSpPr>
            <a:spLocks xmlns:a="http://schemas.openxmlformats.org/drawingml/2006/main" noGrp="1"/>
          </p:cNvSpPr>
          <p:nvPr/>
        </p:nvSpPr>
        <p:spPr>
          <a:xfrm xmlns:a="http://schemas.openxmlformats.org/drawingml/2006/main">
            <a:off x="723900" y="1247775"/>
            <a:ext cx="10744200" cy="9525"/>
          </a:xfrm>
          <a:prstGeom xmlns:a="http://schemas.openxmlformats.org/drawingml/2006/main" prst="rect">
            <a:avLst/>
          </a:prstGeom>
          <a:solidFill xmlns:a="http://schemas.openxmlformats.org/drawingml/2006/main">
            <a:srgbClr val="B7C4BF"/>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2578BD1-1DCE-4D78-915F-6005D29C7958}"/>
              </a:ext>
            </a:extLst>
          </p:cNvPr>
          <p:cNvSpPr>
            <a:spLocks xmlns:a="http://schemas.openxmlformats.org/drawingml/2006/main" noGrp="1"/>
          </p:cNvSpPr>
          <p:nvPr/>
        </p:nvSpPr>
        <p:spPr>
          <a:xfrm xmlns:a="http://schemas.openxmlformats.org/drawingml/2006/main">
            <a:off x="723900" y="6400800"/>
            <a:ext cx="419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975" b="1">
                <a:solidFill>
                  <a:srgbClr val="556363"/>
                </a:solidFill>
                <a:latin typeface="Arial"/>
                <a:ea typeface="Arial"/>
                <a:cs typeface="Arial"/>
              </a:defRPr>
            </a:defPPr>
          </a:lstStyle>
          <a:p xmlns:a="http://schemas.openxmlformats.org/drawingml/2006/main">
            <a:pPr algn="l">
              <a:defRPr sz="975" b="1">
                <a:solidFill>
                  <a:srgbClr val="556363"/>
                </a:solidFill>
                <a:latin typeface="Arial"/>
                <a:ea typeface="Arial"/>
                <a:cs typeface="Arial"/>
              </a:defRPr>
            </a:pPr>
            <a:r>
              <a:rPr sz="975" b="1">
                <a:solidFill>
                  <a:srgbClr val="556363"/>
                </a:solidFill>
                <a:latin typeface="Arial"/>
                <a:ea typeface="Arial"/>
                <a:cs typeface="Arial"/>
              </a:rPr>
              <a:t>FRAMELESS  /  SWPP MIDTERM 2026</a:t>
            </a:r>
          </a:p>
        </p:txBody>
      </p:sp>
      <p:sp>
        <p:nvSpPr>
          <p:cNvPr id="4" name="">
            <a:extLst xmlns:a="http://schemas.openxmlformats.org/drawingml/2006/main">
              <a:ext uri="{FF2B5EF4-FFF2-40B4-BE49-F238E27FC236}">
                <a16:creationId xmlns:a16="http://schemas.microsoft.com/office/drawing/2014/main" id="{C4B2188C-5068-4EED-AD88-0AFC5514FFDA}"/>
              </a:ext>
            </a:extLst>
          </p:cNvPr>
          <p:cNvSpPr>
            <a:spLocks xmlns:a="http://schemas.openxmlformats.org/drawingml/2006/main" noGrp="1"/>
          </p:cNvSpPr>
          <p:nvPr/>
        </p:nvSpPr>
        <p:spPr>
          <a:xfrm xmlns:a="http://schemas.openxmlformats.org/drawingml/2006/main">
            <a:off x="10582275"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975" b="1">
                <a:solidFill>
                  <a:srgbClr val="556363"/>
                </a:solidFill>
                <a:latin typeface="Arial"/>
                <a:ea typeface="Arial"/>
                <a:cs typeface="Arial"/>
              </a:defRPr>
            </a:defPPr>
          </a:lstStyle>
          <a:p xmlns:a="http://schemas.openxmlformats.org/drawingml/2006/main">
            <a:pPr algn="r">
              <a:defRPr sz="975" b="1">
                <a:solidFill>
                  <a:srgbClr val="556363"/>
                </a:solidFill>
                <a:latin typeface="Arial"/>
                <a:ea typeface="Arial"/>
                <a:cs typeface="Arial"/>
              </a:defRPr>
            </a:pPr>
            <a:r>
              <a:rPr sz="975" b="1">
                <a:solidFill>
                  <a:srgbClr val="556363"/>
                </a:solidFill>
                <a:latin typeface="Arial"/>
                <a:ea typeface="Arial"/>
                <a:cs typeface="Arial"/>
              </a:rPr>
              <a:t>07 / 11</a:t>
            </a:r>
          </a:p>
        </p:txBody>
      </p:sp>
      <p:sp>
        <p:nvSpPr>
          <p:cNvPr id="5" name="">
            <a:extLst xmlns:a="http://schemas.openxmlformats.org/drawingml/2006/main">
              <a:ext uri="{FF2B5EF4-FFF2-40B4-BE49-F238E27FC236}">
                <a16:creationId xmlns:a16="http://schemas.microsoft.com/office/drawing/2014/main" id="{E2BAD285-F4D2-4948-9043-94101D01C03B}"/>
              </a:ext>
            </a:extLst>
          </p:cNvPr>
          <p:cNvSpPr>
            <a:spLocks xmlns:a="http://schemas.openxmlformats.org/drawingml/2006/main" noGrp="1"/>
          </p:cNvSpPr>
          <p:nvPr/>
        </p:nvSpPr>
        <p:spPr>
          <a:xfrm xmlns:a="http://schemas.openxmlformats.org/drawingml/2006/main">
            <a:off x="752475" y="1685925"/>
            <a:ext cx="47625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00" b="1">
                <a:solidFill>
                  <a:srgbClr val="A44937"/>
                </a:solidFill>
                <a:latin typeface="Arial"/>
                <a:ea typeface="Arial"/>
                <a:cs typeface="Arial"/>
              </a:defRPr>
            </a:defPPr>
          </a:lstStyle>
          <a:p xmlns:a="http://schemas.openxmlformats.org/drawingml/2006/main">
            <a:pPr algn="l">
              <a:defRPr sz="2100" b="1">
                <a:solidFill>
                  <a:srgbClr val="A44937"/>
                </a:solidFill>
                <a:latin typeface="Arial"/>
                <a:ea typeface="Arial"/>
                <a:cs typeface="Arial"/>
              </a:defRPr>
            </a:pPr>
            <a:r>
              <a:rPr sz="2100" b="1">
                <a:solidFill>
                  <a:srgbClr val="A44937"/>
                </a:solidFill>
                <a:latin typeface="Arial"/>
                <a:ea typeface="Arial"/>
                <a:cs typeface="Arial"/>
              </a:rPr>
              <a:t>The integration problem</a:t>
            </a:r>
          </a:p>
        </p:txBody>
      </p:sp>
      <p:sp>
        <p:nvSpPr>
          <p:cNvPr id="6" name="">
            <a:extLst xmlns:a="http://schemas.openxmlformats.org/drawingml/2006/main">
              <a:ext uri="{FF2B5EF4-FFF2-40B4-BE49-F238E27FC236}">
                <a16:creationId xmlns:a16="http://schemas.microsoft.com/office/drawing/2014/main" id="{1CA03877-8F94-47F5-954D-B1F3F69364A1}"/>
              </a:ext>
            </a:extLst>
          </p:cNvPr>
          <p:cNvSpPr>
            <a:spLocks xmlns:a="http://schemas.openxmlformats.org/drawingml/2006/main" noGrp="1"/>
          </p:cNvSpPr>
          <p:nvPr/>
        </p:nvSpPr>
        <p:spPr>
          <a:xfrm xmlns:a="http://schemas.openxmlformats.org/drawingml/2006/main">
            <a:off x="752475" y="2238375"/>
            <a:ext cx="4733925" cy="2009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0">
                <a:solidFill>
                  <a:srgbClr val="152323"/>
                </a:solidFill>
                <a:latin typeface="Arial"/>
                <a:ea typeface="Arial"/>
                <a:cs typeface="Arial"/>
              </a:defRPr>
            </a:defPPr>
          </a:lstStyle>
          <a:p xmlns:a="http://schemas.openxmlformats.org/drawingml/2006/main">
            <a:pPr algn="l">
              <a:defRPr sz="1875" b="0">
                <a:solidFill>
                  <a:srgbClr val="152323"/>
                </a:solidFill>
                <a:latin typeface="Arial"/>
                <a:ea typeface="Arial"/>
                <a:cs typeface="Arial"/>
              </a:defRPr>
            </a:pPr>
            <a:r>
              <a:rPr sz="1875" b="0">
                <a:solidFill>
                  <a:srgbClr val="152323"/>
                </a:solidFill>
                <a:latin typeface="Arial"/>
                <a:ea typeface="Arial"/>
                <a:cs typeface="Arial"/>
              </a:rPr>
              <a:t>The Python v2 pipeline and Android UI used different result structures. A loose mapping could attach a quote to the wrong article or treat an unselected article as a missing claim.</a:t>
            </a:r>
          </a:p>
        </p:txBody>
      </p:sp>
      <p:sp>
        <p:nvSpPr>
          <p:cNvPr id="7" name="">
            <a:extLst xmlns:a="http://schemas.openxmlformats.org/drawingml/2006/main">
              <a:ext uri="{FF2B5EF4-FFF2-40B4-BE49-F238E27FC236}">
                <a16:creationId xmlns:a16="http://schemas.microsoft.com/office/drawing/2014/main" id="{3B4A5DB6-576E-46E9-8E83-484F81D63A11}"/>
              </a:ext>
            </a:extLst>
          </p:cNvPr>
          <p:cNvSpPr>
            <a:spLocks xmlns:a="http://schemas.openxmlformats.org/drawingml/2006/main" noGrp="1"/>
          </p:cNvSpPr>
          <p:nvPr/>
        </p:nvSpPr>
        <p:spPr>
          <a:xfrm xmlns:a="http://schemas.openxmlformats.org/drawingml/2006/main">
            <a:off x="5981700" y="1628775"/>
            <a:ext cx="5467350" cy="3619500"/>
          </a:xfrm>
          <a:prstGeom xmlns:a="http://schemas.openxmlformats.org/drawingml/2006/main" prst="roundRect">
            <a:avLst>
              <a:gd name="adj" fmla="val 2105"/>
            </a:avLst>
          </a:prstGeom>
          <a:solidFill xmlns:a="http://schemas.openxmlformats.org/drawingml/2006/main">
            <a:srgbClr val="DDEFE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C739143-2E4F-4C50-BD88-DB7D260BF654}"/>
              </a:ext>
            </a:extLst>
          </p:cNvPr>
          <p:cNvSpPr>
            <a:spLocks xmlns:a="http://schemas.openxmlformats.org/drawingml/2006/main" noGrp="1"/>
          </p:cNvSpPr>
          <p:nvPr/>
        </p:nvSpPr>
        <p:spPr>
          <a:xfrm xmlns:a="http://schemas.openxmlformats.org/drawingml/2006/main">
            <a:off x="6248400" y="1857375"/>
            <a:ext cx="46863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00" b="1">
                <a:solidFill>
                  <a:srgbClr val="007E72"/>
                </a:solidFill>
                <a:latin typeface="Arial"/>
                <a:ea typeface="Arial"/>
                <a:cs typeface="Arial"/>
              </a:defRPr>
            </a:defPPr>
          </a:lstStyle>
          <a:p xmlns:a="http://schemas.openxmlformats.org/drawingml/2006/main">
            <a:pPr algn="l">
              <a:defRPr sz="2100" b="1">
                <a:solidFill>
                  <a:srgbClr val="007E72"/>
                </a:solidFill>
                <a:latin typeface="Arial"/>
                <a:ea typeface="Arial"/>
                <a:cs typeface="Arial"/>
              </a:defRPr>
            </a:pPr>
            <a:r>
              <a:rPr sz="2100" b="1">
                <a:solidFill>
                  <a:srgbClr val="007E72"/>
                </a:solidFill>
                <a:latin typeface="Arial"/>
                <a:ea typeface="Arial"/>
                <a:cs typeface="Arial"/>
              </a:rPr>
              <a:t>Our contract keeps</a:t>
            </a:r>
          </a:p>
        </p:txBody>
      </p:sp>
      <p:sp>
        <p:nvSpPr>
          <p:cNvPr id="9" name="">
            <a:extLst xmlns:a="http://schemas.openxmlformats.org/drawingml/2006/main">
              <a:ext uri="{FF2B5EF4-FFF2-40B4-BE49-F238E27FC236}">
                <a16:creationId xmlns:a16="http://schemas.microsoft.com/office/drawing/2014/main" id="{769F4ECF-6D98-463D-B2AE-4C4BB3FF89A4}"/>
              </a:ext>
            </a:extLst>
          </p:cNvPr>
          <p:cNvSpPr>
            <a:spLocks xmlns:a="http://schemas.openxmlformats.org/drawingml/2006/main" noGrp="1"/>
          </p:cNvSpPr>
          <p:nvPr/>
        </p:nvSpPr>
        <p:spPr>
          <a:xfrm xmlns:a="http://schemas.openxmlformats.org/drawingml/2006/main">
            <a:off x="6248400" y="2486025"/>
            <a:ext cx="4848225" cy="2324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152323"/>
                </a:solidFill>
                <a:latin typeface="Arial"/>
                <a:ea typeface="Arial"/>
                <a:cs typeface="Arial"/>
              </a:defRPr>
            </a:defPPr>
          </a:lstStyle>
          <a:p xmlns:a="http://schemas.openxmlformats.org/drawingml/2006/main">
            <a:pPr algn="l">
              <a:defRPr sz="1800" b="0">
                <a:solidFill>
                  <a:srgbClr val="152323"/>
                </a:solidFill>
                <a:latin typeface="Arial"/>
                <a:ea typeface="Arial"/>
                <a:cs typeface="Arial"/>
              </a:defRPr>
            </a:pPr>
            <a:r>
              <a:rPr sz="1800" b="0">
                <a:solidFill>
                  <a:srgbClr val="152323"/>
                </a:solidFill>
                <a:latin typeface="Arial"/>
                <a:ea typeface="Arial"/>
                <a:cs typeface="Arial"/>
              </a:rPr>
              <a:t>Stable article and claim IDs</a:t>
            </a:r>
          </a:p>
          <a:p xmlns:a="http://schemas.openxmlformats.org/drawingml/2006/main">
            <a:pPr algn="l">
              <a:defRPr sz="1800" b="0">
                <a:solidFill>
                  <a:srgbClr val="152323"/>
                </a:solidFill>
                <a:latin typeface="Arial"/>
                <a:ea typeface="Arial"/>
                <a:cs typeface="Arial"/>
              </a:defRPr>
            </a:pPr>
            <a:r>
              <a:rPr sz="1800" b="0">
                <a:solidFill>
                  <a:srgbClr val="152323"/>
                </a:solidFill>
                <a:latin typeface="Arial"/>
                <a:ea typeface="Arial"/>
                <a:cs typeface="Arial"/>
              </a:rPr>
              <a:t>Exact quoted span and source URL</a:t>
            </a:r>
          </a:p>
          <a:p xmlns:a="http://schemas.openxmlformats.org/drawingml/2006/main">
            <a:pPr algn="l">
              <a:defRPr sz="1800" b="0">
                <a:solidFill>
                  <a:srgbClr val="152323"/>
                </a:solidFill>
                <a:latin typeface="Arial"/>
                <a:ea typeface="Arial"/>
                <a:cs typeface="Arial"/>
              </a:defRPr>
            </a:pPr>
            <a:r>
              <a:rPr sz="1800" b="0">
                <a:solidFill>
                  <a:srgbClr val="152323"/>
                </a:solidFill>
                <a:latin typeface="Arial"/>
                <a:ea typeface="Arial"/>
                <a:cs typeface="Arial"/>
              </a:rPr>
              <a:t>Relation and speaker attribution</a:t>
            </a:r>
          </a:p>
          <a:p xmlns:a="http://schemas.openxmlformats.org/drawingml/2006/main">
            <a:pPr algn="l">
              <a:defRPr sz="1800" b="0">
                <a:solidFill>
                  <a:srgbClr val="152323"/>
                </a:solidFill>
                <a:latin typeface="Arial"/>
                <a:ea typeface="Arial"/>
                <a:cs typeface="Arial"/>
              </a:defRPr>
            </a:pPr>
            <a:r>
              <a:rPr sz="1800" b="0">
                <a:solidFill>
                  <a:srgbClr val="152323"/>
                </a:solidFill>
                <a:latin typeface="Arial"/>
                <a:ea typeface="Arial"/>
                <a:cs typeface="Arial"/>
              </a:rPr>
              <a:t>Available, partial, or unavailable state</a:t>
            </a:r>
          </a:p>
        </p:txBody>
      </p:sp>
      <p:sp>
        <p:nvSpPr>
          <p:cNvPr id="10" name="">
            <a:extLst xmlns:a="http://schemas.openxmlformats.org/drawingml/2006/main">
              <a:ext uri="{FF2B5EF4-FFF2-40B4-BE49-F238E27FC236}">
                <a16:creationId xmlns:a16="http://schemas.microsoft.com/office/drawing/2014/main" id="{ABBD4E60-3D25-4332-B796-8877490DBD86}"/>
              </a:ext>
            </a:extLst>
          </p:cNvPr>
          <p:cNvSpPr>
            <a:spLocks xmlns:a="http://schemas.openxmlformats.org/drawingml/2006/main" noGrp="1"/>
          </p:cNvSpPr>
          <p:nvPr/>
        </p:nvSpPr>
        <p:spPr>
          <a:xfrm xmlns:a="http://schemas.openxmlformats.org/drawingml/2006/main">
            <a:off x="762000" y="5553075"/>
            <a:ext cx="10648950" cy="19050"/>
          </a:xfrm>
          <a:prstGeom xmlns:a="http://schemas.openxmlformats.org/drawingml/2006/main" prst="rect">
            <a:avLst/>
          </a:prstGeom>
          <a:solidFill xmlns:a="http://schemas.openxmlformats.org/drawingml/2006/main">
            <a:srgbClr val="B7C4B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5BF82B9-B487-4855-8AB4-3ED944EB011B}"/>
              </a:ext>
            </a:extLst>
          </p:cNvPr>
          <p:cNvSpPr>
            <a:spLocks xmlns:a="http://schemas.openxmlformats.org/drawingml/2006/main" noGrp="1"/>
          </p:cNvSpPr>
          <p:nvPr/>
        </p:nvSpPr>
        <p:spPr>
          <a:xfrm xmlns:a="http://schemas.openxmlformats.org/drawingml/2006/main">
            <a:off x="762000" y="5715000"/>
            <a:ext cx="105727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00" b="1">
                <a:solidFill>
                  <a:srgbClr val="556363"/>
                </a:solidFill>
                <a:latin typeface="Arial"/>
                <a:ea typeface="Arial"/>
                <a:cs typeface="Arial"/>
              </a:defRPr>
            </a:defPPr>
          </a:lstStyle>
          <a:p xmlns:a="http://schemas.openxmlformats.org/drawingml/2006/main">
            <a:pPr algn="l">
              <a:defRPr sz="1500" b="1">
                <a:solidFill>
                  <a:srgbClr val="556363"/>
                </a:solidFill>
                <a:latin typeface="Arial"/>
                <a:ea typeface="Arial"/>
                <a:cs typeface="Arial"/>
              </a:defRPr>
            </a:pPr>
            <a:r>
              <a:rPr sz="1500" b="1">
                <a:solidFill>
                  <a:srgbClr val="556363"/>
                </a:solidFill>
                <a:latin typeface="Arial"/>
                <a:ea typeface="Arial"/>
                <a:cs typeface="Arial"/>
              </a:rPr>
              <a:t>18 Oct local baseline: offline suites and a synthetic-response emulator walkthrough passed. Live v2 remains pending.</a:t>
            </a:r>
          </a:p>
        </p:txBody>
      </p:sp>
    </p:spTree>
    <p:extLst>
      <p:ext uri="{BB962C8B-B14F-4D97-AF65-F5344CB8AC3E}">
        <p14:creationId xmlns:p14="http://schemas.microsoft.com/office/powerpoint/2010/main" val="905262459"/>
      </p:ext>
    </p:extLst>
  </p:cSld>
</p:sld>
</file>

<file path=ppt/slides/slide8.xml><?xml version="1.0" encoding="utf-8"?>
<p:sld xmlns:p="http://schemas.openxmlformats.org/presentationml/2006/main">
  <p:cSld>
    <p:bg>
      <p:bgPr>
        <a:solidFill xmlns:a="http://schemas.openxmlformats.org/drawingml/2006/main">
          <a:srgbClr val="152323"/>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9596F54-6F55-4944-889E-B03960F4252E}"/>
              </a:ext>
            </a:extLst>
          </p:cNvPr>
          <p:cNvSpPr>
            <a:spLocks xmlns:a="http://schemas.openxmlformats.org/drawingml/2006/main" noGrp="1"/>
          </p:cNvSpPr>
          <p:nvPr/>
        </p:nvSpPr>
        <p:spPr>
          <a:xfrm xmlns:a="http://schemas.openxmlformats.org/drawingml/2006/main">
            <a:off x="704850" y="457200"/>
            <a:ext cx="10668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225" b="1">
                <a:solidFill>
                  <a:srgbClr val="FFFFFF"/>
                </a:solidFill>
                <a:latin typeface="Arial"/>
                <a:ea typeface="Arial"/>
                <a:cs typeface="Arial"/>
              </a:defRPr>
            </a:defPPr>
          </a:lstStyle>
          <a:p xmlns:a="http://schemas.openxmlformats.org/drawingml/2006/main">
            <a:pPr algn="l">
              <a:defRPr sz="3225" b="1">
                <a:solidFill>
                  <a:srgbClr val="FFFFFF"/>
                </a:solidFill>
                <a:latin typeface="Arial"/>
                <a:ea typeface="Arial"/>
                <a:cs typeface="Arial"/>
              </a:defRPr>
            </a:pPr>
            <a:r>
              <a:rPr sz="3225" b="1">
                <a:solidFill>
                  <a:srgbClr val="FFFFFF"/>
                </a:solidFill>
                <a:latin typeface="Arial"/>
                <a:ea typeface="Arial"/>
                <a:cs typeface="Arial"/>
              </a:rPr>
              <a:t>Demo: follow one claim to its source</a:t>
            </a:r>
          </a:p>
        </p:txBody>
      </p:sp>
      <p:sp>
        <p:nvSpPr>
          <p:cNvPr id="2" name="">
            <a:extLst xmlns:a="http://schemas.openxmlformats.org/drawingml/2006/main">
              <a:ext uri="{FF2B5EF4-FFF2-40B4-BE49-F238E27FC236}">
                <a16:creationId xmlns:a16="http://schemas.microsoft.com/office/drawing/2014/main" id="{FA0824DD-D405-4861-A1BE-C06719B65096}"/>
              </a:ext>
            </a:extLst>
          </p:cNvPr>
          <p:cNvSpPr>
            <a:spLocks xmlns:a="http://schemas.openxmlformats.org/drawingml/2006/main" noGrp="1"/>
          </p:cNvSpPr>
          <p:nvPr/>
        </p:nvSpPr>
        <p:spPr>
          <a:xfrm xmlns:a="http://schemas.openxmlformats.org/drawingml/2006/main">
            <a:off x="723900" y="1247775"/>
            <a:ext cx="10744200" cy="9525"/>
          </a:xfrm>
          <a:prstGeom xmlns:a="http://schemas.openxmlformats.org/drawingml/2006/main" prst="rect">
            <a:avLst/>
          </a:prstGeom>
          <a:solidFill xmlns:a="http://schemas.openxmlformats.org/drawingml/2006/main">
            <a:srgbClr val="45625B"/>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D63FB22-B718-4E53-B7B5-A2AEA728FA99}"/>
              </a:ext>
            </a:extLst>
          </p:cNvPr>
          <p:cNvSpPr>
            <a:spLocks xmlns:a="http://schemas.openxmlformats.org/drawingml/2006/main" noGrp="1"/>
          </p:cNvSpPr>
          <p:nvPr/>
        </p:nvSpPr>
        <p:spPr>
          <a:xfrm xmlns:a="http://schemas.openxmlformats.org/drawingml/2006/main">
            <a:off x="723900" y="6400800"/>
            <a:ext cx="419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975" b="1">
                <a:solidFill>
                  <a:srgbClr val="DAE5E0"/>
                </a:solidFill>
                <a:latin typeface="Arial"/>
                <a:ea typeface="Arial"/>
                <a:cs typeface="Arial"/>
              </a:defRPr>
            </a:defPPr>
          </a:lstStyle>
          <a:p xmlns:a="http://schemas.openxmlformats.org/drawingml/2006/main">
            <a:pPr algn="l">
              <a:defRPr sz="975" b="1">
                <a:solidFill>
                  <a:srgbClr val="DAE5E0"/>
                </a:solidFill>
                <a:latin typeface="Arial"/>
                <a:ea typeface="Arial"/>
                <a:cs typeface="Arial"/>
              </a:defRPr>
            </a:pPr>
            <a:r>
              <a:rPr sz="975" b="1">
                <a:solidFill>
                  <a:srgbClr val="DAE5E0"/>
                </a:solidFill>
                <a:latin typeface="Arial"/>
                <a:ea typeface="Arial"/>
                <a:cs typeface="Arial"/>
              </a:rPr>
              <a:t>FRAMELESS  /  SWPP MIDTERM 2026</a:t>
            </a:r>
          </a:p>
        </p:txBody>
      </p:sp>
      <p:sp>
        <p:nvSpPr>
          <p:cNvPr id="4" name="">
            <a:extLst xmlns:a="http://schemas.openxmlformats.org/drawingml/2006/main">
              <a:ext uri="{FF2B5EF4-FFF2-40B4-BE49-F238E27FC236}">
                <a16:creationId xmlns:a16="http://schemas.microsoft.com/office/drawing/2014/main" id="{75FC28FF-AB61-4B93-BB42-EE829EB5FDAF}"/>
              </a:ext>
            </a:extLst>
          </p:cNvPr>
          <p:cNvSpPr>
            <a:spLocks xmlns:a="http://schemas.openxmlformats.org/drawingml/2006/main" noGrp="1"/>
          </p:cNvSpPr>
          <p:nvPr/>
        </p:nvSpPr>
        <p:spPr>
          <a:xfrm xmlns:a="http://schemas.openxmlformats.org/drawingml/2006/main">
            <a:off x="10582275"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975" b="1">
                <a:solidFill>
                  <a:srgbClr val="DAE5E0"/>
                </a:solidFill>
                <a:latin typeface="Arial"/>
                <a:ea typeface="Arial"/>
                <a:cs typeface="Arial"/>
              </a:defRPr>
            </a:defPPr>
          </a:lstStyle>
          <a:p xmlns:a="http://schemas.openxmlformats.org/drawingml/2006/main">
            <a:pPr algn="r">
              <a:defRPr sz="975" b="1">
                <a:solidFill>
                  <a:srgbClr val="DAE5E0"/>
                </a:solidFill>
                <a:latin typeface="Arial"/>
                <a:ea typeface="Arial"/>
                <a:cs typeface="Arial"/>
              </a:defRPr>
            </a:pPr>
            <a:r>
              <a:rPr sz="975" b="1">
                <a:solidFill>
                  <a:srgbClr val="DAE5E0"/>
                </a:solidFill>
                <a:latin typeface="Arial"/>
                <a:ea typeface="Arial"/>
                <a:cs typeface="Arial"/>
              </a:rPr>
              <a:t>08 / 11</a:t>
            </a:r>
          </a:p>
        </p:txBody>
      </p:sp>
      <p:pic>
        <p:nvPicPr>
          <p:cNvPr id="5" name="">
            <a:extLst xmlns:a="http://schemas.openxmlformats.org/drawingml/2006/main">
              <a:ext uri="{FF2B5EF4-FFF2-40B4-BE49-F238E27FC236}">
                <a16:creationId xmlns:a16="http://schemas.microsoft.com/office/drawing/2014/main" id="{0DAAA12A-E111-4F33-AAD8-458C72924579}"/>
              </a:ext>
            </a:extLst>
          </p:cNvPr>
          <p:cNvPicPr>
            <a:picLocks xmlns:a="http://schemas.openxmlformats.org/drawingml/2006/main" noChangeAspect="1"/>
          </p:cNvPicPr>
          <p:nvPr/>
        </p:nvPicPr>
        <p:blipFill>
          <a:blip xmlns:r="http://schemas.openxmlformats.org/officeDocument/2006/relationships" xmlns:a="http://schemas.openxmlformats.org/drawingml/2006/main" r:embed="R4c1c637c3f6b4ce1"/>
          <a:stretch xmlns:a="http://schemas.openxmlformats.org/drawingml/2006/main"/>
        </p:blipFill>
        <p:spPr>
          <a:xfrm xmlns:a="http://schemas.openxmlformats.org/drawingml/2006/main">
            <a:off x="1335167" y="1476375"/>
            <a:ext cx="2130266" cy="47339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7C1E0CE-0B75-4A1D-8340-7AAAEFF52037}"/>
              </a:ext>
            </a:extLst>
          </p:cNvPr>
          <p:cNvSpPr>
            <a:spLocks xmlns:a="http://schemas.openxmlformats.org/drawingml/2006/main" noGrp="1"/>
          </p:cNvSpPr>
          <p:nvPr/>
        </p:nvSpPr>
        <p:spPr>
          <a:xfrm xmlns:a="http://schemas.openxmlformats.org/drawingml/2006/main">
            <a:off x="4343400" y="1657350"/>
            <a:ext cx="3381375" cy="333375"/>
          </a:xfrm>
          <a:prstGeom xmlns:a="http://schemas.openxmlformats.org/drawingml/2006/main" prst="roundRect">
            <a:avLst>
              <a:gd name="adj" fmla="val 22857"/>
            </a:avLst>
          </a:prstGeom>
          <a:solidFill xmlns:a="http://schemas.openxmlformats.org/drawingml/2006/main">
            <a:srgbClr val="F6D66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7AB4303-6F8F-4B3F-975A-265E761AACFC}"/>
              </a:ext>
            </a:extLst>
          </p:cNvPr>
          <p:cNvSpPr>
            <a:spLocks xmlns:a="http://schemas.openxmlformats.org/drawingml/2006/main" noGrp="1"/>
          </p:cNvSpPr>
          <p:nvPr/>
        </p:nvSpPr>
        <p:spPr>
          <a:xfrm xmlns:a="http://schemas.openxmlformats.org/drawingml/2006/main">
            <a:off x="4448175" y="1666875"/>
            <a:ext cx="31718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00" b="1">
                <a:solidFill>
                  <a:srgbClr val="152323"/>
                </a:solidFill>
                <a:latin typeface="Arial"/>
                <a:ea typeface="Arial"/>
                <a:cs typeface="Arial"/>
              </a:defRPr>
            </a:defPPr>
          </a:lstStyle>
          <a:p xmlns:a="http://schemas.openxmlformats.org/drawingml/2006/main">
            <a:pPr algn="l">
              <a:defRPr sz="1200" b="1">
                <a:solidFill>
                  <a:srgbClr val="152323"/>
                </a:solidFill>
                <a:latin typeface="Arial"/>
                <a:ea typeface="Arial"/>
                <a:cs typeface="Arial"/>
              </a:defRPr>
            </a:pPr>
            <a:r>
              <a:rPr sz="1200" b="1">
                <a:solidFill>
                  <a:srgbClr val="152323"/>
                </a:solidFill>
                <a:latin typeface="Arial"/>
                <a:ea typeface="Arial"/>
                <a:cs typeface="Arial"/>
              </a:rPr>
              <a:t>SYNTHETIC V2 UI PREVIEW</a:t>
            </a:r>
          </a:p>
        </p:txBody>
      </p:sp>
      <p:sp>
        <p:nvSpPr>
          <p:cNvPr id="8" name="">
            <a:extLst xmlns:a="http://schemas.openxmlformats.org/drawingml/2006/main">
              <a:ext uri="{FF2B5EF4-FFF2-40B4-BE49-F238E27FC236}">
                <a16:creationId xmlns:a16="http://schemas.microsoft.com/office/drawing/2014/main" id="{0E112E63-C12E-4388-8746-19DBC77A9413}"/>
              </a:ext>
            </a:extLst>
          </p:cNvPr>
          <p:cNvSpPr>
            <a:spLocks xmlns:a="http://schemas.openxmlformats.org/drawingml/2006/main" noGrp="1"/>
          </p:cNvSpPr>
          <p:nvPr/>
        </p:nvSpPr>
        <p:spPr>
          <a:xfrm xmlns:a="http://schemas.openxmlformats.org/drawingml/2006/main">
            <a:off x="4324350" y="2286000"/>
            <a:ext cx="6677025"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700" b="1">
                <a:solidFill>
                  <a:srgbClr val="FFFFFF"/>
                </a:solidFill>
                <a:latin typeface="Arial"/>
                <a:ea typeface="Arial"/>
                <a:cs typeface="Arial"/>
              </a:defRPr>
            </a:defPPr>
          </a:lstStyle>
          <a:p xmlns:a="http://schemas.openxmlformats.org/drawingml/2006/main">
            <a:pPr algn="l">
              <a:defRPr sz="2700" b="1">
                <a:solidFill>
                  <a:srgbClr val="FFFFFF"/>
                </a:solidFill>
                <a:latin typeface="Arial"/>
                <a:ea typeface="Arial"/>
                <a:cs typeface="Arial"/>
              </a:defRPr>
            </a:pPr>
            <a:r>
              <a:rPr sz="2700" b="1">
                <a:solidFill>
                  <a:srgbClr val="FFFFFF"/>
                </a:solidFill>
                <a:latin typeface="Arial"/>
                <a:ea typeface="Arial"/>
                <a:cs typeface="Arial"/>
              </a:rPr>
              <a:t>Live walkthrough video</a:t>
            </a:r>
          </a:p>
        </p:txBody>
      </p:sp>
      <p:sp>
        <p:nvSpPr>
          <p:cNvPr id="9" name="">
            <a:extLst xmlns:a="http://schemas.openxmlformats.org/drawingml/2006/main">
              <a:ext uri="{FF2B5EF4-FFF2-40B4-BE49-F238E27FC236}">
                <a16:creationId xmlns:a16="http://schemas.microsoft.com/office/drawing/2014/main" id="{09D30E50-2D37-4DAD-8F6B-F41217EB410F}"/>
              </a:ext>
            </a:extLst>
          </p:cNvPr>
          <p:cNvSpPr>
            <a:spLocks xmlns:a="http://schemas.openxmlformats.org/drawingml/2006/main" noGrp="1"/>
          </p:cNvSpPr>
          <p:nvPr/>
        </p:nvSpPr>
        <p:spPr>
          <a:xfrm xmlns:a="http://schemas.openxmlformats.org/drawingml/2006/main">
            <a:off x="4333875" y="3076575"/>
            <a:ext cx="6638925"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DAE5E0"/>
                </a:solidFill>
                <a:latin typeface="Arial"/>
                <a:ea typeface="Arial"/>
                <a:cs typeface="Arial"/>
              </a:defRPr>
            </a:defPPr>
          </a:lstStyle>
          <a:p xmlns:a="http://schemas.openxmlformats.org/drawingml/2006/main">
            <a:pPr algn="l">
              <a:defRPr sz="1950" b="0">
                <a:solidFill>
                  <a:srgbClr val="DAE5E0"/>
                </a:solidFill>
                <a:latin typeface="Arial"/>
                <a:ea typeface="Arial"/>
                <a:cs typeface="Arial"/>
              </a:defRPr>
            </a:pPr>
            <a:r>
              <a:rPr sz="1950" b="0">
                <a:solidFill>
                  <a:srgbClr val="DAE5E0"/>
                </a:solidFill>
                <a:latin typeface="Arial"/>
                <a:ea typeface="Arial"/>
                <a:cs typeface="Arial"/>
              </a:rPr>
              <a:t>Pending a configured NAVER/Gemini run and evidence review.</a:t>
            </a:r>
          </a:p>
        </p:txBody>
      </p:sp>
      <p:sp>
        <p:nvSpPr>
          <p:cNvPr id="10" name="">
            <a:extLst xmlns:a="http://schemas.openxmlformats.org/drawingml/2006/main">
              <a:ext uri="{FF2B5EF4-FFF2-40B4-BE49-F238E27FC236}">
                <a16:creationId xmlns:a16="http://schemas.microsoft.com/office/drawing/2014/main" id="{28C8F5BB-93A8-49BB-8C5D-139364FE66F9}"/>
              </a:ext>
            </a:extLst>
          </p:cNvPr>
          <p:cNvSpPr>
            <a:spLocks xmlns:a="http://schemas.openxmlformats.org/drawingml/2006/main" noGrp="1"/>
          </p:cNvSpPr>
          <p:nvPr/>
        </p:nvSpPr>
        <p:spPr>
          <a:xfrm xmlns:a="http://schemas.openxmlformats.org/drawingml/2006/main">
            <a:off x="4343400" y="4219575"/>
            <a:ext cx="6515100" cy="19050"/>
          </a:xfrm>
          <a:prstGeom xmlns:a="http://schemas.openxmlformats.org/drawingml/2006/main" prst="rect">
            <a:avLst/>
          </a:prstGeom>
          <a:solidFill xmlns:a="http://schemas.openxmlformats.org/drawingml/2006/main">
            <a:srgbClr val="45625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B751B6A-A154-4D8F-B6BF-BF5651101A70}"/>
              </a:ext>
            </a:extLst>
          </p:cNvPr>
          <p:cNvSpPr>
            <a:spLocks xmlns:a="http://schemas.openxmlformats.org/drawingml/2006/main" noGrp="1"/>
          </p:cNvSpPr>
          <p:nvPr/>
        </p:nvSpPr>
        <p:spPr>
          <a:xfrm xmlns:a="http://schemas.openxmlformats.org/drawingml/2006/main">
            <a:off x="4343400" y="4495800"/>
            <a:ext cx="6477000" cy="1171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0">
                <a:solidFill>
                  <a:srgbClr val="FFFFFF"/>
                </a:solidFill>
                <a:latin typeface="Arial"/>
                <a:ea typeface="Arial"/>
                <a:cs typeface="Arial"/>
              </a:defRPr>
            </a:defPPr>
          </a:lstStyle>
          <a:p xmlns:a="http://schemas.openxmlformats.org/drawingml/2006/main">
            <a:pPr algn="l">
              <a:defRPr sz="1875" b="0">
                <a:solidFill>
                  <a:srgbClr val="FFFFFF"/>
                </a:solidFill>
                <a:latin typeface="Arial"/>
                <a:ea typeface="Arial"/>
                <a:cs typeface="Arial"/>
              </a:defRPr>
            </a:pPr>
            <a:r>
              <a:rPr sz="1875" b="0">
                <a:solidFill>
                  <a:srgbClr val="FFFFFF"/>
                </a:solidFill>
                <a:latin typeface="Arial"/>
                <a:ea typeface="Arial"/>
                <a:cs typeface="Arial"/>
              </a:rPr>
              <a:t>Planned clip: article URL → claim card → rubric item → original source page</a:t>
            </a:r>
          </a:p>
        </p:txBody>
      </p:sp>
    </p:spTree>
    <p:extLst>
      <p:ext uri="{BB962C8B-B14F-4D97-AF65-F5344CB8AC3E}">
        <p14:creationId xmlns:p14="http://schemas.microsoft.com/office/powerpoint/2010/main" val="1306997124"/>
      </p:ext>
    </p:extLst>
  </p:cSld>
</p:sld>
</file>

<file path=ppt/slides/slide9.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7C04982-E90C-4916-B1E5-CA3EDC3D72E0}"/>
              </a:ext>
            </a:extLst>
          </p:cNvPr>
          <p:cNvSpPr>
            <a:spLocks xmlns:a="http://schemas.openxmlformats.org/drawingml/2006/main" noGrp="1"/>
          </p:cNvSpPr>
          <p:nvPr/>
        </p:nvSpPr>
        <p:spPr>
          <a:xfrm xmlns:a="http://schemas.openxmlformats.org/drawingml/2006/main">
            <a:off x="704850" y="457200"/>
            <a:ext cx="10668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225" b="1">
                <a:solidFill>
                  <a:srgbClr val="152323"/>
                </a:solidFill>
                <a:latin typeface="Arial"/>
                <a:ea typeface="Arial"/>
                <a:cs typeface="Arial"/>
              </a:defRPr>
            </a:defPPr>
          </a:lstStyle>
          <a:p xmlns:a="http://schemas.openxmlformats.org/drawingml/2006/main">
            <a:pPr algn="l">
              <a:defRPr sz="3225" b="1">
                <a:solidFill>
                  <a:srgbClr val="152323"/>
                </a:solidFill>
                <a:latin typeface="Arial"/>
                <a:ea typeface="Arial"/>
                <a:cs typeface="Arial"/>
              </a:defRPr>
            </a:pPr>
            <a:r>
              <a:rPr sz="3225" b="1">
                <a:solidFill>
                  <a:srgbClr val="152323"/>
                </a:solidFill>
                <a:latin typeface="Arial"/>
                <a:ea typeface="Arial"/>
                <a:cs typeface="Arial"/>
              </a:rPr>
              <a:t>Team execution and integration status</a:t>
            </a:r>
          </a:p>
        </p:txBody>
      </p:sp>
      <p:sp>
        <p:nvSpPr>
          <p:cNvPr id="2" name="">
            <a:extLst xmlns:a="http://schemas.openxmlformats.org/drawingml/2006/main">
              <a:ext uri="{FF2B5EF4-FFF2-40B4-BE49-F238E27FC236}">
                <a16:creationId xmlns:a16="http://schemas.microsoft.com/office/drawing/2014/main" id="{211B8E43-4CE6-4DA8-9D94-4C552CD989D8}"/>
              </a:ext>
            </a:extLst>
          </p:cNvPr>
          <p:cNvSpPr>
            <a:spLocks xmlns:a="http://schemas.openxmlformats.org/drawingml/2006/main" noGrp="1"/>
          </p:cNvSpPr>
          <p:nvPr/>
        </p:nvSpPr>
        <p:spPr>
          <a:xfrm xmlns:a="http://schemas.openxmlformats.org/drawingml/2006/main">
            <a:off x="723900" y="1247775"/>
            <a:ext cx="10744200" cy="9525"/>
          </a:xfrm>
          <a:prstGeom xmlns:a="http://schemas.openxmlformats.org/drawingml/2006/main" prst="rect">
            <a:avLst/>
          </a:prstGeom>
          <a:solidFill xmlns:a="http://schemas.openxmlformats.org/drawingml/2006/main">
            <a:srgbClr val="B7C4BF"/>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1BAE896-AE73-4EB4-A525-B14AFFAFB744}"/>
              </a:ext>
            </a:extLst>
          </p:cNvPr>
          <p:cNvSpPr>
            <a:spLocks xmlns:a="http://schemas.openxmlformats.org/drawingml/2006/main" noGrp="1"/>
          </p:cNvSpPr>
          <p:nvPr/>
        </p:nvSpPr>
        <p:spPr>
          <a:xfrm xmlns:a="http://schemas.openxmlformats.org/drawingml/2006/main">
            <a:off x="723900" y="6400800"/>
            <a:ext cx="419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975" b="1">
                <a:solidFill>
                  <a:srgbClr val="556363"/>
                </a:solidFill>
                <a:latin typeface="Arial"/>
                <a:ea typeface="Arial"/>
                <a:cs typeface="Arial"/>
              </a:defRPr>
            </a:defPPr>
          </a:lstStyle>
          <a:p xmlns:a="http://schemas.openxmlformats.org/drawingml/2006/main">
            <a:pPr algn="l">
              <a:defRPr sz="975" b="1">
                <a:solidFill>
                  <a:srgbClr val="556363"/>
                </a:solidFill>
                <a:latin typeface="Arial"/>
                <a:ea typeface="Arial"/>
                <a:cs typeface="Arial"/>
              </a:defRPr>
            </a:pPr>
            <a:r>
              <a:rPr sz="975" b="1">
                <a:solidFill>
                  <a:srgbClr val="556363"/>
                </a:solidFill>
                <a:latin typeface="Arial"/>
                <a:ea typeface="Arial"/>
                <a:cs typeface="Arial"/>
              </a:rPr>
              <a:t>FRAMELESS  /  SWPP MIDTERM 2026</a:t>
            </a:r>
          </a:p>
        </p:txBody>
      </p:sp>
      <p:sp>
        <p:nvSpPr>
          <p:cNvPr id="4" name="">
            <a:extLst xmlns:a="http://schemas.openxmlformats.org/drawingml/2006/main">
              <a:ext uri="{FF2B5EF4-FFF2-40B4-BE49-F238E27FC236}">
                <a16:creationId xmlns:a16="http://schemas.microsoft.com/office/drawing/2014/main" id="{EDBD1FD1-9A3A-412E-A33B-0E2CD7B40A5D}"/>
              </a:ext>
            </a:extLst>
          </p:cNvPr>
          <p:cNvSpPr>
            <a:spLocks xmlns:a="http://schemas.openxmlformats.org/drawingml/2006/main" noGrp="1"/>
          </p:cNvSpPr>
          <p:nvPr/>
        </p:nvSpPr>
        <p:spPr>
          <a:xfrm xmlns:a="http://schemas.openxmlformats.org/drawingml/2006/main">
            <a:off x="10582275"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975" b="1">
                <a:solidFill>
                  <a:srgbClr val="556363"/>
                </a:solidFill>
                <a:latin typeface="Arial"/>
                <a:ea typeface="Arial"/>
                <a:cs typeface="Arial"/>
              </a:defRPr>
            </a:defPPr>
          </a:lstStyle>
          <a:p xmlns:a="http://schemas.openxmlformats.org/drawingml/2006/main">
            <a:pPr algn="r">
              <a:defRPr sz="975" b="1">
                <a:solidFill>
                  <a:srgbClr val="556363"/>
                </a:solidFill>
                <a:latin typeface="Arial"/>
                <a:ea typeface="Arial"/>
                <a:cs typeface="Arial"/>
              </a:defRPr>
            </a:pPr>
            <a:r>
              <a:rPr sz="975" b="1">
                <a:solidFill>
                  <a:srgbClr val="556363"/>
                </a:solidFill>
                <a:latin typeface="Arial"/>
                <a:ea typeface="Arial"/>
                <a:cs typeface="Arial"/>
              </a:rPr>
              <a:t>09 / 11</a:t>
            </a:r>
          </a:p>
        </p:txBody>
      </p:sp>
      <p:sp>
        <p:nvSpPr>
          <p:cNvPr id="5" name="">
            <a:extLst xmlns:a="http://schemas.openxmlformats.org/drawingml/2006/main">
              <a:ext uri="{FF2B5EF4-FFF2-40B4-BE49-F238E27FC236}">
                <a16:creationId xmlns:a16="http://schemas.microsoft.com/office/drawing/2014/main" id="{2E28F380-377B-44A5-AFEF-8BC2BC923D50}"/>
              </a:ext>
            </a:extLst>
          </p:cNvPr>
          <p:cNvSpPr>
            <a:spLocks xmlns:a="http://schemas.openxmlformats.org/drawingml/2006/main" noGrp="1"/>
          </p:cNvSpPr>
          <p:nvPr/>
        </p:nvSpPr>
        <p:spPr>
          <a:xfrm xmlns:a="http://schemas.openxmlformats.org/drawingml/2006/main">
            <a:off x="752475" y="1628775"/>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025" b="1">
                <a:solidFill>
                  <a:srgbClr val="152323"/>
                </a:solidFill>
                <a:latin typeface="Arial"/>
                <a:ea typeface="Arial"/>
                <a:cs typeface="Arial"/>
              </a:defRPr>
            </a:defPPr>
          </a:lstStyle>
          <a:p xmlns:a="http://schemas.openxmlformats.org/drawingml/2006/main">
            <a:pPr algn="l">
              <a:defRPr sz="2025" b="1">
                <a:solidFill>
                  <a:srgbClr val="152323"/>
                </a:solidFill>
                <a:latin typeface="Arial"/>
                <a:ea typeface="Arial"/>
                <a:cs typeface="Arial"/>
              </a:defRPr>
            </a:pPr>
            <a:r>
              <a:rPr sz="2025" b="1">
                <a:solidFill>
                  <a:srgbClr val="152323"/>
                </a:solidFill>
                <a:latin typeface="Arial"/>
                <a:ea typeface="Arial"/>
                <a:cs typeface="Arial"/>
              </a:rPr>
              <a:t>Seoyoung Do</a:t>
            </a:r>
          </a:p>
        </p:txBody>
      </p:sp>
      <p:sp>
        <p:nvSpPr>
          <p:cNvPr id="6" name="">
            <a:extLst xmlns:a="http://schemas.openxmlformats.org/drawingml/2006/main">
              <a:ext uri="{FF2B5EF4-FFF2-40B4-BE49-F238E27FC236}">
                <a16:creationId xmlns:a16="http://schemas.microsoft.com/office/drawing/2014/main" id="{3CEC4321-256E-4A98-B06E-9D50F49FBA81}"/>
              </a:ext>
            </a:extLst>
          </p:cNvPr>
          <p:cNvSpPr>
            <a:spLocks xmlns:a="http://schemas.openxmlformats.org/drawingml/2006/main" noGrp="1"/>
          </p:cNvSpPr>
          <p:nvPr/>
        </p:nvSpPr>
        <p:spPr>
          <a:xfrm xmlns:a="http://schemas.openxmlformats.org/drawingml/2006/main">
            <a:off x="3819525" y="1628775"/>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1">
                <a:solidFill>
                  <a:srgbClr val="007E72"/>
                </a:solidFill>
                <a:latin typeface="Arial"/>
                <a:ea typeface="Arial"/>
                <a:cs typeface="Arial"/>
              </a:defRPr>
            </a:defPPr>
          </a:lstStyle>
          <a:p xmlns:a="http://schemas.openxmlformats.org/drawingml/2006/main">
            <a:pPr algn="l">
              <a:defRPr sz="1800" b="1">
                <a:solidFill>
                  <a:srgbClr val="007E72"/>
                </a:solidFill>
                <a:latin typeface="Arial"/>
                <a:ea typeface="Arial"/>
                <a:cs typeface="Arial"/>
              </a:defRPr>
            </a:pPr>
            <a:r>
              <a:rPr sz="1800" b="1">
                <a:solidFill>
                  <a:srgbClr val="007E72"/>
                </a:solidFill>
                <a:latin typeface="Arial"/>
                <a:ea typeface="Arial"/>
                <a:cs typeface="Arial"/>
              </a:rPr>
              <a:t>Comparison rubric</a:t>
            </a:r>
          </a:p>
        </p:txBody>
      </p:sp>
      <p:sp>
        <p:nvSpPr>
          <p:cNvPr id="7" name="">
            <a:extLst xmlns:a="http://schemas.openxmlformats.org/drawingml/2006/main">
              <a:ext uri="{FF2B5EF4-FFF2-40B4-BE49-F238E27FC236}">
                <a16:creationId xmlns:a16="http://schemas.microsoft.com/office/drawing/2014/main" id="{05971343-C961-4614-8B9B-73C25A778787}"/>
              </a:ext>
            </a:extLst>
          </p:cNvPr>
          <p:cNvSpPr>
            <a:spLocks xmlns:a="http://schemas.openxmlformats.org/drawingml/2006/main" noGrp="1"/>
          </p:cNvSpPr>
          <p:nvPr/>
        </p:nvSpPr>
        <p:spPr>
          <a:xfrm xmlns:a="http://schemas.openxmlformats.org/drawingml/2006/main">
            <a:off x="6981825" y="1628775"/>
            <a:ext cx="431482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556363"/>
                </a:solidFill>
                <a:latin typeface="Arial"/>
                <a:ea typeface="Arial"/>
                <a:cs typeface="Arial"/>
              </a:defRPr>
            </a:defPPr>
          </a:lstStyle>
          <a:p xmlns:a="http://schemas.openxmlformats.org/drawingml/2006/main">
            <a:pPr algn="l">
              <a:defRPr sz="1650" b="0">
                <a:solidFill>
                  <a:srgbClr val="556363"/>
                </a:solidFill>
                <a:latin typeface="Arial"/>
                <a:ea typeface="Arial"/>
                <a:cs typeface="Arial"/>
              </a:defRPr>
            </a:pPr>
            <a:r>
              <a:rPr sz="1650" b="0">
                <a:solidFill>
                  <a:srgbClr val="556363"/>
                </a:solidFill>
                <a:latin typeface="Arial"/>
                <a:ea typeface="Arial"/>
                <a:cs typeface="Arial"/>
              </a:rPr>
              <a:t>I1–I5 and A–G specification</a:t>
            </a:r>
          </a:p>
        </p:txBody>
      </p:sp>
      <p:sp>
        <p:nvSpPr>
          <p:cNvPr id="8" name="">
            <a:extLst xmlns:a="http://schemas.openxmlformats.org/drawingml/2006/main">
              <a:ext uri="{FF2B5EF4-FFF2-40B4-BE49-F238E27FC236}">
                <a16:creationId xmlns:a16="http://schemas.microsoft.com/office/drawing/2014/main" id="{64B75892-E1FD-4BFB-B7C7-88609C114918}"/>
              </a:ext>
            </a:extLst>
          </p:cNvPr>
          <p:cNvSpPr>
            <a:spLocks xmlns:a="http://schemas.openxmlformats.org/drawingml/2006/main" noGrp="1"/>
          </p:cNvSpPr>
          <p:nvPr/>
        </p:nvSpPr>
        <p:spPr>
          <a:xfrm xmlns:a="http://schemas.openxmlformats.org/drawingml/2006/main">
            <a:off x="762000" y="2295525"/>
            <a:ext cx="10572750" cy="19050"/>
          </a:xfrm>
          <a:prstGeom xmlns:a="http://schemas.openxmlformats.org/drawingml/2006/main" prst="rect">
            <a:avLst/>
          </a:prstGeom>
          <a:solidFill xmlns:a="http://schemas.openxmlformats.org/drawingml/2006/main">
            <a:srgbClr val="E9ECE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E428FAF-345B-4D94-8DEC-4BB575136424}"/>
              </a:ext>
            </a:extLst>
          </p:cNvPr>
          <p:cNvSpPr>
            <a:spLocks xmlns:a="http://schemas.openxmlformats.org/drawingml/2006/main" noGrp="1"/>
          </p:cNvSpPr>
          <p:nvPr/>
        </p:nvSpPr>
        <p:spPr>
          <a:xfrm xmlns:a="http://schemas.openxmlformats.org/drawingml/2006/main">
            <a:off x="752475" y="2562225"/>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025" b="1">
                <a:solidFill>
                  <a:srgbClr val="152323"/>
                </a:solidFill>
                <a:latin typeface="Arial"/>
                <a:ea typeface="Arial"/>
                <a:cs typeface="Arial"/>
              </a:defRPr>
            </a:defPPr>
          </a:lstStyle>
          <a:p xmlns:a="http://schemas.openxmlformats.org/drawingml/2006/main">
            <a:pPr algn="l">
              <a:defRPr sz="2025" b="1">
                <a:solidFill>
                  <a:srgbClr val="152323"/>
                </a:solidFill>
                <a:latin typeface="Arial"/>
                <a:ea typeface="Arial"/>
                <a:cs typeface="Arial"/>
              </a:defRPr>
            </a:pPr>
            <a:r>
              <a:rPr sz="2025" b="1">
                <a:solidFill>
                  <a:srgbClr val="152323"/>
                </a:solidFill>
                <a:latin typeface="Arial"/>
                <a:ea typeface="Arial"/>
                <a:cs typeface="Arial"/>
              </a:rPr>
              <a:t>Junseo Heo</a:t>
            </a:r>
          </a:p>
        </p:txBody>
      </p:sp>
      <p:sp>
        <p:nvSpPr>
          <p:cNvPr id="10" name="">
            <a:extLst xmlns:a="http://schemas.openxmlformats.org/drawingml/2006/main">
              <a:ext uri="{FF2B5EF4-FFF2-40B4-BE49-F238E27FC236}">
                <a16:creationId xmlns:a16="http://schemas.microsoft.com/office/drawing/2014/main" id="{8601AAE3-BA53-4D8E-813C-C52A33276FB2}"/>
              </a:ext>
            </a:extLst>
          </p:cNvPr>
          <p:cNvSpPr>
            <a:spLocks xmlns:a="http://schemas.openxmlformats.org/drawingml/2006/main" noGrp="1"/>
          </p:cNvSpPr>
          <p:nvPr/>
        </p:nvSpPr>
        <p:spPr>
          <a:xfrm xmlns:a="http://schemas.openxmlformats.org/drawingml/2006/main">
            <a:off x="3819525" y="2562225"/>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1">
                <a:solidFill>
                  <a:srgbClr val="007E72"/>
                </a:solidFill>
                <a:latin typeface="Arial"/>
                <a:ea typeface="Arial"/>
                <a:cs typeface="Arial"/>
              </a:defRPr>
            </a:defPPr>
          </a:lstStyle>
          <a:p xmlns:a="http://schemas.openxmlformats.org/drawingml/2006/main">
            <a:pPr algn="l">
              <a:defRPr sz="1800" b="1">
                <a:solidFill>
                  <a:srgbClr val="007E72"/>
                </a:solidFill>
                <a:latin typeface="Arial"/>
                <a:ea typeface="Arial"/>
                <a:cs typeface="Arial"/>
              </a:defRPr>
            </a:pPr>
            <a:r>
              <a:rPr sz="1800" b="1">
                <a:solidFill>
                  <a:srgbClr val="007E72"/>
                </a:solidFill>
                <a:latin typeface="Arial"/>
                <a:ea typeface="Arial"/>
                <a:cs typeface="Arial"/>
              </a:rPr>
              <a:t>Analysis pipeline</a:t>
            </a:r>
          </a:p>
        </p:txBody>
      </p:sp>
      <p:sp>
        <p:nvSpPr>
          <p:cNvPr id="11" name="">
            <a:extLst xmlns:a="http://schemas.openxmlformats.org/drawingml/2006/main">
              <a:ext uri="{FF2B5EF4-FFF2-40B4-BE49-F238E27FC236}">
                <a16:creationId xmlns:a16="http://schemas.microsoft.com/office/drawing/2014/main" id="{AC811E18-DB1C-4E39-85E0-98009F56AF63}"/>
              </a:ext>
            </a:extLst>
          </p:cNvPr>
          <p:cNvSpPr>
            <a:spLocks xmlns:a="http://schemas.openxmlformats.org/drawingml/2006/main" noGrp="1"/>
          </p:cNvSpPr>
          <p:nvPr/>
        </p:nvSpPr>
        <p:spPr>
          <a:xfrm xmlns:a="http://schemas.openxmlformats.org/drawingml/2006/main">
            <a:off x="6981825" y="2562225"/>
            <a:ext cx="431482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556363"/>
                </a:solidFill>
                <a:latin typeface="Arial"/>
                <a:ea typeface="Arial"/>
                <a:cs typeface="Arial"/>
              </a:defRPr>
            </a:defPPr>
          </a:lstStyle>
          <a:p xmlns:a="http://schemas.openxmlformats.org/drawingml/2006/main">
            <a:pPr algn="l">
              <a:defRPr sz="1650" b="0">
                <a:solidFill>
                  <a:srgbClr val="556363"/>
                </a:solidFill>
                <a:latin typeface="Arial"/>
                <a:ea typeface="Arial"/>
                <a:cs typeface="Arial"/>
              </a:defRPr>
            </a:pPr>
            <a:r>
              <a:rPr sz="1650" b="0">
                <a:solidFill>
                  <a:srgbClr val="556363"/>
                </a:solidFill>
                <a:latin typeface="Arial"/>
                <a:ea typeface="Arial"/>
                <a:cs typeface="Arial"/>
              </a:rPr>
              <a:t>Article search, relation, rubric</a:t>
            </a:r>
          </a:p>
        </p:txBody>
      </p:sp>
      <p:sp>
        <p:nvSpPr>
          <p:cNvPr id="12" name="">
            <a:extLst xmlns:a="http://schemas.openxmlformats.org/drawingml/2006/main">
              <a:ext uri="{FF2B5EF4-FFF2-40B4-BE49-F238E27FC236}">
                <a16:creationId xmlns:a16="http://schemas.microsoft.com/office/drawing/2014/main" id="{3657E728-2E40-4A00-9AEA-C0CDACA6AFB6}"/>
              </a:ext>
            </a:extLst>
          </p:cNvPr>
          <p:cNvSpPr>
            <a:spLocks xmlns:a="http://schemas.openxmlformats.org/drawingml/2006/main" noGrp="1"/>
          </p:cNvSpPr>
          <p:nvPr/>
        </p:nvSpPr>
        <p:spPr>
          <a:xfrm xmlns:a="http://schemas.openxmlformats.org/drawingml/2006/main">
            <a:off x="762000" y="3228975"/>
            <a:ext cx="10572750" cy="19050"/>
          </a:xfrm>
          <a:prstGeom xmlns:a="http://schemas.openxmlformats.org/drawingml/2006/main" prst="rect">
            <a:avLst/>
          </a:prstGeom>
          <a:solidFill xmlns:a="http://schemas.openxmlformats.org/drawingml/2006/main">
            <a:srgbClr val="E9ECE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1D247D1-78E1-4D38-AA64-38103A5F0558}"/>
              </a:ext>
            </a:extLst>
          </p:cNvPr>
          <p:cNvSpPr>
            <a:spLocks xmlns:a="http://schemas.openxmlformats.org/drawingml/2006/main" noGrp="1"/>
          </p:cNvSpPr>
          <p:nvPr/>
        </p:nvSpPr>
        <p:spPr>
          <a:xfrm xmlns:a="http://schemas.openxmlformats.org/drawingml/2006/main">
            <a:off x="752475" y="3495675"/>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025" b="1">
                <a:solidFill>
                  <a:srgbClr val="152323"/>
                </a:solidFill>
                <a:latin typeface="Arial"/>
                <a:ea typeface="Arial"/>
                <a:cs typeface="Arial"/>
              </a:defRPr>
            </a:defPPr>
          </a:lstStyle>
          <a:p xmlns:a="http://schemas.openxmlformats.org/drawingml/2006/main">
            <a:pPr algn="l">
              <a:defRPr sz="2025" b="1">
                <a:solidFill>
                  <a:srgbClr val="152323"/>
                </a:solidFill>
                <a:latin typeface="Arial"/>
                <a:ea typeface="Arial"/>
                <a:cs typeface="Arial"/>
              </a:defRPr>
            </a:pPr>
            <a:r>
              <a:rPr sz="2025" b="1">
                <a:solidFill>
                  <a:srgbClr val="152323"/>
                </a:solidFill>
                <a:latin typeface="Arial"/>
                <a:ea typeface="Arial"/>
                <a:cs typeface="Arial"/>
              </a:rPr>
              <a:t>Jinsol Lee</a:t>
            </a:r>
          </a:p>
        </p:txBody>
      </p:sp>
      <p:sp>
        <p:nvSpPr>
          <p:cNvPr id="14" name="">
            <a:extLst xmlns:a="http://schemas.openxmlformats.org/drawingml/2006/main">
              <a:ext uri="{FF2B5EF4-FFF2-40B4-BE49-F238E27FC236}">
                <a16:creationId xmlns:a16="http://schemas.microsoft.com/office/drawing/2014/main" id="{39432360-82BB-4593-B071-7A271A5B498D}"/>
              </a:ext>
            </a:extLst>
          </p:cNvPr>
          <p:cNvSpPr>
            <a:spLocks xmlns:a="http://schemas.openxmlformats.org/drawingml/2006/main" noGrp="1"/>
          </p:cNvSpPr>
          <p:nvPr/>
        </p:nvSpPr>
        <p:spPr>
          <a:xfrm xmlns:a="http://schemas.openxmlformats.org/drawingml/2006/main">
            <a:off x="3819525" y="3495675"/>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1">
                <a:solidFill>
                  <a:srgbClr val="007E72"/>
                </a:solidFill>
                <a:latin typeface="Arial"/>
                <a:ea typeface="Arial"/>
                <a:cs typeface="Arial"/>
              </a:defRPr>
            </a:defPPr>
          </a:lstStyle>
          <a:p xmlns:a="http://schemas.openxmlformats.org/drawingml/2006/main">
            <a:pPr algn="l">
              <a:defRPr sz="1800" b="1">
                <a:solidFill>
                  <a:srgbClr val="007E72"/>
                </a:solidFill>
                <a:latin typeface="Arial"/>
                <a:ea typeface="Arial"/>
                <a:cs typeface="Arial"/>
              </a:defRPr>
            </a:pPr>
            <a:r>
              <a:rPr sz="1800" b="1">
                <a:solidFill>
                  <a:srgbClr val="007E72"/>
                </a:solidFill>
                <a:latin typeface="Arial"/>
                <a:ea typeface="Arial"/>
                <a:cs typeface="Arial"/>
              </a:rPr>
              <a:t>Android UI</a:t>
            </a:r>
          </a:p>
        </p:txBody>
      </p:sp>
      <p:sp>
        <p:nvSpPr>
          <p:cNvPr id="15" name="">
            <a:extLst xmlns:a="http://schemas.openxmlformats.org/drawingml/2006/main">
              <a:ext uri="{FF2B5EF4-FFF2-40B4-BE49-F238E27FC236}">
                <a16:creationId xmlns:a16="http://schemas.microsoft.com/office/drawing/2014/main" id="{5FE4675E-7340-4739-8837-470318632118}"/>
              </a:ext>
            </a:extLst>
          </p:cNvPr>
          <p:cNvSpPr>
            <a:spLocks xmlns:a="http://schemas.openxmlformats.org/drawingml/2006/main" noGrp="1"/>
          </p:cNvSpPr>
          <p:nvPr/>
        </p:nvSpPr>
        <p:spPr>
          <a:xfrm xmlns:a="http://schemas.openxmlformats.org/drawingml/2006/main">
            <a:off x="6981825" y="3495675"/>
            <a:ext cx="431482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556363"/>
                </a:solidFill>
                <a:latin typeface="Arial"/>
                <a:ea typeface="Arial"/>
                <a:cs typeface="Arial"/>
              </a:defRPr>
            </a:defPPr>
          </a:lstStyle>
          <a:p xmlns:a="http://schemas.openxmlformats.org/drawingml/2006/main">
            <a:pPr algn="l">
              <a:defRPr sz="1650" b="0">
                <a:solidFill>
                  <a:srgbClr val="556363"/>
                </a:solidFill>
                <a:latin typeface="Arial"/>
                <a:ea typeface="Arial"/>
                <a:cs typeface="Arial"/>
              </a:defRPr>
            </a:pPr>
            <a:r>
              <a:rPr sz="1650" b="0">
                <a:solidFill>
                  <a:srgbClr val="556363"/>
                </a:solidFill>
                <a:latin typeface="Arial"/>
                <a:ea typeface="Arial"/>
                <a:cs typeface="Arial"/>
              </a:rPr>
              <a:t>Claim, evidence, rubric screens</a:t>
            </a:r>
          </a:p>
        </p:txBody>
      </p:sp>
      <p:sp>
        <p:nvSpPr>
          <p:cNvPr id="16" name="">
            <a:extLst xmlns:a="http://schemas.openxmlformats.org/drawingml/2006/main">
              <a:ext uri="{FF2B5EF4-FFF2-40B4-BE49-F238E27FC236}">
                <a16:creationId xmlns:a16="http://schemas.microsoft.com/office/drawing/2014/main" id="{1F14704F-E84C-4C2E-87F9-39A4804CE2CE}"/>
              </a:ext>
            </a:extLst>
          </p:cNvPr>
          <p:cNvSpPr>
            <a:spLocks xmlns:a="http://schemas.openxmlformats.org/drawingml/2006/main" noGrp="1"/>
          </p:cNvSpPr>
          <p:nvPr/>
        </p:nvSpPr>
        <p:spPr>
          <a:xfrm xmlns:a="http://schemas.openxmlformats.org/drawingml/2006/main">
            <a:off x="762000" y="4162425"/>
            <a:ext cx="10572750" cy="19050"/>
          </a:xfrm>
          <a:prstGeom xmlns:a="http://schemas.openxmlformats.org/drawingml/2006/main" prst="rect">
            <a:avLst/>
          </a:prstGeom>
          <a:solidFill xmlns:a="http://schemas.openxmlformats.org/drawingml/2006/main">
            <a:srgbClr val="E9ECE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A49A0CC-4209-4432-B16A-6E9923C77974}"/>
              </a:ext>
            </a:extLst>
          </p:cNvPr>
          <p:cNvSpPr>
            <a:spLocks xmlns:a="http://schemas.openxmlformats.org/drawingml/2006/main" noGrp="1"/>
          </p:cNvSpPr>
          <p:nvPr/>
        </p:nvSpPr>
        <p:spPr>
          <a:xfrm xmlns:a="http://schemas.openxmlformats.org/drawingml/2006/main">
            <a:off x="752475" y="4429125"/>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025" b="1">
                <a:solidFill>
                  <a:srgbClr val="152323"/>
                </a:solidFill>
                <a:latin typeface="Arial"/>
                <a:ea typeface="Arial"/>
                <a:cs typeface="Arial"/>
              </a:defRPr>
            </a:defPPr>
          </a:lstStyle>
          <a:p xmlns:a="http://schemas.openxmlformats.org/drawingml/2006/main">
            <a:pPr algn="l">
              <a:defRPr sz="2025" b="1">
                <a:solidFill>
                  <a:srgbClr val="152323"/>
                </a:solidFill>
                <a:latin typeface="Arial"/>
                <a:ea typeface="Arial"/>
                <a:cs typeface="Arial"/>
              </a:defRPr>
            </a:pPr>
            <a:r>
              <a:rPr sz="2025" b="1">
                <a:solidFill>
                  <a:srgbClr val="152323"/>
                </a:solidFill>
                <a:latin typeface="Arial"/>
                <a:ea typeface="Arial"/>
                <a:cs typeface="Arial"/>
              </a:rPr>
              <a:t>Seungmin Kim</a:t>
            </a:r>
          </a:p>
        </p:txBody>
      </p:sp>
      <p:sp>
        <p:nvSpPr>
          <p:cNvPr id="18" name="">
            <a:extLst xmlns:a="http://schemas.openxmlformats.org/drawingml/2006/main">
              <a:ext uri="{FF2B5EF4-FFF2-40B4-BE49-F238E27FC236}">
                <a16:creationId xmlns:a16="http://schemas.microsoft.com/office/drawing/2014/main" id="{9FC4A451-BD53-4CE5-BA7C-5202B22973C8}"/>
              </a:ext>
            </a:extLst>
          </p:cNvPr>
          <p:cNvSpPr>
            <a:spLocks xmlns:a="http://schemas.openxmlformats.org/drawingml/2006/main" noGrp="1"/>
          </p:cNvSpPr>
          <p:nvPr/>
        </p:nvSpPr>
        <p:spPr>
          <a:xfrm xmlns:a="http://schemas.openxmlformats.org/drawingml/2006/main">
            <a:off x="3819525" y="4429125"/>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1">
                <a:solidFill>
                  <a:srgbClr val="007E72"/>
                </a:solidFill>
                <a:latin typeface="Arial"/>
                <a:ea typeface="Arial"/>
                <a:cs typeface="Arial"/>
              </a:defRPr>
            </a:defPPr>
          </a:lstStyle>
          <a:p xmlns:a="http://schemas.openxmlformats.org/drawingml/2006/main">
            <a:pPr algn="l">
              <a:defRPr sz="1800" b="1">
                <a:solidFill>
                  <a:srgbClr val="007E72"/>
                </a:solidFill>
                <a:latin typeface="Arial"/>
                <a:ea typeface="Arial"/>
                <a:cs typeface="Arial"/>
              </a:defRPr>
            </a:pPr>
            <a:r>
              <a:rPr sz="1800" b="1">
                <a:solidFill>
                  <a:srgbClr val="007E72"/>
                </a:solidFill>
                <a:latin typeface="Arial"/>
                <a:ea typeface="Arial"/>
                <a:cs typeface="Arial"/>
              </a:rPr>
              <a:t>Integration and demo</a:t>
            </a:r>
          </a:p>
        </p:txBody>
      </p:sp>
      <p:sp>
        <p:nvSpPr>
          <p:cNvPr id="19" name="">
            <a:extLst xmlns:a="http://schemas.openxmlformats.org/drawingml/2006/main">
              <a:ext uri="{FF2B5EF4-FFF2-40B4-BE49-F238E27FC236}">
                <a16:creationId xmlns:a16="http://schemas.microsoft.com/office/drawing/2014/main" id="{60CDDC3C-A1EC-4072-ABE7-09D9B51997D8}"/>
              </a:ext>
            </a:extLst>
          </p:cNvPr>
          <p:cNvSpPr>
            <a:spLocks xmlns:a="http://schemas.openxmlformats.org/drawingml/2006/main" noGrp="1"/>
          </p:cNvSpPr>
          <p:nvPr/>
        </p:nvSpPr>
        <p:spPr>
          <a:xfrm xmlns:a="http://schemas.openxmlformats.org/drawingml/2006/main">
            <a:off x="6981825" y="4429125"/>
            <a:ext cx="431482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556363"/>
                </a:solidFill>
                <a:latin typeface="Arial"/>
                <a:ea typeface="Arial"/>
                <a:cs typeface="Arial"/>
              </a:defRPr>
            </a:defPPr>
          </a:lstStyle>
          <a:p xmlns:a="http://schemas.openxmlformats.org/drawingml/2006/main">
            <a:pPr algn="l">
              <a:defRPr sz="1650" b="0">
                <a:solidFill>
                  <a:srgbClr val="556363"/>
                </a:solidFill>
                <a:latin typeface="Arial"/>
                <a:ea typeface="Arial"/>
                <a:cs typeface="Arial"/>
              </a:defRPr>
            </a:pPr>
            <a:r>
              <a:rPr sz="1650" b="0">
                <a:solidFill>
                  <a:srgbClr val="556363"/>
                </a:solidFill>
                <a:latin typeface="Arial"/>
                <a:ea typeface="Arial"/>
                <a:cs typeface="Arial"/>
              </a:rPr>
              <a:t>Contract, verification, release</a:t>
            </a:r>
          </a:p>
        </p:txBody>
      </p:sp>
      <p:sp>
        <p:nvSpPr>
          <p:cNvPr id="20" name="">
            <a:extLst xmlns:a="http://schemas.openxmlformats.org/drawingml/2006/main">
              <a:ext uri="{FF2B5EF4-FFF2-40B4-BE49-F238E27FC236}">
                <a16:creationId xmlns:a16="http://schemas.microsoft.com/office/drawing/2014/main" id="{C84BD65F-B347-48A0-AF5A-98FF0743B6DD}"/>
              </a:ext>
            </a:extLst>
          </p:cNvPr>
          <p:cNvSpPr>
            <a:spLocks xmlns:a="http://schemas.openxmlformats.org/drawingml/2006/main" noGrp="1"/>
          </p:cNvSpPr>
          <p:nvPr/>
        </p:nvSpPr>
        <p:spPr>
          <a:xfrm xmlns:a="http://schemas.openxmlformats.org/drawingml/2006/main">
            <a:off x="762000" y="5095875"/>
            <a:ext cx="10572750" cy="19050"/>
          </a:xfrm>
          <a:prstGeom xmlns:a="http://schemas.openxmlformats.org/drawingml/2006/main" prst="rect">
            <a:avLst/>
          </a:prstGeom>
          <a:solidFill xmlns:a="http://schemas.openxmlformats.org/drawingml/2006/main">
            <a:srgbClr val="E9ECE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7DE76DE-8AE9-4DC1-8C2C-C7BA2274D817}"/>
              </a:ext>
            </a:extLst>
          </p:cNvPr>
          <p:cNvSpPr>
            <a:spLocks xmlns:a="http://schemas.openxmlformats.org/drawingml/2006/main" noGrp="1"/>
          </p:cNvSpPr>
          <p:nvPr/>
        </p:nvSpPr>
        <p:spPr>
          <a:xfrm xmlns:a="http://schemas.openxmlformats.org/drawingml/2006/main">
            <a:off x="762000" y="5610225"/>
            <a:ext cx="10572750" cy="619125"/>
          </a:xfrm>
          <a:prstGeom xmlns:a="http://schemas.openxmlformats.org/drawingml/2006/main" prst="roundRect">
            <a:avLst>
              <a:gd name="adj" fmla="val 12308"/>
            </a:avLst>
          </a:prstGeom>
          <a:solidFill xmlns:a="http://schemas.openxmlformats.org/drawingml/2006/main">
            <a:srgbClr val="DDEFE9"/>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F2D82E8-11AC-4AC5-9BFA-EAEC68F66A69}"/>
              </a:ext>
            </a:extLst>
          </p:cNvPr>
          <p:cNvSpPr>
            <a:spLocks xmlns:a="http://schemas.openxmlformats.org/drawingml/2006/main" noGrp="1"/>
          </p:cNvSpPr>
          <p:nvPr/>
        </p:nvSpPr>
        <p:spPr>
          <a:xfrm xmlns:a="http://schemas.openxmlformats.org/drawingml/2006/main">
            <a:off x="971550" y="5753100"/>
            <a:ext cx="101441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75" b="1">
                <a:solidFill>
                  <a:srgbClr val="152323"/>
                </a:solidFill>
                <a:latin typeface="Arial"/>
                <a:ea typeface="Arial"/>
                <a:cs typeface="Arial"/>
              </a:defRPr>
            </a:defPPr>
          </a:lstStyle>
          <a:p xmlns:a="http://schemas.openxmlformats.org/drawingml/2006/main">
            <a:pPr algn="l">
              <a:defRPr sz="1575" b="1">
                <a:solidFill>
                  <a:srgbClr val="152323"/>
                </a:solidFill>
                <a:latin typeface="Arial"/>
                <a:ea typeface="Arial"/>
                <a:cs typeface="Arial"/>
              </a:defRPr>
            </a:pPr>
            <a:r>
              <a:rPr sz="1575" b="1">
                <a:solidFill>
                  <a:srgbClr val="152323"/>
                </a:solidFill>
                <a:latin typeface="Arial"/>
                <a:ea typeface="Arial"/>
                <a:cs typeface="Arial"/>
              </a:rPr>
              <a:t>Local integration and offline UI checks passed. Draft PR #10 is open; live service validation is pending.</a:t>
            </a:r>
          </a:p>
        </p:txBody>
      </p:sp>
    </p:spTree>
    <p:extLst>
      <p:ext uri="{BB962C8B-B14F-4D97-AF65-F5344CB8AC3E}">
        <p14:creationId xmlns:p14="http://schemas.microsoft.com/office/powerpoint/2010/main" val="825056146"/>
      </p:ext>
    </p:extLst>
  </p:cSld>
</p:sld>
</file>

<file path=ppt/slides/slide10.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9C9CF076-B714-40D8-96A3-CE44640CD10D}"/>
              </a:ext>
            </a:extLst>
          </p:cNvPr>
          <p:cNvSpPr>
            <a:spLocks xmlns:a="http://schemas.openxmlformats.org/drawingml/2006/main" noGrp="1"/>
          </p:cNvSpPr>
          <p:nvPr/>
        </p:nvSpPr>
        <p:spPr>
          <a:xfrm xmlns:a="http://schemas.openxmlformats.org/drawingml/2006/main">
            <a:off x="704850" y="457200"/>
            <a:ext cx="10668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225" b="1">
                <a:solidFill>
                  <a:srgbClr val="152323"/>
                </a:solidFill>
                <a:latin typeface="Arial"/>
                <a:ea typeface="Arial"/>
                <a:cs typeface="Arial"/>
              </a:defRPr>
            </a:defPPr>
          </a:lstStyle>
          <a:p xmlns:a="http://schemas.openxmlformats.org/drawingml/2006/main">
            <a:pPr algn="l">
              <a:defRPr sz="3225" b="1">
                <a:solidFill>
                  <a:srgbClr val="152323"/>
                </a:solidFill>
                <a:latin typeface="Arial"/>
                <a:ea typeface="Arial"/>
                <a:cs typeface="Arial"/>
              </a:defRPr>
            </a:pPr>
            <a:r>
              <a:rPr sz="3225" b="1">
                <a:solidFill>
                  <a:srgbClr val="152323"/>
                </a:solidFill>
                <a:latin typeface="Arial"/>
                <a:ea typeface="Arial"/>
                <a:cs typeface="Arial"/>
              </a:rPr>
              <a:t>Three gates to a reliable demo</a:t>
            </a:r>
          </a:p>
        </p:txBody>
      </p:sp>
      <p:sp>
        <p:nvSpPr>
          <p:cNvPr id="2" name="">
            <a:extLst xmlns:a="http://schemas.openxmlformats.org/drawingml/2006/main">
              <a:ext uri="{FF2B5EF4-FFF2-40B4-BE49-F238E27FC236}">
                <a16:creationId xmlns:a16="http://schemas.microsoft.com/office/drawing/2014/main" id="{C91CDD96-DB8C-46F3-9116-D06AA60083C3}"/>
              </a:ext>
            </a:extLst>
          </p:cNvPr>
          <p:cNvSpPr>
            <a:spLocks xmlns:a="http://schemas.openxmlformats.org/drawingml/2006/main" noGrp="1"/>
          </p:cNvSpPr>
          <p:nvPr/>
        </p:nvSpPr>
        <p:spPr>
          <a:xfrm xmlns:a="http://schemas.openxmlformats.org/drawingml/2006/main">
            <a:off x="723900" y="1247775"/>
            <a:ext cx="10744200" cy="9525"/>
          </a:xfrm>
          <a:prstGeom xmlns:a="http://schemas.openxmlformats.org/drawingml/2006/main" prst="rect">
            <a:avLst/>
          </a:prstGeom>
          <a:solidFill xmlns:a="http://schemas.openxmlformats.org/drawingml/2006/main">
            <a:srgbClr val="B7C4BF"/>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E8A4C01-7D9B-43AA-9D0E-CA42F40DFB0A}"/>
              </a:ext>
            </a:extLst>
          </p:cNvPr>
          <p:cNvSpPr>
            <a:spLocks xmlns:a="http://schemas.openxmlformats.org/drawingml/2006/main" noGrp="1"/>
          </p:cNvSpPr>
          <p:nvPr/>
        </p:nvSpPr>
        <p:spPr>
          <a:xfrm xmlns:a="http://schemas.openxmlformats.org/drawingml/2006/main">
            <a:off x="723900" y="6400800"/>
            <a:ext cx="419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975" b="1">
                <a:solidFill>
                  <a:srgbClr val="556363"/>
                </a:solidFill>
                <a:latin typeface="Arial"/>
                <a:ea typeface="Arial"/>
                <a:cs typeface="Arial"/>
              </a:defRPr>
            </a:defPPr>
          </a:lstStyle>
          <a:p xmlns:a="http://schemas.openxmlformats.org/drawingml/2006/main">
            <a:pPr algn="l">
              <a:defRPr sz="975" b="1">
                <a:solidFill>
                  <a:srgbClr val="556363"/>
                </a:solidFill>
                <a:latin typeface="Arial"/>
                <a:ea typeface="Arial"/>
                <a:cs typeface="Arial"/>
              </a:defRPr>
            </a:pPr>
            <a:r>
              <a:rPr sz="975" b="1">
                <a:solidFill>
                  <a:srgbClr val="556363"/>
                </a:solidFill>
                <a:latin typeface="Arial"/>
                <a:ea typeface="Arial"/>
                <a:cs typeface="Arial"/>
              </a:rPr>
              <a:t>FRAMELESS  /  SWPP MIDTERM 2026</a:t>
            </a:r>
          </a:p>
        </p:txBody>
      </p:sp>
      <p:sp>
        <p:nvSpPr>
          <p:cNvPr id="4" name="">
            <a:extLst xmlns:a="http://schemas.openxmlformats.org/drawingml/2006/main">
              <a:ext uri="{FF2B5EF4-FFF2-40B4-BE49-F238E27FC236}">
                <a16:creationId xmlns:a16="http://schemas.microsoft.com/office/drawing/2014/main" id="{D964B86B-AC52-461C-A9A8-C73E04AEC37D}"/>
              </a:ext>
            </a:extLst>
          </p:cNvPr>
          <p:cNvSpPr>
            <a:spLocks xmlns:a="http://schemas.openxmlformats.org/drawingml/2006/main" noGrp="1"/>
          </p:cNvSpPr>
          <p:nvPr/>
        </p:nvSpPr>
        <p:spPr>
          <a:xfrm xmlns:a="http://schemas.openxmlformats.org/drawingml/2006/main">
            <a:off x="10582275"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975" b="1">
                <a:solidFill>
                  <a:srgbClr val="556363"/>
                </a:solidFill>
                <a:latin typeface="Arial"/>
                <a:ea typeface="Arial"/>
                <a:cs typeface="Arial"/>
              </a:defRPr>
            </a:defPPr>
          </a:lstStyle>
          <a:p xmlns:a="http://schemas.openxmlformats.org/drawingml/2006/main">
            <a:pPr algn="r">
              <a:defRPr sz="975" b="1">
                <a:solidFill>
                  <a:srgbClr val="556363"/>
                </a:solidFill>
                <a:latin typeface="Arial"/>
                <a:ea typeface="Arial"/>
                <a:cs typeface="Arial"/>
              </a:defRPr>
            </a:pPr>
            <a:r>
              <a:rPr sz="975" b="1">
                <a:solidFill>
                  <a:srgbClr val="556363"/>
                </a:solidFill>
                <a:latin typeface="Arial"/>
                <a:ea typeface="Arial"/>
                <a:cs typeface="Arial"/>
              </a:rPr>
              <a:t>10 / 11</a:t>
            </a:r>
          </a:p>
        </p:txBody>
      </p:sp>
      <p:sp>
        <p:nvSpPr>
          <p:cNvPr id="5" name="">
            <a:extLst xmlns:a="http://schemas.openxmlformats.org/drawingml/2006/main">
              <a:ext uri="{FF2B5EF4-FFF2-40B4-BE49-F238E27FC236}">
                <a16:creationId xmlns:a16="http://schemas.microsoft.com/office/drawing/2014/main" id="{3CFCD37A-C6F2-4AF5-B78C-CA88F1CE9897}"/>
              </a:ext>
            </a:extLst>
          </p:cNvPr>
          <p:cNvSpPr>
            <a:spLocks xmlns:a="http://schemas.openxmlformats.org/drawingml/2006/main" noGrp="1"/>
          </p:cNvSpPr>
          <p:nvPr/>
        </p:nvSpPr>
        <p:spPr>
          <a:xfrm xmlns:a="http://schemas.openxmlformats.org/drawingml/2006/main">
            <a:off x="742950" y="1762125"/>
            <a:ext cx="3276600" cy="3724275"/>
          </a:xfrm>
          <a:prstGeom xmlns:a="http://schemas.openxmlformats.org/drawingml/2006/main" prst="roundRect">
            <a:avLst>
              <a:gd name="adj" fmla="val 2326"/>
            </a:avLst>
          </a:prstGeom>
          <a:solidFill xmlns:a="http://schemas.openxmlformats.org/drawingml/2006/main">
            <a:srgbClr val="DDEFE9"/>
          </a:solidFill>
          <a:ln xmlns:a="http://schemas.openxmlformats.org/drawingml/2006/main" w="9525">
            <a:solidFill>
              <a:srgbClr val="B7C4BF"/>
            </a:solidFill>
            <a:prstDash val="solid"/>
          </a:ln>
        </p:spPr>
      </p:sp>
      <p:sp>
        <p:nvSpPr>
          <p:cNvPr id="6" name="">
            <a:extLst xmlns:a="http://schemas.openxmlformats.org/drawingml/2006/main">
              <a:ext uri="{FF2B5EF4-FFF2-40B4-BE49-F238E27FC236}">
                <a16:creationId xmlns:a16="http://schemas.microsoft.com/office/drawing/2014/main" id="{2018B20C-A3CF-4A83-BC29-EF50D342BDC6}"/>
              </a:ext>
            </a:extLst>
          </p:cNvPr>
          <p:cNvSpPr>
            <a:spLocks xmlns:a="http://schemas.openxmlformats.org/drawingml/2006/main" noGrp="1"/>
          </p:cNvSpPr>
          <p:nvPr/>
        </p:nvSpPr>
        <p:spPr>
          <a:xfrm xmlns:a="http://schemas.openxmlformats.org/drawingml/2006/main">
            <a:off x="981075" y="1971675"/>
            <a:ext cx="1143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600" b="1">
                <a:solidFill>
                  <a:srgbClr val="007E72"/>
                </a:solidFill>
                <a:latin typeface="Arial"/>
                <a:ea typeface="Arial"/>
                <a:cs typeface="Arial"/>
              </a:defRPr>
            </a:defPPr>
          </a:lstStyle>
          <a:p xmlns:a="http://schemas.openxmlformats.org/drawingml/2006/main">
            <a:pPr algn="l">
              <a:defRPr sz="3600" b="1">
                <a:solidFill>
                  <a:srgbClr val="007E72"/>
                </a:solidFill>
                <a:latin typeface="Arial"/>
                <a:ea typeface="Arial"/>
                <a:cs typeface="Arial"/>
              </a:defRPr>
            </a:pPr>
            <a:r>
              <a:rPr sz="3600" b="1">
                <a:solidFill>
                  <a:srgbClr val="007E72"/>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3ED85E7A-7B72-488F-AB0B-600F6DDBCC27}"/>
              </a:ext>
            </a:extLst>
          </p:cNvPr>
          <p:cNvSpPr>
            <a:spLocks xmlns:a="http://schemas.openxmlformats.org/drawingml/2006/main" noGrp="1"/>
          </p:cNvSpPr>
          <p:nvPr/>
        </p:nvSpPr>
        <p:spPr>
          <a:xfrm xmlns:a="http://schemas.openxmlformats.org/drawingml/2006/main">
            <a:off x="981075" y="2781300"/>
            <a:ext cx="2828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1">
                <a:solidFill>
                  <a:srgbClr val="152323"/>
                </a:solidFill>
                <a:latin typeface="Arial"/>
                <a:ea typeface="Arial"/>
                <a:cs typeface="Arial"/>
              </a:defRPr>
            </a:defPPr>
          </a:lstStyle>
          <a:p xmlns:a="http://schemas.openxmlformats.org/drawingml/2006/main">
            <a:pPr algn="l">
              <a:defRPr sz="2250" b="1">
                <a:solidFill>
                  <a:srgbClr val="152323"/>
                </a:solidFill>
                <a:latin typeface="Arial"/>
                <a:ea typeface="Arial"/>
                <a:cs typeface="Arial"/>
              </a:defRPr>
            </a:pPr>
            <a:r>
              <a:rPr sz="2250" b="1">
                <a:solidFill>
                  <a:srgbClr val="152323"/>
                </a:solidFill>
                <a:latin typeface="Arial"/>
                <a:ea typeface="Arial"/>
                <a:cs typeface="Arial"/>
              </a:rPr>
              <a:t>Live run</a:t>
            </a:r>
          </a:p>
        </p:txBody>
      </p:sp>
      <p:sp>
        <p:nvSpPr>
          <p:cNvPr id="8" name="">
            <a:extLst xmlns:a="http://schemas.openxmlformats.org/drawingml/2006/main">
              <a:ext uri="{FF2B5EF4-FFF2-40B4-BE49-F238E27FC236}">
                <a16:creationId xmlns:a16="http://schemas.microsoft.com/office/drawing/2014/main" id="{92C1E53A-077D-4E07-AC10-CC511CD26965}"/>
              </a:ext>
            </a:extLst>
          </p:cNvPr>
          <p:cNvSpPr>
            <a:spLocks xmlns:a="http://schemas.openxmlformats.org/drawingml/2006/main" noGrp="1"/>
          </p:cNvSpPr>
          <p:nvPr/>
        </p:nvSpPr>
        <p:spPr>
          <a:xfrm xmlns:a="http://schemas.openxmlformats.org/drawingml/2006/main">
            <a:off x="981075" y="3476625"/>
            <a:ext cx="2771775"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556363"/>
                </a:solidFill>
                <a:latin typeface="Arial"/>
                <a:ea typeface="Arial"/>
                <a:cs typeface="Arial"/>
              </a:defRPr>
            </a:defPPr>
          </a:lstStyle>
          <a:p xmlns:a="http://schemas.openxmlformats.org/drawingml/2006/main">
            <a:pPr algn="l">
              <a:defRPr sz="1650" b="0">
                <a:solidFill>
                  <a:srgbClr val="556363"/>
                </a:solidFill>
                <a:latin typeface="Arial"/>
                <a:ea typeface="Arial"/>
                <a:cs typeface="Arial"/>
              </a:defRPr>
            </a:pPr>
            <a:r>
              <a:rPr sz="1650" b="0">
                <a:solidFill>
                  <a:srgbClr val="556363"/>
                </a:solidFill>
                <a:latin typeface="Arial"/>
                <a:ea typeface="Arial"/>
                <a:cs typeface="Arial"/>
              </a:rPr>
              <a:t>Use configured v2 services and the final APK. Record URL, status, response time, and analysis ID.</a:t>
            </a:r>
          </a:p>
        </p:txBody>
      </p:sp>
      <p:sp>
        <p:nvSpPr>
          <p:cNvPr id="9" name="">
            <a:extLst xmlns:a="http://schemas.openxmlformats.org/drawingml/2006/main">
              <a:ext uri="{FF2B5EF4-FFF2-40B4-BE49-F238E27FC236}">
                <a16:creationId xmlns:a16="http://schemas.microsoft.com/office/drawing/2014/main" id="{6BEAFF5A-793A-46DB-84A6-6C267E3EB36A}"/>
              </a:ext>
            </a:extLst>
          </p:cNvPr>
          <p:cNvSpPr>
            <a:spLocks xmlns:a="http://schemas.openxmlformats.org/drawingml/2006/main" noGrp="1"/>
          </p:cNvSpPr>
          <p:nvPr/>
        </p:nvSpPr>
        <p:spPr>
          <a:xfrm xmlns:a="http://schemas.openxmlformats.org/drawingml/2006/main">
            <a:off x="981075" y="5038725"/>
            <a:ext cx="1066800" cy="333375"/>
          </a:xfrm>
          <a:prstGeom xmlns:a="http://schemas.openxmlformats.org/drawingml/2006/main" prst="roundRect">
            <a:avLst>
              <a:gd name="adj" fmla="val 22857"/>
            </a:avLst>
          </a:prstGeom>
          <a:solidFill xmlns:a="http://schemas.openxmlformats.org/drawingml/2006/main">
            <a:srgbClr val="F6E6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CDDB6C4-A6DE-4B9C-8C40-6666A1C8C696}"/>
              </a:ext>
            </a:extLst>
          </p:cNvPr>
          <p:cNvSpPr>
            <a:spLocks xmlns:a="http://schemas.openxmlformats.org/drawingml/2006/main" noGrp="1"/>
          </p:cNvSpPr>
          <p:nvPr/>
        </p:nvSpPr>
        <p:spPr>
          <a:xfrm xmlns:a="http://schemas.openxmlformats.org/drawingml/2006/main">
            <a:off x="1085850" y="5048250"/>
            <a:ext cx="8572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975" b="1">
                <a:solidFill>
                  <a:srgbClr val="A44937"/>
                </a:solidFill>
                <a:latin typeface="Arial"/>
                <a:ea typeface="Arial"/>
                <a:cs typeface="Arial"/>
              </a:defRPr>
            </a:defPPr>
          </a:lstStyle>
          <a:p xmlns:a="http://schemas.openxmlformats.org/drawingml/2006/main">
            <a:pPr algn="l">
              <a:defRPr sz="975" b="1">
                <a:solidFill>
                  <a:srgbClr val="A44937"/>
                </a:solidFill>
                <a:latin typeface="Arial"/>
                <a:ea typeface="Arial"/>
                <a:cs typeface="Arial"/>
              </a:defRPr>
            </a:pPr>
            <a:r>
              <a:rPr sz="975" b="1">
                <a:solidFill>
                  <a:srgbClr val="A44937"/>
                </a:solidFill>
                <a:latin typeface="Arial"/>
                <a:ea typeface="Arial"/>
                <a:cs typeface="Arial"/>
              </a:rPr>
              <a:t>PENDING</a:t>
            </a:r>
          </a:p>
        </p:txBody>
      </p:sp>
      <p:sp>
        <p:nvSpPr>
          <p:cNvPr id="11" name="">
            <a:extLst xmlns:a="http://schemas.openxmlformats.org/drawingml/2006/main">
              <a:ext uri="{FF2B5EF4-FFF2-40B4-BE49-F238E27FC236}">
                <a16:creationId xmlns:a16="http://schemas.microsoft.com/office/drawing/2014/main" id="{F580EF16-8EC0-4EC2-9E7D-50089D03FDA5}"/>
              </a:ext>
            </a:extLst>
          </p:cNvPr>
          <p:cNvSpPr>
            <a:spLocks xmlns:a="http://schemas.openxmlformats.org/drawingml/2006/main" noGrp="1"/>
          </p:cNvSpPr>
          <p:nvPr/>
        </p:nvSpPr>
        <p:spPr>
          <a:xfrm xmlns:a="http://schemas.openxmlformats.org/drawingml/2006/main">
            <a:off x="4352925" y="1762125"/>
            <a:ext cx="3276600" cy="3724275"/>
          </a:xfrm>
          <a:prstGeom xmlns:a="http://schemas.openxmlformats.org/drawingml/2006/main" prst="roundRect">
            <a:avLst>
              <a:gd name="adj" fmla="val 2326"/>
            </a:avLst>
          </a:prstGeom>
          <a:solidFill xmlns:a="http://schemas.openxmlformats.org/drawingml/2006/main">
            <a:srgbClr val="FFFFFF"/>
          </a:solidFill>
          <a:ln xmlns:a="http://schemas.openxmlformats.org/drawingml/2006/main" w="9525">
            <a:solidFill>
              <a:srgbClr val="B7C4BF"/>
            </a:solidFill>
            <a:prstDash val="solid"/>
          </a:ln>
        </p:spPr>
      </p:sp>
      <p:sp>
        <p:nvSpPr>
          <p:cNvPr id="12" name="">
            <a:extLst xmlns:a="http://schemas.openxmlformats.org/drawingml/2006/main">
              <a:ext uri="{FF2B5EF4-FFF2-40B4-BE49-F238E27FC236}">
                <a16:creationId xmlns:a16="http://schemas.microsoft.com/office/drawing/2014/main" id="{158BE071-E622-4B59-8269-B5AD26B5F6D7}"/>
              </a:ext>
            </a:extLst>
          </p:cNvPr>
          <p:cNvSpPr>
            <a:spLocks xmlns:a="http://schemas.openxmlformats.org/drawingml/2006/main" noGrp="1"/>
          </p:cNvSpPr>
          <p:nvPr/>
        </p:nvSpPr>
        <p:spPr>
          <a:xfrm xmlns:a="http://schemas.openxmlformats.org/drawingml/2006/main">
            <a:off x="4591050" y="1971675"/>
            <a:ext cx="1143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600" b="1">
                <a:solidFill>
                  <a:srgbClr val="B7C4BF"/>
                </a:solidFill>
                <a:latin typeface="Arial"/>
                <a:ea typeface="Arial"/>
                <a:cs typeface="Arial"/>
              </a:defRPr>
            </a:defPPr>
          </a:lstStyle>
          <a:p xmlns:a="http://schemas.openxmlformats.org/drawingml/2006/main">
            <a:pPr algn="l">
              <a:defRPr sz="3600" b="1">
                <a:solidFill>
                  <a:srgbClr val="B7C4BF"/>
                </a:solidFill>
                <a:latin typeface="Arial"/>
                <a:ea typeface="Arial"/>
                <a:cs typeface="Arial"/>
              </a:defRPr>
            </a:pPr>
            <a:r>
              <a:rPr sz="3600" b="1">
                <a:solidFill>
                  <a:srgbClr val="B7C4BF"/>
                </a:solidFill>
                <a:latin typeface="Arial"/>
                <a:ea typeface="Arial"/>
                <a:cs typeface="Arial"/>
              </a:rPr>
              <a:t>02</a:t>
            </a:r>
          </a:p>
        </p:txBody>
      </p:sp>
      <p:sp>
        <p:nvSpPr>
          <p:cNvPr id="13" name="">
            <a:extLst xmlns:a="http://schemas.openxmlformats.org/drawingml/2006/main">
              <a:ext uri="{FF2B5EF4-FFF2-40B4-BE49-F238E27FC236}">
                <a16:creationId xmlns:a16="http://schemas.microsoft.com/office/drawing/2014/main" id="{CEA2080F-4CBD-4759-93BE-179782622DF8}"/>
              </a:ext>
            </a:extLst>
          </p:cNvPr>
          <p:cNvSpPr>
            <a:spLocks xmlns:a="http://schemas.openxmlformats.org/drawingml/2006/main" noGrp="1"/>
          </p:cNvSpPr>
          <p:nvPr/>
        </p:nvSpPr>
        <p:spPr>
          <a:xfrm xmlns:a="http://schemas.openxmlformats.org/drawingml/2006/main">
            <a:off x="4591050" y="2781300"/>
            <a:ext cx="2828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1">
                <a:solidFill>
                  <a:srgbClr val="152323"/>
                </a:solidFill>
                <a:latin typeface="Arial"/>
                <a:ea typeface="Arial"/>
                <a:cs typeface="Arial"/>
              </a:defRPr>
            </a:defPPr>
          </a:lstStyle>
          <a:p xmlns:a="http://schemas.openxmlformats.org/drawingml/2006/main">
            <a:pPr algn="l">
              <a:defRPr sz="2250" b="1">
                <a:solidFill>
                  <a:srgbClr val="152323"/>
                </a:solidFill>
                <a:latin typeface="Arial"/>
                <a:ea typeface="Arial"/>
                <a:cs typeface="Arial"/>
              </a:defRPr>
            </a:pPr>
            <a:r>
              <a:rPr sz="2250" b="1">
                <a:solidFill>
                  <a:srgbClr val="152323"/>
                </a:solidFill>
                <a:latin typeface="Arial"/>
                <a:ea typeface="Arial"/>
                <a:cs typeface="Arial"/>
              </a:rPr>
              <a:t>Evidence review</a:t>
            </a:r>
          </a:p>
        </p:txBody>
      </p:sp>
      <p:sp>
        <p:nvSpPr>
          <p:cNvPr id="14" name="">
            <a:extLst xmlns:a="http://schemas.openxmlformats.org/drawingml/2006/main">
              <a:ext uri="{FF2B5EF4-FFF2-40B4-BE49-F238E27FC236}">
                <a16:creationId xmlns:a16="http://schemas.microsoft.com/office/drawing/2014/main" id="{5247FDF1-D859-4665-9E2F-B53FED76F3B4}"/>
              </a:ext>
            </a:extLst>
          </p:cNvPr>
          <p:cNvSpPr>
            <a:spLocks xmlns:a="http://schemas.openxmlformats.org/drawingml/2006/main" noGrp="1"/>
          </p:cNvSpPr>
          <p:nvPr/>
        </p:nvSpPr>
        <p:spPr>
          <a:xfrm xmlns:a="http://schemas.openxmlformats.org/drawingml/2006/main">
            <a:off x="4591050" y="3476625"/>
            <a:ext cx="2771775"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556363"/>
                </a:solidFill>
                <a:latin typeface="Arial"/>
                <a:ea typeface="Arial"/>
                <a:cs typeface="Arial"/>
              </a:defRPr>
            </a:defPPr>
          </a:lstStyle>
          <a:p xmlns:a="http://schemas.openxmlformats.org/drawingml/2006/main">
            <a:pPr algn="l">
              <a:defRPr sz="1650" b="0">
                <a:solidFill>
                  <a:srgbClr val="556363"/>
                </a:solidFill>
                <a:latin typeface="Arial"/>
                <a:ea typeface="Arial"/>
                <a:cs typeface="Arial"/>
              </a:defRPr>
            </a:pPr>
            <a:r>
              <a:rPr sz="1650" b="0">
                <a:solidFill>
                  <a:srgbClr val="556363"/>
                </a:solidFill>
                <a:latin typeface="Arial"/>
                <a:ea typeface="Arial"/>
                <a:cs typeface="Arial"/>
              </a:rPr>
              <a:t>Check same-event selection, quote provenance, speaker, claim relation, and rubric wording.</a:t>
            </a:r>
          </a:p>
        </p:txBody>
      </p:sp>
      <p:sp>
        <p:nvSpPr>
          <p:cNvPr id="15" name="">
            <a:extLst xmlns:a="http://schemas.openxmlformats.org/drawingml/2006/main">
              <a:ext uri="{FF2B5EF4-FFF2-40B4-BE49-F238E27FC236}">
                <a16:creationId xmlns:a16="http://schemas.microsoft.com/office/drawing/2014/main" id="{1DD61E0F-901A-4FB0-A603-473C7F0A1E10}"/>
              </a:ext>
            </a:extLst>
          </p:cNvPr>
          <p:cNvSpPr>
            <a:spLocks xmlns:a="http://schemas.openxmlformats.org/drawingml/2006/main" noGrp="1"/>
          </p:cNvSpPr>
          <p:nvPr/>
        </p:nvSpPr>
        <p:spPr>
          <a:xfrm xmlns:a="http://schemas.openxmlformats.org/drawingml/2006/main">
            <a:off x="4591050" y="5038725"/>
            <a:ext cx="1066800" cy="333375"/>
          </a:xfrm>
          <a:prstGeom xmlns:a="http://schemas.openxmlformats.org/drawingml/2006/main" prst="roundRect">
            <a:avLst>
              <a:gd name="adj" fmla="val 22857"/>
            </a:avLst>
          </a:prstGeom>
          <a:solidFill xmlns:a="http://schemas.openxmlformats.org/drawingml/2006/main">
            <a:srgbClr val="F6E6D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9E97BFAF-AB7F-46C4-8AC9-F421A4606AA2}"/>
              </a:ext>
            </a:extLst>
          </p:cNvPr>
          <p:cNvSpPr>
            <a:spLocks xmlns:a="http://schemas.openxmlformats.org/drawingml/2006/main" noGrp="1"/>
          </p:cNvSpPr>
          <p:nvPr/>
        </p:nvSpPr>
        <p:spPr>
          <a:xfrm xmlns:a="http://schemas.openxmlformats.org/drawingml/2006/main">
            <a:off x="4695825" y="5048250"/>
            <a:ext cx="8572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975" b="1">
                <a:solidFill>
                  <a:srgbClr val="A44937"/>
                </a:solidFill>
                <a:latin typeface="Arial"/>
                <a:ea typeface="Arial"/>
                <a:cs typeface="Arial"/>
              </a:defRPr>
            </a:defPPr>
          </a:lstStyle>
          <a:p xmlns:a="http://schemas.openxmlformats.org/drawingml/2006/main">
            <a:pPr algn="l">
              <a:defRPr sz="975" b="1">
                <a:solidFill>
                  <a:srgbClr val="A44937"/>
                </a:solidFill>
                <a:latin typeface="Arial"/>
                <a:ea typeface="Arial"/>
                <a:cs typeface="Arial"/>
              </a:defRPr>
            </a:pPr>
            <a:r>
              <a:rPr sz="975" b="1">
                <a:solidFill>
                  <a:srgbClr val="A44937"/>
                </a:solidFill>
                <a:latin typeface="Arial"/>
                <a:ea typeface="Arial"/>
                <a:cs typeface="Arial"/>
              </a:rPr>
              <a:t>PENDING</a:t>
            </a:r>
          </a:p>
        </p:txBody>
      </p:sp>
      <p:sp>
        <p:nvSpPr>
          <p:cNvPr id="17" name="">
            <a:extLst xmlns:a="http://schemas.openxmlformats.org/drawingml/2006/main">
              <a:ext uri="{FF2B5EF4-FFF2-40B4-BE49-F238E27FC236}">
                <a16:creationId xmlns:a16="http://schemas.microsoft.com/office/drawing/2014/main" id="{C8FB5152-A649-4F7A-909F-F75DBBB18741}"/>
              </a:ext>
            </a:extLst>
          </p:cNvPr>
          <p:cNvSpPr>
            <a:spLocks xmlns:a="http://schemas.openxmlformats.org/drawingml/2006/main" noGrp="1"/>
          </p:cNvSpPr>
          <p:nvPr/>
        </p:nvSpPr>
        <p:spPr>
          <a:xfrm xmlns:a="http://schemas.openxmlformats.org/drawingml/2006/main">
            <a:off x="7962900" y="1762125"/>
            <a:ext cx="3276600" cy="3724275"/>
          </a:xfrm>
          <a:prstGeom xmlns:a="http://schemas.openxmlformats.org/drawingml/2006/main" prst="roundRect">
            <a:avLst>
              <a:gd name="adj" fmla="val 2326"/>
            </a:avLst>
          </a:prstGeom>
          <a:solidFill xmlns:a="http://schemas.openxmlformats.org/drawingml/2006/main">
            <a:srgbClr val="FFFFFF"/>
          </a:solidFill>
          <a:ln xmlns:a="http://schemas.openxmlformats.org/drawingml/2006/main" w="9525">
            <a:solidFill>
              <a:srgbClr val="B7C4BF"/>
            </a:solidFill>
            <a:prstDash val="solid"/>
          </a:ln>
        </p:spPr>
      </p:sp>
      <p:sp>
        <p:nvSpPr>
          <p:cNvPr id="18" name="">
            <a:extLst xmlns:a="http://schemas.openxmlformats.org/drawingml/2006/main">
              <a:ext uri="{FF2B5EF4-FFF2-40B4-BE49-F238E27FC236}">
                <a16:creationId xmlns:a16="http://schemas.microsoft.com/office/drawing/2014/main" id="{1EFB2F97-82DA-4391-9070-79A8E4D62CCC}"/>
              </a:ext>
            </a:extLst>
          </p:cNvPr>
          <p:cNvSpPr>
            <a:spLocks xmlns:a="http://schemas.openxmlformats.org/drawingml/2006/main" noGrp="1"/>
          </p:cNvSpPr>
          <p:nvPr/>
        </p:nvSpPr>
        <p:spPr>
          <a:xfrm xmlns:a="http://schemas.openxmlformats.org/drawingml/2006/main">
            <a:off x="8201025" y="1971675"/>
            <a:ext cx="1143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600" b="1">
                <a:solidFill>
                  <a:srgbClr val="B7C4BF"/>
                </a:solidFill>
                <a:latin typeface="Arial"/>
                <a:ea typeface="Arial"/>
                <a:cs typeface="Arial"/>
              </a:defRPr>
            </a:defPPr>
          </a:lstStyle>
          <a:p xmlns:a="http://schemas.openxmlformats.org/drawingml/2006/main">
            <a:pPr algn="l">
              <a:defRPr sz="3600" b="1">
                <a:solidFill>
                  <a:srgbClr val="B7C4BF"/>
                </a:solidFill>
                <a:latin typeface="Arial"/>
                <a:ea typeface="Arial"/>
                <a:cs typeface="Arial"/>
              </a:defRPr>
            </a:pPr>
            <a:r>
              <a:rPr sz="3600" b="1">
                <a:solidFill>
                  <a:srgbClr val="B7C4BF"/>
                </a:solidFill>
                <a:latin typeface="Arial"/>
                <a:ea typeface="Arial"/>
                <a:cs typeface="Arial"/>
              </a:rPr>
              <a:t>03</a:t>
            </a:r>
          </a:p>
        </p:txBody>
      </p:sp>
      <p:sp>
        <p:nvSpPr>
          <p:cNvPr id="19" name="">
            <a:extLst xmlns:a="http://schemas.openxmlformats.org/drawingml/2006/main">
              <a:ext uri="{FF2B5EF4-FFF2-40B4-BE49-F238E27FC236}">
                <a16:creationId xmlns:a16="http://schemas.microsoft.com/office/drawing/2014/main" id="{B9B140B6-F5B4-46CA-8521-387D82CD4847}"/>
              </a:ext>
            </a:extLst>
          </p:cNvPr>
          <p:cNvSpPr>
            <a:spLocks xmlns:a="http://schemas.openxmlformats.org/drawingml/2006/main" noGrp="1"/>
          </p:cNvSpPr>
          <p:nvPr/>
        </p:nvSpPr>
        <p:spPr>
          <a:xfrm xmlns:a="http://schemas.openxmlformats.org/drawingml/2006/main">
            <a:off x="8201025" y="2781300"/>
            <a:ext cx="2828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1">
                <a:solidFill>
                  <a:srgbClr val="152323"/>
                </a:solidFill>
                <a:latin typeface="Arial"/>
                <a:ea typeface="Arial"/>
                <a:cs typeface="Arial"/>
              </a:defRPr>
            </a:defPPr>
          </a:lstStyle>
          <a:p xmlns:a="http://schemas.openxmlformats.org/drawingml/2006/main">
            <a:pPr algn="l">
              <a:defRPr sz="2250" b="1">
                <a:solidFill>
                  <a:srgbClr val="152323"/>
                </a:solidFill>
                <a:latin typeface="Arial"/>
                <a:ea typeface="Arial"/>
                <a:cs typeface="Arial"/>
              </a:defRPr>
            </a:pPr>
            <a:r>
              <a:rPr sz="2250" b="1">
                <a:solidFill>
                  <a:srgbClr val="152323"/>
                </a:solidFill>
                <a:latin typeface="Arial"/>
                <a:ea typeface="Arial"/>
                <a:cs typeface="Arial"/>
              </a:rPr>
              <a:t>Release package</a:t>
            </a:r>
          </a:p>
        </p:txBody>
      </p:sp>
      <p:sp>
        <p:nvSpPr>
          <p:cNvPr id="20" name="">
            <a:extLst xmlns:a="http://schemas.openxmlformats.org/drawingml/2006/main">
              <a:ext uri="{FF2B5EF4-FFF2-40B4-BE49-F238E27FC236}">
                <a16:creationId xmlns:a16="http://schemas.microsoft.com/office/drawing/2014/main" id="{5238ED0F-00E8-4710-B0EE-3EB66EE950E6}"/>
              </a:ext>
            </a:extLst>
          </p:cNvPr>
          <p:cNvSpPr>
            <a:spLocks xmlns:a="http://schemas.openxmlformats.org/drawingml/2006/main" noGrp="1"/>
          </p:cNvSpPr>
          <p:nvPr/>
        </p:nvSpPr>
        <p:spPr>
          <a:xfrm xmlns:a="http://schemas.openxmlformats.org/drawingml/2006/main">
            <a:off x="8201025" y="3476625"/>
            <a:ext cx="2771775"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556363"/>
                </a:solidFill>
                <a:latin typeface="Arial"/>
                <a:ea typeface="Arial"/>
                <a:cs typeface="Arial"/>
              </a:defRPr>
            </a:defPPr>
          </a:lstStyle>
          <a:p xmlns:a="http://schemas.openxmlformats.org/drawingml/2006/main">
            <a:pPr algn="l">
              <a:defRPr sz="1650" b="0">
                <a:solidFill>
                  <a:srgbClr val="556363"/>
                </a:solidFill>
                <a:latin typeface="Arial"/>
                <a:ea typeface="Arial"/>
                <a:cs typeface="Arial"/>
              </a:defRPr>
            </a:pPr>
            <a:r>
              <a:rPr sz="1650" b="0">
                <a:solidFill>
                  <a:srgbClr val="556363"/>
                </a:solidFill>
                <a:latin typeface="Arial"/>
                <a:ea typeface="Arial"/>
                <a:cs typeface="Arial"/>
              </a:rPr>
              <a:t>Add regression cases, finish the Iteration 2 testing package, then freeze a reviewable demo branch.</a:t>
            </a:r>
          </a:p>
        </p:txBody>
      </p:sp>
      <p:sp>
        <p:nvSpPr>
          <p:cNvPr id="21" name="">
            <a:extLst xmlns:a="http://schemas.openxmlformats.org/drawingml/2006/main">
              <a:ext uri="{FF2B5EF4-FFF2-40B4-BE49-F238E27FC236}">
                <a16:creationId xmlns:a16="http://schemas.microsoft.com/office/drawing/2014/main" id="{0421EB82-3924-4FEC-A1CA-62B403916126}"/>
              </a:ext>
            </a:extLst>
          </p:cNvPr>
          <p:cNvSpPr>
            <a:spLocks xmlns:a="http://schemas.openxmlformats.org/drawingml/2006/main" noGrp="1"/>
          </p:cNvSpPr>
          <p:nvPr/>
        </p:nvSpPr>
        <p:spPr>
          <a:xfrm xmlns:a="http://schemas.openxmlformats.org/drawingml/2006/main">
            <a:off x="8201025" y="5038725"/>
            <a:ext cx="1066800" cy="333375"/>
          </a:xfrm>
          <a:prstGeom xmlns:a="http://schemas.openxmlformats.org/drawingml/2006/main" prst="roundRect">
            <a:avLst>
              <a:gd name="adj" fmla="val 22857"/>
            </a:avLst>
          </a:prstGeom>
          <a:solidFill xmlns:a="http://schemas.openxmlformats.org/drawingml/2006/main">
            <a:srgbClr val="F6E6DD"/>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CB319C4E-5281-4640-BF73-4226F01F0780}"/>
              </a:ext>
            </a:extLst>
          </p:cNvPr>
          <p:cNvSpPr>
            <a:spLocks xmlns:a="http://schemas.openxmlformats.org/drawingml/2006/main" noGrp="1"/>
          </p:cNvSpPr>
          <p:nvPr/>
        </p:nvSpPr>
        <p:spPr>
          <a:xfrm xmlns:a="http://schemas.openxmlformats.org/drawingml/2006/main">
            <a:off x="8305800" y="5048250"/>
            <a:ext cx="8572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975" b="1">
                <a:solidFill>
                  <a:srgbClr val="A44937"/>
                </a:solidFill>
                <a:latin typeface="Arial"/>
                <a:ea typeface="Arial"/>
                <a:cs typeface="Arial"/>
              </a:defRPr>
            </a:defPPr>
          </a:lstStyle>
          <a:p xmlns:a="http://schemas.openxmlformats.org/drawingml/2006/main">
            <a:pPr algn="l">
              <a:defRPr sz="975" b="1">
                <a:solidFill>
                  <a:srgbClr val="A44937"/>
                </a:solidFill>
                <a:latin typeface="Arial"/>
                <a:ea typeface="Arial"/>
                <a:cs typeface="Arial"/>
              </a:defRPr>
            </a:pPr>
            <a:r>
              <a:rPr sz="975" b="1">
                <a:solidFill>
                  <a:srgbClr val="A44937"/>
                </a:solidFill>
                <a:latin typeface="Arial"/>
                <a:ea typeface="Arial"/>
                <a:cs typeface="Arial"/>
              </a:rPr>
              <a:t>PENDING</a:t>
            </a:r>
          </a:p>
        </p:txBody>
      </p:sp>
    </p:spTree>
    <p:extLst>
      <p:ext uri="{BB962C8B-B14F-4D97-AF65-F5344CB8AC3E}">
        <p14:creationId xmlns:p14="http://schemas.microsoft.com/office/powerpoint/2010/main" val="1072068997"/>
      </p:ext>
    </p:extLst>
  </p:cSld>
</p:sld>
</file>

<file path=ppt/slides/slide11.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1B0C809-1438-49C2-AAAC-37E1549ECFEF}"/>
              </a:ext>
            </a:extLst>
          </p:cNvPr>
          <p:cNvSpPr>
            <a:spLocks xmlns:a="http://schemas.openxmlformats.org/drawingml/2006/main" noGrp="1"/>
          </p:cNvSpPr>
          <p:nvPr/>
        </p:nvSpPr>
        <p:spPr>
          <a:xfrm xmlns:a="http://schemas.openxmlformats.org/drawingml/2006/main">
            <a:off x="704850" y="457200"/>
            <a:ext cx="10668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225" b="1">
                <a:solidFill>
                  <a:srgbClr val="152323"/>
                </a:solidFill>
                <a:latin typeface="Arial"/>
                <a:ea typeface="Arial"/>
                <a:cs typeface="Arial"/>
              </a:defRPr>
            </a:defPPr>
          </a:lstStyle>
          <a:p xmlns:a="http://schemas.openxmlformats.org/drawingml/2006/main">
            <a:pPr algn="l">
              <a:defRPr sz="3225" b="1">
                <a:solidFill>
                  <a:srgbClr val="152323"/>
                </a:solidFill>
                <a:latin typeface="Arial"/>
                <a:ea typeface="Arial"/>
                <a:cs typeface="Arial"/>
              </a:defRPr>
            </a:pPr>
            <a:r>
              <a:rPr sz="3225" b="1">
                <a:solidFill>
                  <a:srgbClr val="152323"/>
                </a:solidFill>
                <a:latin typeface="Arial"/>
                <a:ea typeface="Arial"/>
                <a:cs typeface="Arial"/>
              </a:rPr>
              <a:t>AI assistance needs an audit trail</a:t>
            </a:r>
          </a:p>
        </p:txBody>
      </p:sp>
      <p:sp>
        <p:nvSpPr>
          <p:cNvPr id="2" name="">
            <a:extLst xmlns:a="http://schemas.openxmlformats.org/drawingml/2006/main">
              <a:ext uri="{FF2B5EF4-FFF2-40B4-BE49-F238E27FC236}">
                <a16:creationId xmlns:a16="http://schemas.microsoft.com/office/drawing/2014/main" id="{93E5FA35-E699-459B-AEFB-2218612C0230}"/>
              </a:ext>
            </a:extLst>
          </p:cNvPr>
          <p:cNvSpPr>
            <a:spLocks xmlns:a="http://schemas.openxmlformats.org/drawingml/2006/main" noGrp="1"/>
          </p:cNvSpPr>
          <p:nvPr/>
        </p:nvSpPr>
        <p:spPr>
          <a:xfrm xmlns:a="http://schemas.openxmlformats.org/drawingml/2006/main">
            <a:off x="723900" y="1247775"/>
            <a:ext cx="10744200" cy="9525"/>
          </a:xfrm>
          <a:prstGeom xmlns:a="http://schemas.openxmlformats.org/drawingml/2006/main" prst="rect">
            <a:avLst/>
          </a:prstGeom>
          <a:solidFill xmlns:a="http://schemas.openxmlformats.org/drawingml/2006/main">
            <a:srgbClr val="B7C4BF"/>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3BF8678-F783-4A1A-8345-056BEABDA19E}"/>
              </a:ext>
            </a:extLst>
          </p:cNvPr>
          <p:cNvSpPr>
            <a:spLocks xmlns:a="http://schemas.openxmlformats.org/drawingml/2006/main" noGrp="1"/>
          </p:cNvSpPr>
          <p:nvPr/>
        </p:nvSpPr>
        <p:spPr>
          <a:xfrm xmlns:a="http://schemas.openxmlformats.org/drawingml/2006/main">
            <a:off x="723900" y="6400800"/>
            <a:ext cx="419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975" b="1">
                <a:solidFill>
                  <a:srgbClr val="556363"/>
                </a:solidFill>
                <a:latin typeface="Arial"/>
                <a:ea typeface="Arial"/>
                <a:cs typeface="Arial"/>
              </a:defRPr>
            </a:defPPr>
          </a:lstStyle>
          <a:p xmlns:a="http://schemas.openxmlformats.org/drawingml/2006/main">
            <a:pPr algn="l">
              <a:defRPr sz="975" b="1">
                <a:solidFill>
                  <a:srgbClr val="556363"/>
                </a:solidFill>
                <a:latin typeface="Arial"/>
                <a:ea typeface="Arial"/>
                <a:cs typeface="Arial"/>
              </a:defRPr>
            </a:pPr>
            <a:r>
              <a:rPr sz="975" b="1">
                <a:solidFill>
                  <a:srgbClr val="556363"/>
                </a:solidFill>
                <a:latin typeface="Arial"/>
                <a:ea typeface="Arial"/>
                <a:cs typeface="Arial"/>
              </a:rPr>
              <a:t>FRAMELESS  /  SWPP MIDTERM 2026</a:t>
            </a:r>
          </a:p>
        </p:txBody>
      </p:sp>
      <p:sp>
        <p:nvSpPr>
          <p:cNvPr id="4" name="">
            <a:extLst xmlns:a="http://schemas.openxmlformats.org/drawingml/2006/main">
              <a:ext uri="{FF2B5EF4-FFF2-40B4-BE49-F238E27FC236}">
                <a16:creationId xmlns:a16="http://schemas.microsoft.com/office/drawing/2014/main" id="{ED6B8976-24BF-4216-ABEE-4E2D0B37555A}"/>
              </a:ext>
            </a:extLst>
          </p:cNvPr>
          <p:cNvSpPr>
            <a:spLocks xmlns:a="http://schemas.openxmlformats.org/drawingml/2006/main" noGrp="1"/>
          </p:cNvSpPr>
          <p:nvPr/>
        </p:nvSpPr>
        <p:spPr>
          <a:xfrm xmlns:a="http://schemas.openxmlformats.org/drawingml/2006/main">
            <a:off x="10582275"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975" b="1">
                <a:solidFill>
                  <a:srgbClr val="556363"/>
                </a:solidFill>
                <a:latin typeface="Arial"/>
                <a:ea typeface="Arial"/>
                <a:cs typeface="Arial"/>
              </a:defRPr>
            </a:defPPr>
          </a:lstStyle>
          <a:p xmlns:a="http://schemas.openxmlformats.org/drawingml/2006/main">
            <a:pPr algn="r">
              <a:defRPr sz="975" b="1">
                <a:solidFill>
                  <a:srgbClr val="556363"/>
                </a:solidFill>
                <a:latin typeface="Arial"/>
                <a:ea typeface="Arial"/>
                <a:cs typeface="Arial"/>
              </a:defRPr>
            </a:pPr>
            <a:r>
              <a:rPr sz="975" b="1">
                <a:solidFill>
                  <a:srgbClr val="556363"/>
                </a:solidFill>
                <a:latin typeface="Arial"/>
                <a:ea typeface="Arial"/>
                <a:cs typeface="Arial"/>
              </a:rPr>
              <a:t>11 / 11</a:t>
            </a:r>
          </a:p>
        </p:txBody>
      </p:sp>
      <p:sp>
        <p:nvSpPr>
          <p:cNvPr id="5" name="">
            <a:extLst xmlns:a="http://schemas.openxmlformats.org/drawingml/2006/main">
              <a:ext uri="{FF2B5EF4-FFF2-40B4-BE49-F238E27FC236}">
                <a16:creationId xmlns:a16="http://schemas.microsoft.com/office/drawing/2014/main" id="{7414B9D9-9B00-4DE3-8FA5-0FBE0284DC3D}"/>
              </a:ext>
            </a:extLst>
          </p:cNvPr>
          <p:cNvSpPr>
            <a:spLocks xmlns:a="http://schemas.openxmlformats.org/drawingml/2006/main" noGrp="1"/>
          </p:cNvSpPr>
          <p:nvPr/>
        </p:nvSpPr>
        <p:spPr>
          <a:xfrm xmlns:a="http://schemas.openxmlformats.org/drawingml/2006/main">
            <a:off x="752475" y="1685925"/>
            <a:ext cx="5048250" cy="3305175"/>
          </a:xfrm>
          <a:prstGeom xmlns:a="http://schemas.openxmlformats.org/drawingml/2006/main" prst="roundRect">
            <a:avLst>
              <a:gd name="adj" fmla="val 2305"/>
            </a:avLst>
          </a:prstGeom>
          <a:solidFill xmlns:a="http://schemas.openxmlformats.org/drawingml/2006/main">
            <a:srgbClr val="DDEFE9"/>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6F86F9B-8F87-425C-95D5-70967B4678C3}"/>
              </a:ext>
            </a:extLst>
          </p:cNvPr>
          <p:cNvSpPr>
            <a:spLocks xmlns:a="http://schemas.openxmlformats.org/drawingml/2006/main" noGrp="1"/>
          </p:cNvSpPr>
          <p:nvPr/>
        </p:nvSpPr>
        <p:spPr>
          <a:xfrm xmlns:a="http://schemas.openxmlformats.org/drawingml/2006/main">
            <a:off x="6086475" y="1685925"/>
            <a:ext cx="5334000" cy="3305175"/>
          </a:xfrm>
          <a:prstGeom xmlns:a="http://schemas.openxmlformats.org/drawingml/2006/main" prst="roundRect">
            <a:avLst>
              <a:gd name="adj" fmla="val 2305"/>
            </a:avLst>
          </a:prstGeom>
          <a:solidFill xmlns:a="http://schemas.openxmlformats.org/drawingml/2006/main">
            <a:srgbClr val="FFFFFF"/>
          </a:solidFill>
          <a:ln xmlns:a="http://schemas.openxmlformats.org/drawingml/2006/main" w="9525">
            <a:solidFill>
              <a:srgbClr val="B7C4BF"/>
            </a:solidFill>
            <a:prstDash val="solid"/>
          </a:ln>
        </p:spPr>
      </p:sp>
      <p:sp>
        <p:nvSpPr>
          <p:cNvPr id="7" name="">
            <a:extLst xmlns:a="http://schemas.openxmlformats.org/drawingml/2006/main">
              <a:ext uri="{FF2B5EF4-FFF2-40B4-BE49-F238E27FC236}">
                <a16:creationId xmlns:a16="http://schemas.microsoft.com/office/drawing/2014/main" id="{DE9D8E3F-D773-4DDC-AC2A-C2C967ECBECD}"/>
              </a:ext>
            </a:extLst>
          </p:cNvPr>
          <p:cNvSpPr>
            <a:spLocks xmlns:a="http://schemas.openxmlformats.org/drawingml/2006/main" noGrp="1"/>
          </p:cNvSpPr>
          <p:nvPr/>
        </p:nvSpPr>
        <p:spPr>
          <a:xfrm xmlns:a="http://schemas.openxmlformats.org/drawingml/2006/main">
            <a:off x="1000125" y="1914525"/>
            <a:ext cx="4238625"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007E72"/>
                </a:solidFill>
                <a:latin typeface="Arial"/>
                <a:ea typeface="Arial"/>
                <a:cs typeface="Arial"/>
              </a:defRPr>
            </a:defPPr>
          </a:lstStyle>
          <a:p xmlns:a="http://schemas.openxmlformats.org/drawingml/2006/main">
            <a:pPr algn="l">
              <a:defRPr sz="2175" b="1">
                <a:solidFill>
                  <a:srgbClr val="007E72"/>
                </a:solidFill>
                <a:latin typeface="Arial"/>
                <a:ea typeface="Arial"/>
                <a:cs typeface="Arial"/>
              </a:defRPr>
            </a:pPr>
            <a:r>
              <a:rPr sz="2175" b="1">
                <a:solidFill>
                  <a:srgbClr val="007E72"/>
                </a:solidFill>
                <a:latin typeface="Arial"/>
                <a:ea typeface="Arial"/>
                <a:cs typeface="Arial"/>
              </a:rPr>
              <a:t>In the product</a:t>
            </a:r>
          </a:p>
        </p:txBody>
      </p:sp>
      <p:sp>
        <p:nvSpPr>
          <p:cNvPr id="8" name="">
            <a:extLst xmlns:a="http://schemas.openxmlformats.org/drawingml/2006/main">
              <a:ext uri="{FF2B5EF4-FFF2-40B4-BE49-F238E27FC236}">
                <a16:creationId xmlns:a16="http://schemas.microsoft.com/office/drawing/2014/main" id="{91D33CB9-F661-47D9-AD6C-0CB38085276A}"/>
              </a:ext>
            </a:extLst>
          </p:cNvPr>
          <p:cNvSpPr>
            <a:spLocks xmlns:a="http://schemas.openxmlformats.org/drawingml/2006/main" noGrp="1"/>
          </p:cNvSpPr>
          <p:nvPr/>
        </p:nvSpPr>
        <p:spPr>
          <a:xfrm xmlns:a="http://schemas.openxmlformats.org/drawingml/2006/main">
            <a:off x="1000125" y="2581275"/>
            <a:ext cx="4276725" cy="2085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152323"/>
                </a:solidFill>
                <a:latin typeface="Arial"/>
                <a:ea typeface="Arial"/>
                <a:cs typeface="Arial"/>
              </a:defRPr>
            </a:defPPr>
          </a:lstStyle>
          <a:p xmlns:a="http://schemas.openxmlformats.org/drawingml/2006/main">
            <a:pPr algn="l">
              <a:defRPr sz="1725" b="0">
                <a:solidFill>
                  <a:srgbClr val="152323"/>
                </a:solidFill>
                <a:latin typeface="Arial"/>
                <a:ea typeface="Arial"/>
                <a:cs typeface="Arial"/>
              </a:defRPr>
            </a:pPr>
            <a:r>
              <a:rPr sz="1725" b="0">
                <a:solidFill>
                  <a:srgbClr val="152323"/>
                </a:solidFill>
                <a:latin typeface="Arial"/>
                <a:ea typeface="Arial"/>
                <a:cs typeface="Arial"/>
              </a:rPr>
              <a:t>Gemini proposes structured event, claim, relation, and rubric analyses. Code checks references and literal evidence. Readers inspect linked sources.</a:t>
            </a:r>
          </a:p>
        </p:txBody>
      </p:sp>
      <p:sp>
        <p:nvSpPr>
          <p:cNvPr id="9" name="">
            <a:extLst xmlns:a="http://schemas.openxmlformats.org/drawingml/2006/main">
              <a:ext uri="{FF2B5EF4-FFF2-40B4-BE49-F238E27FC236}">
                <a16:creationId xmlns:a16="http://schemas.microsoft.com/office/drawing/2014/main" id="{5CF83A93-F804-4D22-9EF0-427B433F2A12}"/>
              </a:ext>
            </a:extLst>
          </p:cNvPr>
          <p:cNvSpPr>
            <a:spLocks xmlns:a="http://schemas.openxmlformats.org/drawingml/2006/main" noGrp="1"/>
          </p:cNvSpPr>
          <p:nvPr/>
        </p:nvSpPr>
        <p:spPr>
          <a:xfrm xmlns:a="http://schemas.openxmlformats.org/drawingml/2006/main">
            <a:off x="6334125" y="1914525"/>
            <a:ext cx="4657725"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A44937"/>
                </a:solidFill>
                <a:latin typeface="Arial"/>
                <a:ea typeface="Arial"/>
                <a:cs typeface="Arial"/>
              </a:defRPr>
            </a:defPPr>
          </a:lstStyle>
          <a:p xmlns:a="http://schemas.openxmlformats.org/drawingml/2006/main">
            <a:pPr algn="l">
              <a:defRPr sz="2175" b="1">
                <a:solidFill>
                  <a:srgbClr val="A44937"/>
                </a:solidFill>
                <a:latin typeface="Arial"/>
                <a:ea typeface="Arial"/>
                <a:cs typeface="Arial"/>
              </a:defRPr>
            </a:pPr>
            <a:r>
              <a:rPr sz="2175" b="1">
                <a:solidFill>
                  <a:srgbClr val="A44937"/>
                </a:solidFill>
                <a:latin typeface="Arial"/>
                <a:ea typeface="Arial"/>
                <a:cs typeface="Arial"/>
              </a:rPr>
              <a:t>During development</a:t>
            </a:r>
          </a:p>
        </p:txBody>
      </p:sp>
      <p:sp>
        <p:nvSpPr>
          <p:cNvPr id="10" name="">
            <a:extLst xmlns:a="http://schemas.openxmlformats.org/drawingml/2006/main">
              <a:ext uri="{FF2B5EF4-FFF2-40B4-BE49-F238E27FC236}">
                <a16:creationId xmlns:a16="http://schemas.microsoft.com/office/drawing/2014/main" id="{C0FA9554-47AA-43D1-8F70-B4B97F039E2D}"/>
              </a:ext>
            </a:extLst>
          </p:cNvPr>
          <p:cNvSpPr>
            <a:spLocks xmlns:a="http://schemas.openxmlformats.org/drawingml/2006/main" noGrp="1"/>
          </p:cNvSpPr>
          <p:nvPr/>
        </p:nvSpPr>
        <p:spPr>
          <a:xfrm xmlns:a="http://schemas.openxmlformats.org/drawingml/2006/main">
            <a:off x="6334125" y="2581275"/>
            <a:ext cx="4657725" cy="2085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152323"/>
                </a:solidFill>
                <a:latin typeface="Arial"/>
                <a:ea typeface="Arial"/>
                <a:cs typeface="Arial"/>
              </a:defRPr>
            </a:defPPr>
          </a:lstStyle>
          <a:p xmlns:a="http://schemas.openxmlformats.org/drawingml/2006/main">
            <a:pPr algn="l">
              <a:defRPr sz="1725" b="0">
                <a:solidFill>
                  <a:srgbClr val="152323"/>
                </a:solidFill>
                <a:latin typeface="Arial"/>
                <a:ea typeface="Arial"/>
                <a:cs typeface="Arial"/>
              </a:defRPr>
            </a:pPr>
            <a:r>
              <a:rPr sz="1725" b="0">
                <a:solidFill>
                  <a:srgbClr val="152323"/>
                </a:solidFill>
                <a:latin typeface="Arial"/>
                <a:ea typeface="Arial"/>
                <a:cs typeface="Arial"/>
              </a:rPr>
              <a:t>AI can help draft integration and tests. Human review still decides contract semantics, failure states, and whether the final demo supports a claim.</a:t>
            </a:r>
          </a:p>
        </p:txBody>
      </p:sp>
      <p:sp>
        <p:nvSpPr>
          <p:cNvPr id="11" name="">
            <a:extLst xmlns:a="http://schemas.openxmlformats.org/drawingml/2006/main">
              <a:ext uri="{FF2B5EF4-FFF2-40B4-BE49-F238E27FC236}">
                <a16:creationId xmlns:a16="http://schemas.microsoft.com/office/drawing/2014/main" id="{C81689DD-C65D-4C5A-B425-20D5B8772D6A}"/>
              </a:ext>
            </a:extLst>
          </p:cNvPr>
          <p:cNvSpPr>
            <a:spLocks xmlns:a="http://schemas.openxmlformats.org/drawingml/2006/main" noGrp="1"/>
          </p:cNvSpPr>
          <p:nvPr/>
        </p:nvSpPr>
        <p:spPr>
          <a:xfrm xmlns:a="http://schemas.openxmlformats.org/drawingml/2006/main">
            <a:off x="781050" y="5391150"/>
            <a:ext cx="104489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1">
                <a:solidFill>
                  <a:srgbClr val="152323"/>
                </a:solidFill>
                <a:latin typeface="Arial"/>
                <a:ea typeface="Arial"/>
                <a:cs typeface="Arial"/>
              </a:defRPr>
            </a:defPPr>
          </a:lstStyle>
          <a:p xmlns:a="http://schemas.openxmlformats.org/drawingml/2006/main">
            <a:pPr algn="l">
              <a:defRPr sz="1875" b="1">
                <a:solidFill>
                  <a:srgbClr val="152323"/>
                </a:solidFill>
                <a:latin typeface="Arial"/>
                <a:ea typeface="Arial"/>
                <a:cs typeface="Arial"/>
              </a:defRPr>
            </a:pPr>
            <a:r>
              <a:rPr sz="1875" b="1">
                <a:solidFill>
                  <a:srgbClr val="152323"/>
                </a:solidFill>
                <a:latin typeface="Arial"/>
                <a:ea typeface="Arial"/>
                <a:cs typeface="Arial"/>
              </a:rPr>
              <a:t>Mocked tests support interface confidence; they do not validate model judgments or real service availability.</a:t>
            </a:r>
          </a:p>
        </p:txBody>
      </p:sp>
    </p:spTree>
    <p:extLst>
      <p:ext uri="{BB962C8B-B14F-4D97-AF65-F5344CB8AC3E}">
        <p14:creationId xmlns:p14="http://schemas.microsoft.com/office/powerpoint/2010/main" val="6626906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2026-10-18T09:49:08.4070000Z</dcterms:created>
  <dcterms:modified xsi:type="dcterms:W3CDTF">2026-10-18T09:49:08.4070000Z</dcterms:modified>
</coreProperties>
</file>